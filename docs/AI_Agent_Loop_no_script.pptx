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2" r:id="rId24"/>
    <p:sldId id="273" r:id="rId25"/>
    <p:sldId id="274" r:id="rId26"/>
    <p:sldId id="275" r:id="rId27"/>
    <p:sldId id="276" r:id="rId28"/>
    <p:sldId id="277" r:id="rId29"/>
    <p:sldId id="261" r:id="rId12"/>
    <p:sldId id="278" r:id="rId30"/>
    <p:sldId id="271" r:id="rId23"/>
    <p:sldId id="267" r:id="rId18"/>
    <p:sldId id="268" r:id="rId20"/>
    <p:sldId id="269" r:id="rId21"/>
    <p:sldId id="282" r:id="rId22"/>
    <p:sldId id="283" r:id="rId17"/>
    <p:sldId id="284" r:id="rId14"/>
    <p:sldId id="279" r:id="rId31"/>
    <p:sldId id="265" r:id="rId16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8.xml"/><Relationship Id="rId14" Type="http://schemas.openxmlformats.org/officeDocument/2006/relationships/slide" Target="slides/slide16.xml"/><Relationship Id="rId16" Type="http://schemas.openxmlformats.org/officeDocument/2006/relationships/slide" Target="slides/slide19.xml"/><Relationship Id="rId17" Type="http://schemas.openxmlformats.org/officeDocument/2006/relationships/slide" Target="slides/slide15.xml"/><Relationship Id="rId18" Type="http://schemas.openxmlformats.org/officeDocument/2006/relationships/slide" Target="slides/slide11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0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9.xml"/><Relationship Id="rId31" Type="http://schemas.openxmlformats.org/officeDocument/2006/relationships/slide" Target="slides/slide17.xml"/><Relationship Id="rId32" Type="http://schemas.openxmlformats.org/officeDocument/2006/relationships/slide" Target="slides/slide20.xml"/><Relationship Id="rId33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hyperlink" Target="https://github-main-preview.ai.engineer/talks/Fva8hFosqyQ-highest-loop-swyx" TargetMode="External"/><Relationship Id="rId4" Type="http://schemas.openxmlformats.org/officeDocument/2006/relationships/hyperlink" Target="https://github-main-preview.ai.engineer/talks/xIt_mTQp6mY-loop-engineering-from-first-principles" TargetMode="External"/><Relationship Id="rId5" Type="http://schemas.openxmlformats.org/officeDocument/2006/relationships/hyperlink" Target="https://www.latent.space/p/aiewf-daily-dispatch-loops" TargetMode="External"/><Relationship Id="rId6" Type="http://schemas.openxmlformats.org/officeDocument/2006/relationships/hyperlink" Target="https://www.latent.space/p/aiewf-daily-dispatch-locomotives" TargetMode="External"/><Relationship Id="rId7" Type="http://schemas.openxmlformats.org/officeDocument/2006/relationships/hyperlink" Target="https://www.businessinsider.com/what-are-loops-ai-engineering-tips-2026-6" TargetMode="External"/><Relationship Id="rId8" Type="http://schemas.openxmlformats.org/officeDocument/2006/relationships/hyperlink" Target="https://kiro.dev/docs/cli/headless/" TargetMode="External"/><Relationship Id="rId9" Type="http://schemas.openxmlformats.org/officeDocument/2006/relationships/hyperlink" Target="https://github.com/jaewon-i/kiro-agent-loop-demo" TargetMode="External"/><Relationship Id="rId10" Type="http://schemas.openxmlformats.org/officeDocument/2006/relationships/hyperlink" Target="https://www.philschmid.de/inner-loop-vs-outer-loop" TargetMode="External"/><Relationship Id="rId11" Type="http://schemas.openxmlformats.org/officeDocument/2006/relationships/hyperlink" Target="https://www.theaiautomators.com/levels-of-loop-engineering/" TargetMode="External"/><Relationship Id="rId12" Type="http://schemas.openxmlformats.org/officeDocument/2006/relationships/hyperlink" Target="https://www.shawngreyling.com/blog/loop-engineering" TargetMode="External"/><Relationship Id="rId13" Type="http://schemas.openxmlformats.org/officeDocument/2006/relationships/hyperlink" Target="https://addyosmani.com/blog/own-the-outer-loop/" TargetMode="External"/><Relationship Id="rId14" Type="http://schemas.openxmlformats.org/officeDocument/2006/relationships/hyperlink" Target="https://www.latent.space/p/aiewf-daily-dispatch-agenc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AI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2700">
                <a:solidFill>
                  <a:srgbClr val="CFDEEB"/>
                </a:solidFill>
              </a:rPr>
              <a:t>World's Fair 2026의 화두 Loop, Kiro CLI로 직접 돌려보기</a:t>
            </a:r>
          </a:p>
          <a:p>
            <a:pPr>
              <a:spcAft>
                <a:spcPts val="1700"/>
              </a:spcAft>
            </a:pPr>
            <a:r>
              <a:rPr sz="2700">
                <a:solidFill>
                  <a:srgbClr val="CFDEEB"/>
                </a:solidFill>
              </a:rPr>
              <a:t>2026.10.21 · 개발자 대상 30분 데모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397AB"/>
                </a:solidFill>
              </a:rPr>
              <a:t>AI Agent Loop · 2026.10.21                                     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World's Fair 2026의 키워드: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02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31D3B1"/>
                </a:solidFill>
              </a:rPr>
              <a:t>“Loops, loops and more loops.”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5F8FD"/>
                </a:solidFill>
              </a:rPr>
              <a:t>행사 둘째 날, 모든 대화를 지배한 단어는 ‘loop’였다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397AB"/>
                </a:solidFill>
              </a:rPr>
              <a:t>— Richard MacManus, Latent Space “AIEWF Daily Dispatch” (2026-07-01)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429000"/>
            <a:ext cx="3352800" cy="132588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31D3B1"/>
                </a:solidFill>
              </a:rPr>
              <a:t>AI Engineer World's Fair 2026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FDEEB"/>
                </a:solidFill>
              </a:rPr>
              <a:t>2026.6.29 – 7.2 · 샌프란시스코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3429000"/>
            <a:ext cx="3352800" cy="132588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31D3B1"/>
                </a:solidFill>
              </a:rPr>
              <a:t>7,000명+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FDEEB"/>
                </a:solidFill>
              </a:rPr>
              <a:t>참가자 (swyx 오프닝 키노트 발표)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1480" y="3429000"/>
            <a:ext cx="3352800" cy="132588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31D3B1"/>
                </a:solidFill>
              </a:rPr>
              <a:t>Software Factories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FDEEB"/>
                </a:solidFill>
              </a:rPr>
              <a:t>둘째 날 메인 스테이지 트랙 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7492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0F2A2A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900" b="1">
                <a:solidFill>
                  <a:srgbClr val="F5F8FD"/>
                </a:solidFill>
              </a:rPr>
              <a:t>오늘의 질문: Loop는 무엇이고, 우리 팀은 어떻게 써볼 수 있을까?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1 · 왜 지금 Loop인가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프롬프트 엔지니어링 → 루프 엔지니어링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03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6304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8397AB"/>
                </a:solidFill>
              </a:rPr>
              <a:t>이전: 사람이 프롬프트를 쓴다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CFDEEB"/>
                </a:solidFill>
              </a:rPr>
              <a:t>사람 요청 → AI 작성 → 사람 검증 → 사람 재요청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8397AB"/>
                </a:solidFill>
              </a:rPr>
              <a:t>반복을 돌리는 엔진 = 사람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31D3B1"/>
                </a:solidFill>
              </a:rPr>
              <a:t>지금: 루프가 프롬프트를 쓴다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CFDEEB"/>
                </a:solidFill>
              </a:rPr>
              <a:t>목표 → AI 실행 → 자동 검증 → 실패 피드백 → 새 AI 실행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31D3B1"/>
                </a:solidFill>
              </a:rPr>
              <a:t>반복을 돌리는 엔진 = 프로그램 (Loop)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337560"/>
            <a:ext cx="5120640" cy="182880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F8FD"/>
                </a:solidFill>
              </a:rPr>
              <a:t>“You should be designing loops that prompt your agents.”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FDEEB"/>
                </a:solidFill>
              </a:rPr>
              <a:t>에이전트에게 직접 프롬프트를 쓰지 말고, 에이전트에게 프롬프트를 주는 루프를 설계하라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397AB"/>
                </a:solidFill>
              </a:rPr>
              <a:t>— Peter Steinberger (OpenClaw 제작자, OpenAI)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337560"/>
            <a:ext cx="5120640" cy="182880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F8FD"/>
                </a:solidFill>
              </a:rPr>
              <a:t>“I don't write the prompt anymore. Claude writes the prompt.”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FDEEB"/>
                </a:solidFill>
              </a:rPr>
              <a:t>이제 프롬프트를 직접 쓰지 않는다. Claude가 프롬프트를 쓴다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397AB"/>
                </a:solidFill>
              </a:rPr>
              <a:t>— Boris Cherny (Claude Code 제작자)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0533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출처: Business Insider, “Forget prompt engineering: ‘Loop engineering’ is all the rage now” (2026-06-20, 행사 전 보도)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1 · 왜 지금 Loop인가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swyx 키노트: 어느 루프에서 일할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04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1 · 왜 지금 Loop인가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397AB"/>
                </a:solidFill>
              </a:rPr>
              <a:t>“Which loop are you working in?”  지금 나는 어느 루프에서 일하고 있나?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325880" y="1874519"/>
            <a:ext cx="0" cy="3337561"/>
          </a:xfrm>
          <a:prstGeom prst="line">
            <a:avLst/>
          </a:prstGeom>
          <a:ln w="28575">
            <a:solidFill>
              <a:srgbClr val="5B6E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25880" y="5212080"/>
            <a:ext cx="9966960" cy="0"/>
          </a:xfrm>
          <a:prstGeom prst="line">
            <a:avLst/>
          </a:prstGeom>
          <a:ln w="28575">
            <a:solidFill>
              <a:srgbClr val="5B6E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35607" y="1764791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1D3B1"/>
                </a:solidFill>
              </a:rPr>
              <a:t>추상화 수준</a:t>
            </a:r>
          </a:p>
          <a:p>
            <a:r>
              <a:rPr sz="1100" b="0">
                <a:solidFill>
                  <a:srgbClr val="8397AB"/>
                </a:solidFill>
              </a:rPr>
              <a:t>↑ 위로 = 규모·생산성 (준비되면 올라간다)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248656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31D3B1"/>
                </a:solidFill>
              </a:rPr>
              <a:t>AI에게 맡기는 작업 단위 →  한 번의 응답 … 개발 전체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4343400"/>
            <a:ext cx="1516380" cy="7315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5F8FD"/>
                </a:solidFill>
              </a:rPr>
              <a:t>Token</a:t>
            </a:r>
          </a:p>
          <a:p>
            <a:pPr algn="ctr"/>
            <a:r>
              <a:rPr sz="1100" b="0">
                <a:solidFill>
                  <a:srgbClr val="8397AB"/>
                </a:solidFill>
              </a:rPr>
              <a:t>토큰 생성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80588" y="3904487"/>
            <a:ext cx="1516380" cy="7315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5F8FD"/>
                </a:solidFill>
              </a:rPr>
              <a:t>Chat</a:t>
            </a:r>
          </a:p>
          <a:p>
            <a:pPr algn="ctr"/>
            <a:r>
              <a:rPr sz="1100" b="0">
                <a:solidFill>
                  <a:srgbClr val="8397AB"/>
                </a:solidFill>
              </a:rPr>
              <a:t>질문 · 응답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6696" y="3465576"/>
            <a:ext cx="1516380" cy="7315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5F8FD"/>
                </a:solidFill>
              </a:rPr>
              <a:t>Tool call</a:t>
            </a:r>
          </a:p>
          <a:p>
            <a:pPr algn="ctr"/>
            <a:r>
              <a:rPr sz="1100" b="0">
                <a:solidFill>
                  <a:srgbClr val="8397AB"/>
                </a:solidFill>
              </a:rPr>
              <a:t>도구 호출 (에이전트)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32804" y="3026664"/>
            <a:ext cx="1516380" cy="731520"/>
          </a:xfrm>
          <a:prstGeom prst="roundRect">
            <a:avLst>
              <a:gd name="adj" fmla="val 8000"/>
            </a:avLst>
          </a:prstGeom>
          <a:solidFill>
            <a:srgbClr val="0F2A2A"/>
          </a:solidFill>
          <a:ln w="28575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31D3B1"/>
                </a:solidFill>
              </a:rPr>
              <a:t>Goal</a:t>
            </a:r>
          </a:p>
          <a:p>
            <a:pPr algn="ctr"/>
            <a:r>
              <a:rPr sz="1100" b="0">
                <a:solidFill>
                  <a:srgbClr val="CFDEEB"/>
                </a:solidFill>
              </a:rPr>
              <a:t>목표 달성까지 반복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1" y="2587752"/>
            <a:ext cx="1516380" cy="7315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5F8FD"/>
                </a:solidFill>
              </a:rPr>
              <a:t>Automation</a:t>
            </a:r>
          </a:p>
          <a:p>
            <a:pPr algn="ctr"/>
            <a:r>
              <a:rPr sz="1100" b="0">
                <a:solidFill>
                  <a:srgbClr val="8397AB"/>
                </a:solidFill>
              </a:rPr>
              <a:t>cron · 이벤트 자동 시작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85019" y="2148840"/>
            <a:ext cx="1516380" cy="7315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5F8FD"/>
                </a:solidFill>
              </a:rPr>
              <a:t>Software Factory</a:t>
            </a:r>
          </a:p>
          <a:p>
            <a:pPr algn="ctr"/>
            <a:r>
              <a:rPr sz="1100" b="0">
                <a:solidFill>
                  <a:srgbClr val="8397AB"/>
                </a:solidFill>
              </a:rPr>
              <a:t>개발 전체를 루프로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8484" y="3803904"/>
            <a:ext cx="20650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1D3B1"/>
                </a:solidFill>
              </a:rPr>
              <a:t>↑ 오늘 데모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7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397AB"/>
                </a:solidFill>
              </a:rPr>
              <a:t>↓ 아래로 = 신뢰성·통제</a:t>
            </a:r>
          </a:p>
          <a:p>
            <a:r>
              <a:rPr sz="1100" b="0">
                <a:solidFill>
                  <a:srgbClr val="8397AB"/>
                </a:solidFill>
              </a:rPr>
              <a:t>(깨지면 내려간다)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577840"/>
            <a:ext cx="10515600" cy="457200"/>
          </a:xfrm>
          <a:prstGeom prst="roundRect">
            <a:avLst>
              <a:gd name="adj" fmla="val 8000"/>
            </a:avLst>
          </a:prstGeom>
          <a:solidFill>
            <a:srgbClr val="0F2A2A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500" b="1">
                <a:solidFill>
                  <a:srgbClr val="F5F8FD"/>
                </a:solidFill>
              </a:rPr>
              <a:t>정답 층은 없다 — 목적에 맞는 층에서 루프를 만들고, 준비되면 올라가고 깨지면 내려온다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0807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출처: swyx, “The Highest Loop”, AI Engineer World's Fair 2026 · 단계 구분과 축은 발표 내용을 해석한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Loop의 뼈대: 제어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397AB"/>
                </a:solidFill>
              </a:rPr>
              <a:t>Kyle Mistele “Loop Engineering from First Principles” — 측정하고, 보정하고, 다시 측정한다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600" b="0">
                <a:solidFill>
                  <a:srgbClr val="CFDEEB"/>
                </a:solidFill>
              </a:rPr>
              <a:t>목표값</a:t>
            </a:r>
          </a:p>
          <a:p>
            <a:pPr algn="ctr"/>
            <a:r>
              <a:rPr sz="1200" b="0">
                <a:solidFill>
                  <a:srgbClr val="8397AB"/>
                </a:solidFill>
              </a:rPr>
              <a:t>Set point</a:t>
            </a:r>
          </a:p>
        </p:txBody>
      </p:sp>
      <p:sp>
        <p:nvSpPr>
          <p:cNvPr id="7" name="Oval 6"/>
          <p:cNvSpPr/>
          <p:nvPr/>
        </p:nvSpPr>
        <p:spPr>
          <a:xfrm>
            <a:off x="3074670" y="2468879"/>
            <a:ext cx="685800" cy="685800"/>
          </a:xfrm>
          <a:prstGeom prst="ellipse">
            <a:avLst/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square"/>
          <a:lstStyle/>
          <a:p>
            <a:pPr algn="ctr"/>
            <a:r>
              <a:rPr sz="1300" b="0">
                <a:solidFill>
                  <a:srgbClr val="CFDEEB"/>
                </a:solidFill>
              </a:rPr>
              <a:t>비교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3420" y="233172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600" b="1">
                <a:solidFill>
                  <a:srgbClr val="31D3B1"/>
                </a:solidFill>
              </a:rPr>
              <a:t>컨트롤러</a:t>
            </a:r>
          </a:p>
          <a:p>
            <a:pPr algn="ctr"/>
            <a:r>
              <a:rPr sz="1200" b="0">
                <a:solidFill>
                  <a:srgbClr val="8397AB"/>
                </a:solidFill>
              </a:rPr>
              <a:t>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83729" y="233172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600" b="1">
                <a:solidFill>
                  <a:srgbClr val="7C5CFF"/>
                </a:solidFill>
              </a:rPr>
              <a:t>실행기</a:t>
            </a:r>
          </a:p>
          <a:p>
            <a:pPr algn="ctr"/>
            <a:r>
              <a:rPr sz="1200" b="0">
                <a:solidFill>
                  <a:srgbClr val="8397AB"/>
                </a:solidFill>
              </a:rPr>
              <a:t>Actuator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33172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600" b="0">
                <a:solidFill>
                  <a:srgbClr val="CFDEEB"/>
                </a:solidFill>
              </a:rPr>
              <a:t>시스템</a:t>
            </a:r>
          </a:p>
          <a:p>
            <a:pPr algn="ctr"/>
            <a:r>
              <a:rPr sz="1200" b="0">
                <a:solidFill>
                  <a:srgbClr val="8397AB"/>
                </a:solidFill>
              </a:rPr>
              <a:t>코드베이스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331720" y="2811779"/>
            <a:ext cx="74295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760470" y="2811779"/>
            <a:ext cx="74295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69030" y="2427732"/>
            <a:ext cx="92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397AB"/>
                </a:solidFill>
              </a:rPr>
              <a:t>오차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240779" y="2811779"/>
            <a:ext cx="74295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49340" y="2427732"/>
            <a:ext cx="92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397AB"/>
                </a:solidFill>
              </a:rPr>
              <a:t>보정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721090" y="2811779"/>
            <a:ext cx="74295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29650" y="2427732"/>
            <a:ext cx="92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397AB"/>
                </a:solidFill>
              </a:rPr>
              <a:t>변경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52044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F5F8FD"/>
                </a:solidFill>
              </a:rPr>
              <a:t>센서  Sensor</a:t>
            </a:r>
          </a:p>
          <a:p>
            <a:pPr algn="ctr"/>
            <a:r>
              <a:rPr sz="1200" b="0">
                <a:solidFill>
                  <a:srgbClr val="8397AB"/>
                </a:solidFill>
              </a:rPr>
              <a:t>현재 상태를 측정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24160" y="3291839"/>
            <a:ext cx="0" cy="594361"/>
          </a:xfrm>
          <a:prstGeom prst="line">
            <a:avLst/>
          </a:prstGeom>
          <a:ln w="25400">
            <a:solidFill>
              <a:srgbClr val="CF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772400" y="3886200"/>
            <a:ext cx="265176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3417570" y="3886200"/>
            <a:ext cx="1703070" cy="0"/>
          </a:xfrm>
          <a:prstGeom prst="line">
            <a:avLst/>
          </a:prstGeom>
          <a:ln w="25400">
            <a:solidFill>
              <a:srgbClr val="CF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417570" y="3154679"/>
            <a:ext cx="0" cy="731521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09010" y="3520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397AB"/>
                </a:solidFill>
              </a:rPr>
              <a:t>측정값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526280"/>
            <a:ext cx="3352800" cy="123444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1D3B1"/>
                </a:solidFill>
              </a:rPr>
              <a:t>온도조절기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FDEEB"/>
                </a:solidFill>
              </a:rPr>
              <a:t>24°C 설정 → 온도 측정 → 차이만큼 냉방 → 다시 측정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0080" y="4526280"/>
            <a:ext cx="3352800" cy="123444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1D3B1"/>
                </a:solidFill>
              </a:rPr>
              <a:t>코딩 Loop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FDEEB"/>
                </a:solidFill>
              </a:rPr>
              <a:t>원하는 상태(테스트 통과) → 측정 → 작은 수정 → 다시 측정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1480" y="4526280"/>
            <a:ext cx="3352800" cy="123444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1D3B1"/>
                </a:solidFill>
              </a:rPr>
              <a:t>핵심: 작게 고치고 다시 잰다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FDEEB"/>
                </a:solidFill>
              </a:rPr>
              <a:t>한 번에 끝내려 하면 과하게 꺾는다. 측정 없는 반복은 ‘눈먼 루프’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0533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출처: Kyle Mistele, “Loop Engineering from First Principles”, AI Engineer World's Fair 2026 · 발표의 제어 루프 다이어그램을 한국어로 재구성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2 · Loop는 어떻게 생겼나 — ① 루프는 무엇으로 이루어지나?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17647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ACC15"/>
                </a:solidFill>
              </a:rPr>
              <a:t>외부 변화  Disturbance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424160" y="2029968"/>
            <a:ext cx="0" cy="301752"/>
          </a:xfrm>
          <a:prstGeom prst="line">
            <a:avLst/>
          </a:prstGeom>
          <a:ln w="22225">
            <a:solidFill>
              <a:srgbClr val="FACC1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Inner Loop vs Outer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06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397AB"/>
                </a:solidFill>
              </a:rPr>
              <a:t>평소 Kiro · Claude Code도 이미 루프를 돈다 — 차이는 ‘누가, 무엇을 기준으로 끝내는가’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6126480" cy="388620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31D3B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3852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1D3B1"/>
                </a:solidFill>
              </a:rPr>
              <a:t>Outer Loop — 바깥 프로그램(Controller)이 세션 전체를 반복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468880"/>
            <a:ext cx="3200400" cy="1874519"/>
          </a:xfrm>
          <a:prstGeom prst="roundRect">
            <a:avLst>
              <a:gd name="adj" fmla="val 8000"/>
            </a:avLst>
          </a:prstGeom>
          <a:solidFill>
            <a:srgbClr val="1E183D"/>
          </a:solidFill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5CFF"/>
                </a:solidFill>
              </a:rPr>
              <a:t>Kiro 세션 = Inner Loop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FDEEB"/>
                </a:solidFill>
              </a:rPr>
              <a:t>모델 → 도구 호출 → 결과 확인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FDEEB"/>
                </a:solidFill>
              </a:rPr>
              <a:t>→ 모델 → … → “완료”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468880"/>
            <a:ext cx="1783080" cy="1874519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5F8FD"/>
                </a:solidFill>
              </a:rPr>
              <a:t>독립 검증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8397AB"/>
                </a:solidFill>
              </a:rPr>
              <a:t>테스트 실행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4ADE80"/>
                </a:solidFill>
              </a:rPr>
              <a:t>PASS → 종료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6B6B"/>
                </a:solidFill>
              </a:rPr>
              <a:t>FAIL 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3401568"/>
            <a:ext cx="54864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783579" y="4343400"/>
            <a:ext cx="0" cy="548640"/>
          </a:xfrm>
          <a:prstGeom prst="line">
            <a:avLst/>
          </a:prstGeom>
          <a:ln w="254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743200" y="4892040"/>
            <a:ext cx="3040379" cy="0"/>
          </a:xfrm>
          <a:prstGeom prst="line">
            <a:avLst/>
          </a:prstGeom>
          <a:ln w="254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743200" y="4343400"/>
            <a:ext cx="0" cy="548640"/>
          </a:xfrm>
          <a:prstGeom prst="line">
            <a:avLst/>
          </a:prstGeom>
          <a:ln w="25400">
            <a:solidFill>
              <a:srgbClr val="F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34640" y="49377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6B6B"/>
                </a:solidFill>
              </a:rPr>
              <a:t>실패 로그를 들고 새 세션 시작 (사람 입력 없음)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874519"/>
            <a:ext cx="4114800" cy="182880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7C5CFF"/>
                </a:solidFill>
              </a:rPr>
              <a:t>Inner Loop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EEB"/>
                </a:solidFill>
              </a:rPr>
              <a:t>반복 단위: 모델 ↔ 도구 호출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EEB"/>
                </a:solidFill>
              </a:rPr>
              <a:t>끝내는 주체: AI 자신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EEB"/>
                </a:solidFill>
              </a:rPr>
              <a:t>종료 기준: AI가 “다 됐다”고 판단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3931920"/>
            <a:ext cx="4114800" cy="182880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31D3B1"/>
                </a:solidFill>
              </a:rPr>
              <a:t>Outer Loop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EEB"/>
                </a:solidFill>
              </a:rPr>
              <a:t>반복 단위: AI 세션 전체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EEB"/>
                </a:solidFill>
              </a:rPr>
              <a:t>끝내는 주체: 외부 Controller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EEB"/>
                </a:solidFill>
              </a:rPr>
              <a:t>종료 기준: 테스트 PASS · 횟수/시간 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790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FDEEB"/>
                </a:solidFill>
              </a:rPr>
              <a:t>“Agents run the inner loop. Engineers own the outer loop.” — Addy Osmani, AI Engineer World's Fair 2026 키노트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2 · Loop는 어떻게 생겼나 — ② 그 부품을 누가 맡나?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807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397AB"/>
                </a:solidFill>
              </a:rPr>
              <a:t>용어 출처: Addy Osmani “Own the Outer Loop” (AIEWF 2026 키노트) · 보조: Shawn Greyling (2026-06-14), Philipp Schmid (2026-02-20) — Outer Loop의 의미는 출처마다 조금씩 다름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왜 독립된 검증이 필요한가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07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63040"/>
            <a:ext cx="10515600" cy="160020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square"/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5F8FD"/>
                </a:solidFill>
              </a:rPr>
              <a:t>“The model that wrote the code is way too nice grading its own homework.”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31D3B1"/>
                </a:solidFill>
              </a:rPr>
              <a:t>코드를 쓴 모델은 자기 숙제를 너무 후하게 채점한다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397AB"/>
                </a:solidFill>
              </a:rPr>
              <a:t>— Addy Osmani (Google Cloud), Business Insider 기사 인용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337560"/>
            <a:ext cx="4572000" cy="123444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8397AB"/>
                </a:solidFill>
              </a:rPr>
              <a:t>AI의 완료 선언</a:t>
            </a:r>
          </a:p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5F8FD"/>
                </a:solidFill>
              </a:rPr>
              <a:t>“고쳤습니다”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6B6B"/>
                </a:solidFill>
              </a:rPr>
              <a:t>= 주장 (claim)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3337560"/>
            <a:ext cx="13716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8397AB"/>
                </a:solidFill>
              </a:rPr>
              <a:t>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79" y="3337560"/>
            <a:ext cx="4572000" cy="123444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8397AB"/>
                </a:solidFill>
              </a:rPr>
              <a:t>시스템의 완료 승인</a:t>
            </a:r>
          </a:p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5F8FD"/>
                </a:solidFill>
              </a:rPr>
              <a:t>테스트 PASS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4ADE80"/>
                </a:solidFill>
              </a:rPr>
              <a:t>= 증거 (evidence)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5166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FDEEB"/>
                </a:solidFill>
              </a:rPr>
              <a:t>• AI 세션이 끝나도 판정은 Controller가 한다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FDEEB"/>
                </a:solidFill>
              </a:rPr>
              <a:t>• AI가 “성공”이라 해도 테스트가 실패하면 다시 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800600"/>
            <a:ext cx="5166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FDEEB"/>
                </a:solidFill>
              </a:rPr>
              <a:t>• 실패 로그를 다음 새 세션에 전달한다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FDEEB"/>
                </a:solidFill>
              </a:rPr>
              <a:t>• 최대 횟수에 도달하면 실패로 끝낸다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2 · Loop는 어떻게 생겼나 — ③ 왜 떼어 놓아야 하나?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데모 시나리오: 할인 계산기 버그 고치기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397AB"/>
                </a:solidFill>
              </a:rPr>
              <a:t>AI Agent Loop · 2026.10.21                                     08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397AB"/>
                </a:solidFill>
              </a:rPr>
              <a:t>현재 코드 — 입력 검사가 없다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4206240" cy="1554480"/>
          </a:xfrm>
          <a:prstGeom prst="roundRect">
            <a:avLst>
              <a:gd name="adj" fmla="val 5000"/>
            </a:avLst>
          </a:prstGeom>
          <a:solidFill>
            <a:srgbClr val="050A12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FDEEB"/>
                </a:solidFill>
                <a:latin typeface="Menlo"/>
                <a:ea typeface="Apple SD Gothic Neo"/>
              </a:rPr>
              <a:t>int discount(int price, int rate) {</a:t>
            </a:r>
          </a:p>
          <a:p>
            <a:r>
              <a:rPr sz="1300" b="0">
                <a:solidFill>
                  <a:srgbClr val="CFDEEB"/>
                </a:solidFill>
                <a:latin typeface="Menlo"/>
                <a:ea typeface="Apple SD Gothic Neo"/>
              </a:rPr>
              <a:t/>
            </a:r>
          </a:p>
          <a:p>
            <a:r>
              <a:rPr sz="1300" b="0">
                <a:solidFill>
                  <a:srgbClr val="FF6B6B"/>
                </a:solidFill>
                <a:latin typeface="Menlo"/>
                <a:ea typeface="Apple SD Gothic Neo"/>
              </a:rPr>
              <a:t>  // 검사 없음: 음수·100% 초과도 계산</a:t>
            </a:r>
          </a:p>
          <a:p>
            <a:r>
              <a:rPr sz="1300" b="0">
                <a:solidFill>
                  <a:srgbClr val="CFDEEB"/>
                </a:solidFill>
                <a:latin typeface="Menlo"/>
                <a:ea typeface="Apple SD Gothic Neo"/>
              </a:rPr>
              <a:t/>
            </a:r>
          </a:p>
          <a:p>
            <a:r>
              <a:rPr sz="1300" b="0">
                <a:solidFill>
                  <a:srgbClr val="CFDEEB"/>
                </a:solidFill>
                <a:latin typeface="Menlo"/>
                <a:ea typeface="Apple SD Gothic Neo"/>
              </a:rPr>
              <a:t>  return price - price*rate/100;</a:t>
            </a:r>
          </a:p>
          <a:p>
            <a:r>
              <a:rPr sz="1300" b="0">
                <a:solidFill>
                  <a:srgbClr val="CFDEEB"/>
                </a:solidFill>
                <a:latin typeface="Menlo"/>
                <a:ea typeface="Apple SD Gothic Neo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57600"/>
            <a:ext cx="4206240" cy="1325880"/>
          </a:xfrm>
          <a:prstGeom prst="roundRect">
            <a:avLst>
              <a:gd name="adj" fmla="val 5000"/>
            </a:avLst>
          </a:prstGeom>
          <a:solidFill>
            <a:srgbClr val="162236"/>
          </a:solidFill>
          <a:ln w="22225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49040"/>
            <a:ext cx="3931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C5CFF"/>
                </a:solidFill>
              </a:rPr>
              <a:t>Kiro에게 주는 규칙</a:t>
            </a:r>
          </a:p>
          <a:p>
            <a:r>
              <a:rPr sz="1400" b="0">
                <a:solidFill>
                  <a:srgbClr val="CFDEEB"/>
                </a:solidFill>
              </a:rPr>
              <a:t>수정 가능: src/DiscountCalculator.java 하나</a:t>
            </a:r>
          </a:p>
          <a:p>
            <a:r>
              <a:rPr sz="1400" b="0">
                <a:solidFill>
                  <a:srgbClr val="CFDEEB"/>
                </a:solidFill>
              </a:rPr>
              <a:t>수정 금지: 테스트 · verify.py · loop.py</a:t>
            </a:r>
          </a:p>
          <a:p>
            <a:r>
              <a:rPr sz="1400" b="0">
                <a:solidFill>
                  <a:srgbClr val="CFDEEB"/>
                </a:solidFill>
              </a:rPr>
              <a:t>셸 실행 불가 (파일 읽기/쓰기만 허용)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554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397AB"/>
                </a:solidFill>
              </a:rPr>
              <a:t>QA Gate 테스트 7개 — 현재 결과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49240" y="1920240"/>
          <a:ext cx="603504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83080"/>
                <a:gridCol w="1188720"/>
                <a:gridCol w="2423160"/>
                <a:gridCol w="6400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8FD"/>
                          </a:solidFill>
                        </a:rPr>
                        <a:t>입력 (금액, 할인율)</a:t>
                      </a:r>
                    </a:p>
                  </a:txBody>
                  <a:tcPr anchor="ctr" marL="91440" marR="91440" marT="0" marB="0">
                    <a:solidFill>
                      <a:srgbClr val="2A3B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8FD"/>
                          </a:solidFill>
                        </a:rPr>
                        <a:t>기대 결과</a:t>
                      </a:r>
                    </a:p>
                  </a:txBody>
                  <a:tcPr anchor="ctr" marL="91440" marR="91440" marT="0" marB="0">
                    <a:solidFill>
                      <a:srgbClr val="2A3B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8FD"/>
                          </a:solidFill>
                        </a:rPr>
                        <a:t>현재 코드</a:t>
                      </a:r>
                    </a:p>
                  </a:txBody>
                  <a:tcPr anchor="ctr" marL="91440" marR="91440" marT="0" marB="0">
                    <a:solidFill>
                      <a:srgbClr val="2A3B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6B6B"/>
                          </a:solidFill>
                        </a:rPr>
                        <a:t>판정</a:t>
                      </a:r>
                    </a:p>
                  </a:txBody>
                  <a:tcPr anchor="ctr" marL="91440" marR="91440" marT="0" marB="0">
                    <a:solidFill>
                      <a:srgbClr val="2A3B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1,000원, 10%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900원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900원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ADE80"/>
                          </a:solidFill>
                        </a:rPr>
                        <a:t>PASS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1,000원, 0%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1,000원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1,000원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ADE80"/>
                          </a:solidFill>
                        </a:rPr>
                        <a:t>PASS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1,000원, 100%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0원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0원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ADE80"/>
                          </a:solidFill>
                        </a:rPr>
                        <a:t>PASS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0원, 50%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0원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0원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ADE80"/>
                          </a:solidFill>
                        </a:rPr>
                        <a:t>PASS</a:t>
                      </a:r>
                    </a:p>
                  </a:txBody>
                  <a:tcPr anchor="ctr" marL="91440" marR="91440" marT="0" marB="0">
                    <a:solidFill>
                      <a:srgbClr val="1622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1,000원, -1%</a:t>
                      </a:r>
                    </a:p>
                  </a:txBody>
                  <a:tcPr anchor="ctr" marL="91440" marR="91440" marT="0" marB="0">
                    <a:solidFill>
                      <a:srgbClr val="2A16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오류 발생</a:t>
                      </a:r>
                    </a:p>
                  </a:txBody>
                  <a:tcPr anchor="ctr" marL="91440" marR="91440" marT="0" marB="0">
                    <a:solidFill>
                      <a:srgbClr val="2A16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6B6B"/>
                          </a:solidFill>
                        </a:rPr>
                        <a:t>1,010원  가격이 오름</a:t>
                      </a:r>
                    </a:p>
                  </a:txBody>
                  <a:tcPr anchor="ctr" marL="91440" marR="91440" marT="0" marB="0">
                    <a:solidFill>
                      <a:srgbClr val="2A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6B6B"/>
                          </a:solidFill>
                        </a:rPr>
                        <a:t>FAIL</a:t>
                      </a:r>
                    </a:p>
                  </a:txBody>
                  <a:tcPr anchor="ctr" marL="91440" marR="91440" marT="0" marB="0">
                    <a:solidFill>
                      <a:srgbClr val="2A16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1,000원, 101%</a:t>
                      </a:r>
                    </a:p>
                  </a:txBody>
                  <a:tcPr anchor="ctr" marL="91440" marR="91440" marT="0" marB="0">
                    <a:solidFill>
                      <a:srgbClr val="2A16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오류 발생</a:t>
                      </a:r>
                    </a:p>
                  </a:txBody>
                  <a:tcPr anchor="ctr" marL="91440" marR="91440" marT="0" marB="0">
                    <a:solidFill>
                      <a:srgbClr val="2A16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6B6B"/>
                          </a:solidFill>
                        </a:rPr>
                        <a:t>-10원  돈을 돌려줌</a:t>
                      </a:r>
                    </a:p>
                  </a:txBody>
                  <a:tcPr anchor="ctr" marL="91440" marR="91440" marT="0" marB="0">
                    <a:solidFill>
                      <a:srgbClr val="2A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6B6B"/>
                          </a:solidFill>
                        </a:rPr>
                        <a:t>FAIL</a:t>
                      </a:r>
                    </a:p>
                  </a:txBody>
                  <a:tcPr anchor="ctr" marL="91440" marR="91440" marT="0" marB="0">
                    <a:solidFill>
                      <a:srgbClr val="2A16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-1원, 10%</a:t>
                      </a:r>
                    </a:p>
                  </a:txBody>
                  <a:tcPr anchor="ctr" marL="91440" marR="91440" marT="0" marB="0">
                    <a:solidFill>
                      <a:srgbClr val="2A16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FDEEB"/>
                          </a:solidFill>
                        </a:rPr>
                        <a:t>오류 발생</a:t>
                      </a:r>
                    </a:p>
                  </a:txBody>
                  <a:tcPr anchor="ctr" marL="91440" marR="91440" marT="0" marB="0">
                    <a:solidFill>
                      <a:srgbClr val="2A16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6B6B"/>
                          </a:solidFill>
                        </a:rPr>
                        <a:t>-1원  그대로 계산</a:t>
                      </a:r>
                    </a:p>
                  </a:txBody>
                  <a:tcPr anchor="ctr" marL="91440" marR="91440" marT="0" marB="0">
                    <a:solidFill>
                      <a:srgbClr val="2A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6B6B"/>
                          </a:solidFill>
                        </a:rPr>
                        <a:t>FAIL</a:t>
                      </a:r>
                    </a:p>
                  </a:txBody>
                  <a:tcPr anchor="ctr" marL="91440" marR="91440" marT="0" marB="0">
                    <a:solidFill>
                      <a:srgbClr val="2A161E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68680" y="5440680"/>
            <a:ext cx="10515600" cy="685800"/>
          </a:xfrm>
          <a:prstGeom prst="roundRect">
            <a:avLst>
              <a:gd name="adj" fmla="val 5000"/>
            </a:avLst>
          </a:prstGeom>
          <a:solidFill>
            <a:srgbClr val="0F2A2A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40680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F5F8FD"/>
                </a:solidFill>
              </a:rPr>
              <a:t>미션: 테스트는 그대로 두고 코드만 고쳐서 FAIL 3개를 PASS로 → QA Gate 통과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3 · 데모 1: 버그 하나 고치기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데모를 제어 루프로 보면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09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3 · 데모 1: 버그 하나 고치기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100" b="0">
                <a:solidFill>
                  <a:srgbClr val="8397AB"/>
                </a:solidFill>
              </a:rPr>
              <a:t>목표값</a:t>
            </a:r>
          </a:p>
          <a:p>
            <a:pPr algn="ctr"/>
            <a:r>
              <a:rPr sz="1600" b="1">
                <a:solidFill>
                  <a:srgbClr val="F5F8FD"/>
                </a:solidFill>
              </a:rPr>
              <a:t>테스트 7개</a:t>
            </a:r>
          </a:p>
          <a:p>
            <a:pPr algn="ctr"/>
            <a:r>
              <a:rPr sz="1200" b="0">
                <a:solidFill>
                  <a:srgbClr val="CFDEEB"/>
                </a:solidFill>
              </a:rPr>
              <a:t>모두 PASS</a:t>
            </a:r>
          </a:p>
        </p:txBody>
      </p:sp>
      <p:sp>
        <p:nvSpPr>
          <p:cNvPr id="7" name="Oval 6"/>
          <p:cNvSpPr/>
          <p:nvPr/>
        </p:nvSpPr>
        <p:spPr>
          <a:xfrm>
            <a:off x="3074670" y="2468879"/>
            <a:ext cx="685800" cy="685800"/>
          </a:xfrm>
          <a:prstGeom prst="ellipse">
            <a:avLst/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square"/>
          <a:lstStyle/>
          <a:p>
            <a:pPr algn="ctr"/>
            <a:r>
              <a:rPr sz="1200" b="1">
                <a:solidFill>
                  <a:srgbClr val="F5F8FD"/>
                </a:solidFill>
              </a:rPr>
              <a:t>PASS?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3420" y="233172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100" b="0">
                <a:solidFill>
                  <a:srgbClr val="8397AB"/>
                </a:solidFill>
              </a:rPr>
              <a:t>컨트롤러</a:t>
            </a:r>
          </a:p>
          <a:p>
            <a:pPr algn="ctr"/>
            <a:r>
              <a:rPr sz="1700" b="1">
                <a:solidFill>
                  <a:srgbClr val="31D3B1"/>
                </a:solidFill>
              </a:rPr>
              <a:t>loop.py</a:t>
            </a:r>
          </a:p>
          <a:p>
            <a:pPr algn="ctr"/>
            <a:r>
              <a:rPr sz="1200" b="0">
                <a:solidFill>
                  <a:srgbClr val="CFDEEB"/>
                </a:solidFill>
              </a:rPr>
              <a:t>if문 · AI 아님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83729" y="233172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100" b="0">
                <a:solidFill>
                  <a:srgbClr val="8397AB"/>
                </a:solidFill>
              </a:rPr>
              <a:t>실행기</a:t>
            </a:r>
          </a:p>
          <a:p>
            <a:pPr algn="ctr"/>
            <a:r>
              <a:rPr sz="1700" b="1">
                <a:solidFill>
                  <a:srgbClr val="7C5CFF"/>
                </a:solidFill>
              </a:rPr>
              <a:t>Kiro CLI</a:t>
            </a:r>
          </a:p>
          <a:p>
            <a:pPr algn="ctr"/>
            <a:r>
              <a:rPr sz="1200" b="0">
                <a:solidFill>
                  <a:srgbClr val="CFDEEB"/>
                </a:solidFill>
              </a:rPr>
              <a:t>코드 수정 (새 세션)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33172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100" b="0">
                <a:solidFill>
                  <a:srgbClr val="8397AB"/>
                </a:solidFill>
              </a:rPr>
              <a:t>시스템</a:t>
            </a:r>
          </a:p>
          <a:p>
            <a:pPr algn="ctr"/>
            <a:r>
              <a:rPr sz="1600" b="1">
                <a:solidFill>
                  <a:srgbClr val="F5F8FD"/>
                </a:solidFill>
              </a:rPr>
              <a:t>Java 코드</a:t>
            </a:r>
          </a:p>
          <a:p>
            <a:pPr algn="ctr"/>
            <a:r>
              <a:rPr sz="1000" b="0">
                <a:solidFill>
                  <a:srgbClr val="CFDEEB"/>
                </a:solidFill>
              </a:rPr>
              <a:t>DiscountCalculator.java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331720" y="2811779"/>
            <a:ext cx="74295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760470" y="2811779"/>
            <a:ext cx="74295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69030" y="2427732"/>
            <a:ext cx="92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397AB"/>
                </a:solidFill>
              </a:rPr>
              <a:t>FAIL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240779" y="2811779"/>
            <a:ext cx="74295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49340" y="2427732"/>
            <a:ext cx="92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397AB"/>
                </a:solidFill>
              </a:rPr>
              <a:t>지시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721090" y="2811779"/>
            <a:ext cx="74295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29650" y="2427732"/>
            <a:ext cx="92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397AB"/>
                </a:solidFill>
              </a:rPr>
              <a:t>수정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52044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F5F8FD"/>
                </a:solidFill>
              </a:rPr>
              <a:t>센서  verify.py</a:t>
            </a:r>
          </a:p>
          <a:p>
            <a:pPr algn="ctr"/>
            <a:r>
              <a:rPr sz="1200" b="0">
                <a:solidFill>
                  <a:srgbClr val="8397AB"/>
                </a:solidFill>
              </a:rPr>
              <a:t>Java 컴파일 + 테스트 실행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24160" y="3291839"/>
            <a:ext cx="0" cy="594361"/>
          </a:xfrm>
          <a:prstGeom prst="line">
            <a:avLst/>
          </a:prstGeom>
          <a:ln w="25400">
            <a:solidFill>
              <a:srgbClr val="CF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772400" y="3886200"/>
            <a:ext cx="265176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3417570" y="3886200"/>
            <a:ext cx="1703070" cy="0"/>
          </a:xfrm>
          <a:prstGeom prst="line">
            <a:avLst/>
          </a:prstGeom>
          <a:ln w="25400">
            <a:solidFill>
              <a:srgbClr val="CF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417570" y="3154679"/>
            <a:ext cx="0" cy="731521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09010" y="3520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397AB"/>
                </a:solidFill>
              </a:rPr>
              <a:t>테스트 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17647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ACC15"/>
                </a:solidFill>
              </a:rPr>
              <a:t>외부 변화 = --inject-fault (데모 모드)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424160" y="2029968"/>
            <a:ext cx="0" cy="301752"/>
          </a:xfrm>
          <a:prstGeom prst="line">
            <a:avLst/>
          </a:prstGeom>
          <a:ln w="22225">
            <a:solidFill>
              <a:srgbClr val="FACC1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397AB"/>
                </a:solidFill>
              </a:rPr>
              <a:t>5장의 제어 루프 그림에 데모 구성 요소를 그대로 넣으면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52628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CFDEEB"/>
                </a:solidFill>
              </a:rPr>
              <a:t>안전장치:  최대 5회 · 세션 300초 · 테스트/검증기 변조 시 복원·중단 · Kiro는 파일 읽기/쓰기만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257800"/>
            <a:ext cx="10515600" cy="731520"/>
          </a:xfrm>
          <a:prstGeom prst="roundRect">
            <a:avLst>
              <a:gd name="adj" fmla="val 8000"/>
            </a:avLst>
          </a:prstGeom>
          <a:solidFill>
            <a:srgbClr val="0F2A2A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F8FD"/>
                </a:solidFill>
              </a:rPr>
              <a:t>AI(Kiro)는 ‘실행기’ 한 칸일 뿐 — 판정은 센서와 컨트롤러가 한다</a:t>
            </a:r>
          </a:p>
          <a:p>
            <a:pPr algn="ctr"/>
            <a:r>
              <a:rPr sz="1300" b="0">
                <a:solidFill>
                  <a:srgbClr val="8397AB"/>
                </a:solidFill>
              </a:rPr>
              <a:t>Goal Loop 하나를 외부 Controller로 구현한 사례이며, Software Factory 전체는 아니다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0807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그림: Kyle Mistele 발표의 제어 루프를 재구성 · 각 칸의 데모 대응은 발표자 해석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loop.py 핵심 로직 (약 15줄)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10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63040"/>
            <a:ext cx="10515600" cy="4114800"/>
          </a:xfrm>
          <a:prstGeom prst="roundRect">
            <a:avLst>
              <a:gd name="adj" fmla="val 3000"/>
            </a:avLst>
          </a:prstGeom>
          <a:solidFill>
            <a:srgbClr val="050A12"/>
          </a:solidFill>
          <a:ln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FDEEB"/>
                </a:solidFill>
                <a:latin typeface="Menlo"/>
                <a:ea typeface="Apple SD Gothic Neo"/>
              </a:rPr>
              <a:t>ok, log = qa_gate()                        # ① 현재 상태 검사 (verify.py)</a:t>
            </a:r>
          </a:p>
          <a:p>
            <a:r>
              <a:rPr sz="1500" b="0">
                <a:solidFill>
                  <a:srgbClr val="CFDEEB"/>
                </a:solidFill>
                <a:latin typeface="Menlo"/>
                <a:ea typeface="Apple SD Gothic Neo"/>
              </a:rPr>
              <a:t>if ok: return "ALREADY_PASSING"</a:t>
            </a:r>
          </a:p>
          <a:p>
            <a:r>
              <a:rPr sz="1500" b="0">
                <a:solidFill>
                  <a:srgbClr val="CFDEEB"/>
                </a:solidFill>
                <a:latin typeface="Menlo"/>
                <a:ea typeface="Apple SD Gothic Neo"/>
              </a:rPr>
              <a:t/>
            </a:r>
          </a:p>
          <a:p>
            <a:r>
              <a:rPr sz="1500" b="0">
                <a:solidFill>
                  <a:srgbClr val="31D3B1"/>
                </a:solidFill>
                <a:latin typeface="Menlo"/>
                <a:ea typeface="Apple SD Gothic Neo"/>
              </a:rPr>
              <a:t>for i in range(1, 6):                      # 최대 5회</a:t>
            </a:r>
          </a:p>
          <a:p>
            <a:r>
              <a:rPr sz="1500" b="0">
                <a:solidFill>
                  <a:srgbClr val="7C5CFF"/>
                </a:solidFill>
                <a:latin typeface="Menlo"/>
                <a:ea typeface="Apple SD Gothic Neo"/>
              </a:rPr>
              <a:t>    run_kiro(prompt + log, timeout=300)    # ② 새 Kiro 세션 = 작업 지시</a:t>
            </a:r>
          </a:p>
          <a:p>
            <a:r>
              <a:rPr sz="1500" b="0">
                <a:solidFill>
                  <a:srgbClr val="CFDEEB"/>
                </a:solidFill>
                <a:latin typeface="Menlo"/>
                <a:ea typeface="Apple SD Gothic Neo"/>
              </a:rPr>
              <a:t>    if protected_files_changed():          # ③ 테스트·검증기 변조 검사</a:t>
            </a:r>
          </a:p>
          <a:p>
            <a:r>
              <a:rPr sz="1500" b="0">
                <a:solidFill>
                  <a:srgbClr val="FF6B6B"/>
                </a:solidFill>
                <a:latin typeface="Menlo"/>
                <a:ea typeface="Apple SD Gothic Neo"/>
              </a:rPr>
              <a:t>        restore(); return "GUARDRAIL_STOP"</a:t>
            </a:r>
          </a:p>
          <a:p>
            <a:r>
              <a:rPr sz="1500" b="0">
                <a:solidFill>
                  <a:srgbClr val="CFDEEB"/>
                </a:solidFill>
                <a:latin typeface="Menlo"/>
                <a:ea typeface="Apple SD Gothic Neo"/>
              </a:rPr>
              <a:t>    ok, log = qa_gate()                    # ④ AI 말 대신 직접 검사</a:t>
            </a:r>
          </a:p>
          <a:p>
            <a:r>
              <a:rPr sz="1500" b="0">
                <a:solidFill>
                  <a:srgbClr val="CFDEEB"/>
                </a:solidFill>
                <a:latin typeface="Menlo"/>
                <a:ea typeface="Apple SD Gothic Neo"/>
              </a:rPr>
              <a:t>    save_record(i, ok, log, diff)          # .loop/ 에 기록</a:t>
            </a:r>
          </a:p>
          <a:p>
            <a:r>
              <a:rPr sz="1500" b="0">
                <a:solidFill>
                  <a:srgbClr val="4ADE80"/>
                </a:solidFill>
                <a:latin typeface="Menlo"/>
                <a:ea typeface="Apple SD Gothic Neo"/>
              </a:rPr>
              <a:t>    if ok: return "PASS"                   # ⑤ 판정: 성공</a:t>
            </a:r>
          </a:p>
          <a:p>
            <a:r>
              <a:rPr sz="1500" b="0">
                <a:solidFill>
                  <a:srgbClr val="FF6B6B"/>
                </a:solidFill>
                <a:latin typeface="Menlo"/>
                <a:ea typeface="Apple SD Gothic Neo"/>
              </a:rPr>
              <a:t>    if kiro_failed: return "AGENT_ERROR"   #    도구·인증·타임아웃 오류</a:t>
            </a:r>
          </a:p>
          <a:p>
            <a:r>
              <a:rPr sz="1500" b="0">
                <a:solidFill>
                  <a:srgbClr val="8397AB"/>
                </a:solidFill>
                <a:latin typeface="Menlo"/>
                <a:ea typeface="Apple SD Gothic Neo"/>
              </a:rPr>
              <a:t>    # FAIL이면 log를 들고 다음 회차로</a:t>
            </a:r>
          </a:p>
          <a:p>
            <a:r>
              <a:rPr sz="1500" b="0">
                <a:solidFill>
                  <a:srgbClr val="CFDEEB"/>
                </a:solidFill>
                <a:latin typeface="Menlo"/>
                <a:ea typeface="Apple SD Gothic Neo"/>
              </a:rPr>
              <a:t/>
            </a:r>
          </a:p>
          <a:p>
            <a:r>
              <a:rPr sz="1500" b="0">
                <a:solidFill>
                  <a:srgbClr val="FF6B6B"/>
                </a:solidFill>
                <a:latin typeface="Menlo"/>
                <a:ea typeface="Apple SD Gothic Neo"/>
              </a:rPr>
              <a:t>return "MAX_ITERATIONS"                    # 5회 모두 실패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15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FDEEB"/>
                </a:solidFill>
              </a:rPr>
              <a:t>Controller는 AI가 아니다 — 테스트 결과(PASS/FAIL)만 보고 if문으로 결정한다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3 · 데모 1: 버그 하나 고치기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실제 실행 ①: Kiro가 1회에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11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63040"/>
            <a:ext cx="10515600" cy="3840480"/>
          </a:xfrm>
          <a:prstGeom prst="roundRect">
            <a:avLst>
              <a:gd name="adj" fmla="val 3000"/>
            </a:avLst>
          </a:prstGeom>
          <a:solidFill>
            <a:srgbClr val="050A12"/>
          </a:solidFill>
          <a:ln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1D3B1"/>
                </a:solidFill>
                <a:latin typeface="Menlo"/>
                <a:ea typeface="Apple SD Gothic Neo"/>
              </a:rPr>
              <a:t>$ python3 loop.py --provider kiro --reset</a:t>
            </a:r>
          </a:p>
          <a:p>
            <a:r>
              <a:rPr sz="1300" b="0">
                <a:solidFill>
                  <a:srgbClr val="FF6B6B"/>
                </a:solidFill>
                <a:latin typeface="Menlo"/>
                <a:ea typeface="Apple SD Gothic Neo"/>
              </a:rPr>
              <a:t>[QA GATE] initial: FAIL</a:t>
            </a:r>
          </a:p>
          <a:p>
            <a:r>
              <a:rPr sz="1300" b="0">
                <a:solidFill>
                  <a:srgbClr val="CFDEEB"/>
                </a:solidFill>
                <a:latin typeface="Menlo"/>
                <a:ea typeface="Apple SD Gothic Neo"/>
              </a:rPr>
              <a:t>  AssertionError: Expected IllegalArgumentException for rate=-1</a:t>
            </a:r>
          </a:p>
          <a:p>
            <a:r>
              <a:rPr sz="1300" b="0">
                <a:solidFill>
                  <a:srgbClr val="31D3B1"/>
                </a:solidFill>
                <a:latin typeface="Menlo"/>
                <a:ea typeface="Apple SD Gothic Neo"/>
              </a:rPr>
              <a:t>[LOOP 1/5] starting NEW kiro session (no human input)</a:t>
            </a:r>
          </a:p>
          <a:p>
            <a:r>
              <a:rPr sz="1300" b="0">
                <a:solidFill>
                  <a:srgbClr val="8397AB"/>
                </a:solidFill>
                <a:latin typeface="Menlo"/>
                <a:ea typeface="Apple SD Gothic Neo"/>
              </a:rPr>
              <a:t>  │ [tool] Reading DiscountCalculator.java, DiscountTest.java</a:t>
            </a:r>
          </a:p>
          <a:p>
            <a:r>
              <a:rPr sz="1300" b="0">
                <a:solidFill>
                  <a:srgbClr val="8397AB"/>
                </a:solidFill>
                <a:latin typeface="Menlo"/>
                <a:ea typeface="Apple SD Gothic Neo"/>
              </a:rPr>
              <a:t>  │ [tool] Editing DiscountCalculator.java</a:t>
            </a:r>
          </a:p>
          <a:p>
            <a:r>
              <a:rPr sz="1300" b="0">
                <a:solidFill>
                  <a:srgbClr val="8397AB"/>
                </a:solidFill>
                <a:latin typeface="Menlo"/>
                <a:ea typeface="Apple SD Gothic Neo"/>
              </a:rPr>
              <a:t>  │ Added guards ... rate outside [0,100] or price is negative</a:t>
            </a:r>
          </a:p>
          <a:p>
            <a:r>
              <a:rPr sz="1300" b="0">
                <a:solidFill>
                  <a:srgbClr val="8397AB"/>
                </a:solidFill>
                <a:latin typeface="Menlo"/>
                <a:ea typeface="Apple SD Gothic Neo"/>
              </a:rPr>
              <a:t>  [AGENT] session ended: exit=0 (17.4s). Agent claim is NOT trusted</a:t>
            </a:r>
          </a:p>
          <a:p>
            <a:r>
              <a:rPr sz="1300" b="0">
                <a:solidFill>
                  <a:srgbClr val="4ADE80"/>
                </a:solidFill>
                <a:latin typeface="Menlo"/>
                <a:ea typeface="Apple SD Gothic Neo"/>
              </a:rPr>
              <a:t>[QA GATE] PASS   ALL TESTS PASSED</a:t>
            </a:r>
          </a:p>
          <a:p>
            <a:r>
              <a:rPr sz="1300" b="0">
                <a:solidFill>
                  <a:srgbClr val="4ADE80"/>
                </a:solidFill>
                <a:latin typeface="Menlo"/>
                <a:ea typeface="Apple SD Gothic Neo"/>
              </a:rPr>
              <a:t>SUCCESS: QA Gate passed on iteration 1. Controller stops the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FDEEB"/>
                </a:solidFill>
              </a:rPr>
              <a:t>쉬운 목표는 1회에 끝나는 게 정상 — 그래도 "완료"는 Kiro가 아니라 QA Gate가 승인했다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3 · 데모 1: 버그 하나 고치기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실제 실행 ②: QA FAIL → 새 세션 자동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12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71600"/>
            <a:ext cx="10515600" cy="4206240"/>
          </a:xfrm>
          <a:prstGeom prst="roundRect">
            <a:avLst>
              <a:gd name="adj" fmla="val 3000"/>
            </a:avLst>
          </a:prstGeom>
          <a:solidFill>
            <a:srgbClr val="050A12"/>
          </a:solidFill>
          <a:ln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14630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1D3B1"/>
                </a:solidFill>
                <a:latin typeface="Menlo"/>
                <a:ea typeface="Apple SD Gothic Neo"/>
              </a:rPr>
              <a:t>$ python3 loop.py --provider kiro --reset --inject-fault</a:t>
            </a:r>
          </a:p>
          <a:p>
            <a:r>
              <a:rPr sz="1200" b="0">
                <a:solidFill>
                  <a:srgbClr val="31D3B1"/>
                </a:solidFill>
                <a:latin typeface="Menlo"/>
                <a:ea typeface="Apple SD Gothic Neo"/>
              </a:rPr>
              <a:t>[LOOP 1/5] starting NEW kiro session (no human input)</a:t>
            </a:r>
          </a:p>
          <a:p>
            <a:r>
              <a:rPr sz="1200" b="0">
                <a:solidFill>
                  <a:srgbClr val="8397AB"/>
                </a:solidFill>
                <a:latin typeface="Menlo"/>
                <a:ea typeface="Apple SD Gothic Neo"/>
              </a:rPr>
              <a:t>  │ [tool] Editing DiscountCalculator.java     (16.5s, exit=0)</a:t>
            </a:r>
          </a:p>
          <a:p>
            <a:r>
              <a:rPr sz="1200" b="0">
                <a:solidFill>
                  <a:srgbClr val="FACC15"/>
                </a:solidFill>
                <a:latin typeface="Menlo"/>
                <a:ea typeface="Apple SD Gothic Neo"/>
              </a:rPr>
              <a:t>[FAULT INJECTION] controller removed price validation (NOT the AI's)</a:t>
            </a:r>
          </a:p>
          <a:p>
            <a:r>
              <a:rPr sz="1200" b="0">
                <a:solidFill>
                  <a:srgbClr val="FF6B6B"/>
                </a:solidFill>
                <a:latin typeface="Menlo"/>
                <a:ea typeface="Apple SD Gothic Neo"/>
              </a:rPr>
              <a:t>[QA GATE] FAIL</a:t>
            </a:r>
          </a:p>
          <a:p>
            <a:r>
              <a:rPr sz="1200" b="0">
                <a:solidFill>
                  <a:srgbClr val="CFDEEB"/>
                </a:solidFill>
                <a:latin typeface="Menlo"/>
                <a:ea typeface="Apple SD Gothic Neo"/>
              </a:rPr>
              <a:t>  AssertionError: Expected IllegalArgumentException for price=-1</a:t>
            </a:r>
          </a:p>
          <a:p>
            <a:r>
              <a:rPr sz="1200" b="0">
                <a:solidFill>
                  <a:srgbClr val="31D3B1"/>
                </a:solidFill>
                <a:latin typeface="Menlo"/>
                <a:ea typeface="Apple SD Gothic Neo"/>
              </a:rPr>
              <a:t>[LOOP] QA failed -&gt; feeding failure log into a NEW session</a:t>
            </a:r>
          </a:p>
          <a:p>
            <a:r>
              <a:rPr sz="1200" b="0">
                <a:solidFill>
                  <a:srgbClr val="31D3B1"/>
                </a:solidFill>
                <a:latin typeface="Menlo"/>
                <a:ea typeface="Apple SD Gothic Neo"/>
              </a:rPr>
              <a:t>[LOOP 2/5] starting NEW kiro session (no human input)</a:t>
            </a:r>
          </a:p>
          <a:p>
            <a:r>
              <a:rPr sz="1200" b="0">
                <a:solidFill>
                  <a:srgbClr val="8397AB"/>
                </a:solidFill>
                <a:latin typeface="Menlo"/>
                <a:ea typeface="Apple SD Gothic Neo"/>
              </a:rPr>
              <a:t>  │ The fix is to add price validation. I'll add a check for price &lt; 0</a:t>
            </a:r>
          </a:p>
          <a:p>
            <a:r>
              <a:rPr sz="1200" b="0">
                <a:solidFill>
                  <a:srgbClr val="8397AB"/>
                </a:solidFill>
                <a:latin typeface="Menlo"/>
                <a:ea typeface="Apple SD Gothic Neo"/>
              </a:rPr>
              <a:t>  │ [tool] Editing DiscountCalculator.java     (17.2s, exit=0)</a:t>
            </a:r>
          </a:p>
          <a:p>
            <a:r>
              <a:rPr sz="1200" b="0">
                <a:solidFill>
                  <a:srgbClr val="4ADE80"/>
                </a:solidFill>
                <a:latin typeface="Menlo"/>
                <a:ea typeface="Apple SD Gothic Neo"/>
              </a:rPr>
              <a:t>[QA GATE] PASS   ALL TESTS PASSED</a:t>
            </a:r>
          </a:p>
          <a:p>
            <a:r>
              <a:rPr sz="1200" b="0">
                <a:solidFill>
                  <a:srgbClr val="4ADE80"/>
                </a:solidFill>
                <a:latin typeface="Menlo"/>
                <a:ea typeface="Apple SD Gothic Neo"/>
              </a:rPr>
              <a:t>RESULT=PASS  iterations=2   loop 1: FAIL (fault injected) / loop 2: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ACC15"/>
                </a:solidFill>
              </a:rPr>
              <a:t>※ 1회차 실패는 Controller가 의도적으로 주입한 것 (AI 실패 아님)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3 · 데모 1: 버그 하나 고치기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증거: Controller가 남긴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13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FDEEB"/>
                </a:solidFill>
              </a:rPr>
              <a:t>.loop/summary.json — 결과·반복 횟수</a:t>
            </a:r>
          </a:p>
          <a:p>
            <a:r>
              <a:rPr sz="1800" b="0">
                <a:solidFill>
                  <a:srgbClr val="CFDEEB"/>
                </a:solidFill>
              </a:rPr>
              <a:t>iteration-NN.json — 회차별 QA 출력</a:t>
            </a:r>
          </a:p>
          <a:p>
            <a:r>
              <a:rPr sz="1800" b="0">
                <a:solidFill>
                  <a:srgbClr val="CFDEEB"/>
                </a:solidFill>
              </a:rPr>
              <a:t>agent-NN.log — Kiro 세션 전체 로그</a:t>
            </a:r>
          </a:p>
          <a:p>
            <a:r>
              <a:rPr sz="1800" b="0">
                <a:solidFill>
                  <a:srgbClr val="CFDEEB"/>
                </a:solidFill>
              </a:rPr>
              <a:t>diff-NN.patch — AI가 바꾼 코드</a:t>
            </a:r>
          </a:p>
          <a:p>
            <a:r>
              <a:rPr sz="1800" b="0">
                <a:solidFill>
                  <a:srgbClr val="CFDEEB"/>
                </a:solidFill>
              </a:rPr>
              <a:t/>
            </a:r>
          </a:p>
          <a:p>
            <a:r>
              <a:rPr sz="1800" b="0">
                <a:solidFill>
                  <a:srgbClr val="31D3B1"/>
                </a:solidFill>
              </a:rPr>
              <a:t>보호 파일 변조 시뮬레이션</a:t>
            </a:r>
          </a:p>
          <a:p>
            <a:r>
              <a:rPr sz="1800" b="0">
                <a:solidFill>
                  <a:srgbClr val="CFDEEB"/>
                </a:solidFill>
              </a:rPr>
              <a:t>→ 자동 복원 + GUARDRAIL_STOP</a:t>
            </a:r>
          </a:p>
          <a:p>
            <a:r>
              <a:rPr sz="1800" b="0">
                <a:solidFill>
                  <a:srgbClr val="CFDEEB"/>
                </a:solidFill>
              </a:rPr>
              <a:t>셸 도구 요청 → 비대화형 모드에서 거부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463040"/>
            <a:ext cx="4663440" cy="3840480"/>
          </a:xfrm>
          <a:prstGeom prst="roundRect">
            <a:avLst>
              <a:gd name="adj" fmla="val 3000"/>
            </a:avLst>
          </a:prstGeom>
          <a:solidFill>
            <a:srgbClr val="050A12"/>
          </a:solidFill>
          <a:ln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903720" y="155448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FDEEB"/>
                </a:solidFill>
                <a:latin typeface="Menlo"/>
                <a:ea typeface="Apple SD Gothic Neo"/>
              </a:rPr>
              <a:t>diff-02.patch  (LOOP 2, Kiro)</a:t>
            </a:r>
          </a:p>
          <a:p>
            <a:r>
              <a:rPr sz="1200" b="0">
                <a:solidFill>
                  <a:srgbClr val="CFDEEB"/>
                </a:solidFill>
                <a:latin typeface="Menlo"/>
                <a:ea typeface="Apple SD Gothic Neo"/>
              </a:rPr>
              <a:t/>
            </a:r>
          </a:p>
          <a:p>
            <a:r>
              <a:rPr sz="1200" b="0">
                <a:solidFill>
                  <a:srgbClr val="CFDEEB"/>
                </a:solidFill>
                <a:latin typeface="Menlo"/>
                <a:ea typeface="Apple SD Gothic Neo"/>
              </a:rPr>
              <a:t>  public static int discount(</a:t>
            </a:r>
          </a:p>
          <a:p>
            <a:r>
              <a:rPr sz="1200" b="0">
                <a:solidFill>
                  <a:srgbClr val="CFDEEB"/>
                </a:solidFill>
                <a:latin typeface="Menlo"/>
                <a:ea typeface="Apple SD Gothic Neo"/>
              </a:rPr>
              <a:t>      int price, int rate) {</a:t>
            </a:r>
          </a:p>
          <a:p>
            <a:r>
              <a:rPr sz="1200" b="0">
                <a:solidFill>
                  <a:srgbClr val="FF6B6B"/>
                </a:solidFill>
                <a:latin typeface="Menlo"/>
                <a:ea typeface="Apple SD Gothic Neo"/>
              </a:rPr>
              <a:t>- // [FAULT INJECTION] price</a:t>
            </a:r>
          </a:p>
          <a:p>
            <a:r>
              <a:rPr sz="1200" b="0">
                <a:solidFill>
                  <a:srgbClr val="FF6B6B"/>
                </a:solidFill>
                <a:latin typeface="Menlo"/>
                <a:ea typeface="Apple SD Gothic Neo"/>
              </a:rPr>
              <a:t>-    validation removed</a:t>
            </a:r>
          </a:p>
          <a:p>
            <a:r>
              <a:rPr sz="1200" b="0">
                <a:solidFill>
                  <a:srgbClr val="4ADE80"/>
                </a:solidFill>
                <a:latin typeface="Menlo"/>
                <a:ea typeface="Apple SD Gothic Neo"/>
              </a:rPr>
              <a:t>+ if (price &lt; 0) throw new</a:t>
            </a:r>
          </a:p>
          <a:p>
            <a:r>
              <a:rPr sz="1200" b="0">
                <a:solidFill>
                  <a:srgbClr val="4ADE80"/>
                </a:solidFill>
                <a:latin typeface="Menlo"/>
                <a:ea typeface="Apple SD Gothic Neo"/>
              </a:rPr>
              <a:t>+   IllegalArgumentException(</a:t>
            </a:r>
          </a:p>
          <a:p>
            <a:r>
              <a:rPr sz="1200" b="0">
                <a:solidFill>
                  <a:srgbClr val="4ADE80"/>
                </a:solidFill>
                <a:latin typeface="Menlo"/>
                <a:ea typeface="Apple SD Gothic Neo"/>
              </a:rPr>
              <a:t>+     "invalid price");</a:t>
            </a:r>
          </a:p>
          <a:p>
            <a:r>
              <a:rPr sz="1200" b="0">
                <a:solidFill>
                  <a:srgbClr val="CFDEEB"/>
                </a:solidFill>
                <a:latin typeface="Menlo"/>
                <a:ea typeface="Apple SD Gothic Neo"/>
              </a:rPr>
              <a:t>  if (rate &lt; 0 || rate &gt; 100)</a:t>
            </a:r>
          </a:p>
          <a:p>
            <a:r>
              <a:rPr sz="1200" b="0">
                <a:solidFill>
                  <a:srgbClr val="CFDEEB"/>
                </a:solidFill>
                <a:latin typeface="Menlo"/>
                <a:ea typeface="Apple SD Gothic Neo"/>
              </a:rPr>
              <a:t>    throw new IllegalArgumentException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3 · 데모 1: 버그 하나 고치기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데모 2: 한 번에 끝낼 수 없는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14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3 · 데모 2: 한 번에 끝낼 수 없는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397AB"/>
                </a:solidFill>
              </a:rPr>
              <a:t>데모 1은 버그 하나라 한 번에 끝났다. 이번엔 여러 번 돌아야만 끝나는 일을 맡긴다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4846320" cy="2788920"/>
          </a:xfrm>
          <a:prstGeom prst="roundRect">
            <a:avLst>
              <a:gd name="adj" fmla="val 6000"/>
            </a:avLst>
          </a:prstGeom>
          <a:solidFill>
            <a:srgbClr val="162236"/>
          </a:solidFill>
          <a:ln w="22225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54864" bIns="54864" wrap="square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31D3B1"/>
                </a:solidFill>
              </a:rPr>
              <a:t>과제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5F8FD"/>
                </a:solidFill>
              </a:rPr>
              <a:t>Java 클래스 6개가 쓰는 옛 날짜 API(Date · Calendar · SimpleDateFormat)를 새 표준 java.time으로 바꾼다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8397AB"/>
                </a:solidFill>
              </a:rPr>
              <a:t>왜? Java 8(2014)부터 java.time이 표준. 옛 API는 스레드에 안전하지 않고 값이 바뀌는 등 실수가 잦다 (삭제 예정은 아님)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FDEEB"/>
                </a:solidFill>
              </a:rPr>
              <a:t>조건: 동작은 하나도 바뀌면 안 된다 — 출력 · 시간대 · 정밀도 · 예외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FDEEB"/>
                </a:solidFill>
              </a:rPr>
              <a:t>규칙: loop 한 번에 파일 하나만 (작게 고치고 다시 잰다)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89320" y="1874519"/>
          <a:ext cx="5394960" cy="27843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57400"/>
                <a:gridCol w="3337560"/>
              </a:tblGrid>
              <a:tr h="3977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F8FD"/>
                          </a:solidFill>
                        </a:rPr>
                        <a:t>파일</a:t>
                      </a:r>
                    </a:p>
                  </a:txBody>
                  <a:tcPr anchor="ctr" marL="109728" marR="109728" marT="0" marB="0">
                    <a:solidFill>
                      <a:srgbClr val="2A3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F8FD"/>
                          </a:solidFill>
                        </a:rPr>
                        <a:t>숨어 있는 함정</a:t>
                      </a:r>
                    </a:p>
                  </a:txBody>
                  <a:tcPr anchor="ctr" marL="109728" marR="109728" marT="0" marB="0">
                    <a:solidFill>
                      <a:srgbClr val="2A3B52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D3B1"/>
                          </a:solidFill>
                        </a:rPr>
                        <a:t>InvoiceFormatter</a:t>
                      </a:r>
                    </a:p>
                  </a:txBody>
                  <a:tcPr anchor="ctr" marL="109728" marR="109728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FDEEB"/>
                          </a:solidFill>
                        </a:rPr>
                        <a:t>서울 날짜 — UTC로 계산하면 하루 틀림</a:t>
                      </a:r>
                    </a:p>
                  </a:txBody>
                  <a:tcPr anchor="ctr" marL="109728" marR="109728" marT="0" marB="0">
                    <a:solidFill>
                      <a:srgbClr val="162236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D3B1"/>
                          </a:solidFill>
                        </a:rPr>
                        <a:t>LogTimestamp</a:t>
                      </a:r>
                    </a:p>
                  </a:txBody>
                  <a:tcPr anchor="ctr" marL="109728" marR="109728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FDEEB"/>
                          </a:solidFill>
                        </a:rPr>
                        <a:t>초 단위까지만 — 밀리초가 붙으면 FAIL</a:t>
                      </a:r>
                    </a:p>
                  </a:txBody>
                  <a:tcPr anchor="ctr" marL="109728" marR="109728" marT="0" marB="0">
                    <a:solidFill>
                      <a:srgbClr val="162236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D3B1"/>
                          </a:solidFill>
                        </a:rPr>
                        <a:t>ShippingSchedule</a:t>
                      </a:r>
                    </a:p>
                  </a:txBody>
                  <a:tcPr anchor="ctr" marL="109728" marR="109728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FDEEB"/>
                          </a:solidFill>
                        </a:rPr>
                        <a:t>주말 건너뛰기 · 2월 30일 거부</a:t>
                      </a:r>
                    </a:p>
                  </a:txBody>
                  <a:tcPr anchor="ctr" marL="109728" marR="109728" marT="0" marB="0">
                    <a:solidFill>
                      <a:srgbClr val="162236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D3B1"/>
                          </a:solidFill>
                        </a:rPr>
                        <a:t>MeetingTimeConverter</a:t>
                      </a:r>
                    </a:p>
                  </a:txBody>
                  <a:tcPr anchor="ctr" marL="109728" marR="109728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FDEEB"/>
                          </a:solidFill>
                        </a:rPr>
                        <a:t>서머타임(DST) 경계</a:t>
                      </a:r>
                    </a:p>
                  </a:txBody>
                  <a:tcPr anchor="ctr" marL="109728" marR="109728" marT="0" marB="0">
                    <a:solidFill>
                      <a:srgbClr val="162236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D3B1"/>
                          </a:solidFill>
                        </a:rPr>
                        <a:t>AgeCalculator</a:t>
                      </a:r>
                    </a:p>
                  </a:txBody>
                  <a:tcPr anchor="ctr" marL="109728" marR="109728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FDEEB"/>
                          </a:solidFill>
                        </a:rPr>
                        <a:t>2월 29일생의 나이</a:t>
                      </a:r>
                    </a:p>
                  </a:txBody>
                  <a:tcPr anchor="ctr" marL="109728" marR="109728" marT="0" marB="0">
                    <a:solidFill>
                      <a:srgbClr val="162236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1D3B1"/>
                          </a:solidFill>
                        </a:rPr>
                        <a:t>SubscriptionPeriod</a:t>
                      </a:r>
                    </a:p>
                  </a:txBody>
                  <a:tcPr anchor="ctr" marL="109728" marR="109728" marT="0" marB="0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FDEEB"/>
                          </a:solidFill>
                        </a:rPr>
                        <a:t>1월 31일 + 1개월 = 2월 28일</a:t>
                      </a:r>
                    </a:p>
                  </a:txBody>
                  <a:tcPr anchor="ctr" marL="109728" marR="109728" marT="0" marB="0">
                    <a:solidFill>
                      <a:srgbClr val="16223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" y="493776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0F2A2A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54864" bIns="54864" wrap="square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5F8FD"/>
                </a:solidFill>
              </a:rPr>
              <a:t>동작 테스트 28개가 ‘바뀌면 안 되는 것’을 고정한다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31D3B1"/>
                </a:solidFill>
              </a:rPr>
              <a:t>사전 검증: 정답 코드는 28/28 PASS · 흔한 실수 4가지는 각각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807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구성: Kyle Mistele의 실제 사례(TypeScript RPC → Effect 점진 마이그레이션)를 Java 날짜 API로 작게 재현 (발표자 구성)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데모 2를 제어 루프로 보면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15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3 · 데모 2: 한 번에 끝낼 수 없는 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100" b="0">
                <a:solidFill>
                  <a:srgbClr val="8397AB"/>
                </a:solidFill>
              </a:rPr>
              <a:t>목표값</a:t>
            </a:r>
          </a:p>
          <a:p>
            <a:pPr algn="ctr"/>
            <a:r>
              <a:rPr sz="1500" b="1">
                <a:solidFill>
                  <a:srgbClr val="F5F8FD"/>
                </a:solidFill>
              </a:rPr>
              <a:t>남은 파일 0개</a:t>
            </a:r>
          </a:p>
          <a:p>
            <a:pPr algn="ctr"/>
            <a:r>
              <a:rPr sz="1200" b="0">
                <a:solidFill>
                  <a:srgbClr val="CFDEEB"/>
                </a:solidFill>
              </a:rPr>
              <a:t>+ 테스트 PASS</a:t>
            </a:r>
          </a:p>
        </p:txBody>
      </p:sp>
      <p:sp>
        <p:nvSpPr>
          <p:cNvPr id="7" name="Oval 6"/>
          <p:cNvSpPr/>
          <p:nvPr/>
        </p:nvSpPr>
        <p:spPr>
          <a:xfrm>
            <a:off x="3074670" y="2468879"/>
            <a:ext cx="685800" cy="685800"/>
          </a:xfrm>
          <a:prstGeom prst="ellipse">
            <a:avLst/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wrap="square"/>
          <a:lstStyle/>
          <a:p>
            <a:pPr algn="ctr"/>
            <a:r>
              <a:rPr sz="1100" b="1">
                <a:solidFill>
                  <a:srgbClr val="F5F8FD"/>
                </a:solidFill>
              </a:rPr>
              <a:t>남은 수?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3420" y="233172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100" b="0">
                <a:solidFill>
                  <a:srgbClr val="8397AB"/>
                </a:solidFill>
              </a:rPr>
              <a:t>컨트롤러</a:t>
            </a:r>
          </a:p>
          <a:p>
            <a:pPr algn="ctr"/>
            <a:r>
              <a:rPr sz="1400" b="1">
                <a:solidFill>
                  <a:srgbClr val="31D3B1"/>
                </a:solidFill>
              </a:rPr>
              <a:t>migrate_loop.py</a:t>
            </a:r>
          </a:p>
          <a:p>
            <a:pPr algn="ctr"/>
            <a:r>
              <a:rPr sz="1000" b="0">
                <a:solidFill>
                  <a:srgbClr val="CFDEEB"/>
                </a:solidFill>
              </a:rPr>
              <a:t>파일 하나 선택 · 반영/되돌림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83729" y="233172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100" b="0">
                <a:solidFill>
                  <a:srgbClr val="8397AB"/>
                </a:solidFill>
              </a:rPr>
              <a:t>실행기</a:t>
            </a:r>
          </a:p>
          <a:p>
            <a:pPr algn="ctr"/>
            <a:r>
              <a:rPr sz="1700" b="1">
                <a:solidFill>
                  <a:srgbClr val="7C5CFF"/>
                </a:solidFill>
              </a:rPr>
              <a:t>Kiro CLI</a:t>
            </a:r>
          </a:p>
          <a:p>
            <a:pPr algn="ctr"/>
            <a:r>
              <a:rPr sz="1100" b="0">
                <a:solidFill>
                  <a:srgbClr val="CFDEEB"/>
                </a:solidFill>
              </a:rPr>
              <a:t>파일 하나씩 코드 교체 (새 세션)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33172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100" b="0">
                <a:solidFill>
                  <a:srgbClr val="8397AB"/>
                </a:solidFill>
              </a:rPr>
              <a:t>시스템</a:t>
            </a:r>
          </a:p>
          <a:p>
            <a:pPr algn="ctr"/>
            <a:r>
              <a:rPr sz="1500" b="1">
                <a:solidFill>
                  <a:srgbClr val="F5F8FD"/>
                </a:solidFill>
              </a:rPr>
              <a:t>src/ 6개 파일</a:t>
            </a:r>
          </a:p>
          <a:p>
            <a:pPr algn="ctr"/>
            <a:r>
              <a:rPr sz="1100" b="0">
                <a:solidFill>
                  <a:srgbClr val="CFDEEB"/>
                </a:solidFill>
              </a:rPr>
              <a:t>옛 날짜 API 사용 중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331720" y="2811779"/>
            <a:ext cx="74295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760470" y="2811779"/>
            <a:ext cx="74295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69030" y="2427732"/>
            <a:ext cx="92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397AB"/>
                </a:solidFill>
              </a:rPr>
              <a:t>남음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240779" y="2811779"/>
            <a:ext cx="74295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49340" y="2427732"/>
            <a:ext cx="92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397AB"/>
                </a:solidFill>
              </a:rPr>
              <a:t>지시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721090" y="2811779"/>
            <a:ext cx="74295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29650" y="2427732"/>
            <a:ext cx="9258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397AB"/>
                </a:solidFill>
              </a:rPr>
              <a:t>수정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52044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400" b="1">
                <a:solidFill>
                  <a:srgbClr val="F5F8FD"/>
                </a:solidFill>
              </a:rPr>
              <a:t>센서  measure.py + verify.py</a:t>
            </a:r>
          </a:p>
          <a:p>
            <a:pPr algn="ctr"/>
            <a:r>
              <a:rPr sz="1200" b="0">
                <a:solidFill>
                  <a:srgbClr val="8397AB"/>
                </a:solidFill>
              </a:rPr>
              <a:t>남은 파일 수 + 동작 테스트 28개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24160" y="3291839"/>
            <a:ext cx="0" cy="594361"/>
          </a:xfrm>
          <a:prstGeom prst="line">
            <a:avLst/>
          </a:prstGeom>
          <a:ln w="25400">
            <a:solidFill>
              <a:srgbClr val="CF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772400" y="3886200"/>
            <a:ext cx="2651760" cy="0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3417570" y="3886200"/>
            <a:ext cx="1703070" cy="0"/>
          </a:xfrm>
          <a:prstGeom prst="line">
            <a:avLst/>
          </a:prstGeom>
          <a:ln w="25400">
            <a:solidFill>
              <a:srgbClr val="CFD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417570" y="3154679"/>
            <a:ext cx="0" cy="731521"/>
          </a:xfrm>
          <a:prstGeom prst="line">
            <a:avLst/>
          </a:prstGeom>
          <a:ln w="25400">
            <a:solidFill>
              <a:srgbClr val="CFDE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0901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397AB"/>
                </a:solidFill>
              </a:rPr>
              <a:t>남은 수 · 테스트 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17647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ACC15"/>
                </a:solidFill>
              </a:rPr>
              <a:t>외부 변화 = 대상 외 수정 → 무시 · 테스트 변조 → 중단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424160" y="2029968"/>
            <a:ext cx="0" cy="301752"/>
          </a:xfrm>
          <a:prstGeom prst="line">
            <a:avLst/>
          </a:prstGeom>
          <a:ln w="22225">
            <a:solidFill>
              <a:srgbClr val="FACC1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397AB"/>
                </a:solidFill>
              </a:rPr>
              <a:t>같은 그림, 다른 센서 — 이번엔 ‘얼마나 남았는지’를 숫자로 잰다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526280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54864" bIns="54864" wrap="square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FDEEB"/>
                </a:solidFill>
              </a:rPr>
              <a:t>loop 1회 = 파일 하나:   테스트 PASS + 옛 날짜 API 없음 → 반영   ·   아니면 되돌리고 실패 내용으로 재시도   ·   2번 실패 → 사람에게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25780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0F2A2A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54864" bIns="54864" wrap="square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5F8FD"/>
                </a:solidFill>
              </a:rPr>
              <a:t>센서가 남은 양을 숫자로 잰다 — 오차가 6에서 0으로 줄어드는 루프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8397AB"/>
                </a:solidFill>
              </a:rPr>
              <a:t>Kyle Mistele: “측정하고, 작게 보정하고, 다시 측정한다”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0807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그림: Kyle Mistele 발표의 제어 루프를 재구성 · 각 칸의 데모 대응은 발표자 해석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데모 2 실제 실행: 6 →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16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3 · 데모 2: 한 번에 끝낼 수 없는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397AB"/>
                </a:solidFill>
              </a:rPr>
              <a:t>python3 migrate_loop.py --provider kiro --reset   ·   2026-10-21 · macOS · kiro-cli 2.32.0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1D3B1"/>
                </a:solidFill>
              </a:rPr>
              <a:t>6 → 5 → 4 → 3 → 2 → 1 →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514600"/>
            <a:ext cx="10515600" cy="2240280"/>
          </a:xfrm>
          <a:prstGeom prst="roundRect">
            <a:avLst>
              <a:gd name="adj" fmla="val 6000"/>
            </a:avLst>
          </a:prstGeom>
          <a:solidFill>
            <a:srgbClr val="050A12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54864" bIns="54864"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FDEEB"/>
                </a:solidFill>
                <a:latin typeface="Menlo"/>
                <a:ea typeface="Apple SD Gothic Neo"/>
              </a:rPr>
              <a:t>[SENSOR] legacy files 6/6 · tests PASS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1D3B1"/>
                </a:solidFill>
                <a:latin typeface="Menlo"/>
                <a:ea typeface="Apple SD Gothic Neo"/>
              </a:rPr>
              <a:t>[LOOP 1/12] target=AgeCalculator.java — NEW kiro session, no human input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8397AB"/>
                </a:solidFill>
                <a:latin typeface="Menlo"/>
                <a:ea typeface="Apple SD Gothic Neo"/>
              </a:rPr>
              <a:t>[AGENT] exit=0 (28.1s) · changed: AgeCalculator.java. Agent claim is NOT trusted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DE80"/>
                </a:solidFill>
                <a:latin typeface="Menlo"/>
                <a:ea typeface="Apple SD Gothic Neo"/>
              </a:rPr>
              <a:t>[GATE] tests PASS · sensor: AgeCalculator.java clean → ACCEPT   legacy files 6 → 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8397AB"/>
                </a:solidFill>
                <a:latin typeface="Menlo"/>
                <a:ea typeface="Apple SD Gothic Neo"/>
              </a:rPr>
              <a:t>   … loop 2 ~ 5: InvoiceFormatter · LogTimestamp · MeetingTimeConverter · ShippingSchedule …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1D3B1"/>
                </a:solidFill>
                <a:latin typeface="Menlo"/>
                <a:ea typeface="Apple SD Gothic Neo"/>
              </a:rPr>
              <a:t>[LOOP 6/12] target=SubscriptionPeriod.java — NEW kiro session, no human input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DE80"/>
                </a:solidFill>
                <a:latin typeface="Menlo"/>
                <a:ea typeface="Apple SD Gothic Neo"/>
              </a:rPr>
              <a:t>[GATE] tests PASS · sensor: SubscriptionPeriod.java clean → ACCEPT   legacy files 1 → 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DE80"/>
                </a:solidFill>
                <a:latin typeface="Menlo"/>
                <a:ea typeface="Apple SD Gothic Neo"/>
              </a:rPr>
              <a:t>RESULT=DONE  agent sessions=6  (146s)  ·  ALL 28 BEHAVIOR CHECKS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937760"/>
            <a:ext cx="5120640" cy="1005840"/>
          </a:xfrm>
          <a:prstGeom prst="roundRect">
            <a:avLst>
              <a:gd name="adj" fmla="val 6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54864" bIns="54864" wrap="square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5F8FD"/>
                </a:solidFill>
              </a:rPr>
              <a:t>이번 실행: 6개 모두 첫 시도에 ACCEPT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8397AB"/>
                </a:solidFill>
              </a:rPr>
              <a:t>재시도는 없었다 · 되돌림 → 재시도 흐름은 리허설(스크립트, AI 아님)로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937760"/>
            <a:ext cx="5120640" cy="1005840"/>
          </a:xfrm>
          <a:prstGeom prst="roundRect">
            <a:avLst>
              <a:gd name="adj" fmla="val 6000"/>
            </a:avLst>
          </a:prstGeom>
          <a:solidFill>
            <a:srgbClr val="162236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54864" bIns="54864" wrap="square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ACC15"/>
                </a:solidFill>
              </a:rPr>
              <a:t>만들면서 배운 것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CFDEEB"/>
                </a:solidFill>
              </a:rPr>
              <a:t>작업 폴더를 저장소 안에 두자 Kiro가 진짜 소스를 찾아 고쳤다 → 폴더 분리 + 되돌림 안전장치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0807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기록: docs/captures/migration/ (브랜치 feature/migration-loop) · 터미널 출력 일부 생략(…)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현장의 반응: 다들 찬성했을까?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17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4 · 현실과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397AB"/>
                </a:solidFill>
              </a:rPr>
              <a:t>마지막 날 패널 토론 “The Great Loops Debate” — 찬성과 신중론이 맞섰고, 승패는 가리지 못했다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182880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162236"/>
          </a:solidFill>
          <a:ln w="222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ADE80"/>
                </a:solidFill>
              </a:rPr>
              <a:t>“이미 왔다”</a:t>
            </a: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F5F8FD"/>
                </a:solidFill>
              </a:rPr>
              <a:t>손으로 코드 짜던 때로는 돌아가지 않는다</a:t>
            </a: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F5F8FD"/>
                </a:solidFill>
              </a:rPr>
              <a:t>핵심은 결과를 검증할 수 있느냐다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397AB"/>
                </a:solidFill>
              </a:rPr>
              <a:t>Geoffrey Huntley (Ralph Loop 창시자) · Ian Livingstone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162236"/>
          </a:solidFill>
          <a:ln w="22225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ACC15"/>
                </a:solidFill>
              </a:rPr>
              <a:t>“아직 이르다”</a:t>
            </a: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F5F8FD"/>
                </a:solidFill>
              </a:rPr>
              <a:t>기대가 실제 실력보다 앞서 있다</a:t>
            </a: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F5F8FD"/>
                </a:solidFill>
              </a:rPr>
              <a:t>토큰을 더 산다고 해결되지는 않는다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397AB"/>
                </a:solidFill>
              </a:rPr>
              <a:t>Dex Horthy (HumanLayer) · Greg Pstrucha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CFDEEB"/>
                </a:solidFill>
              </a:rPr>
              <a:t>개발자 95%가 에이전트를 쓰지만, 59%는 AI가 만든 코드가 나중에 짐이 될까 걱정한다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84632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0F2A2A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5F8FD"/>
                </a:solidFill>
              </a:rPr>
              <a:t>그래서 우리는? 작게 시작하고, 검증과 한도를 붙여서 써 보자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31D3B1"/>
                </a:solidFill>
              </a:rPr>
              <a:t>오늘 데모가 바로 그 최소 단위다 — 테스트로 검증하고, 횟수·시간·권한에 한도를 둔 루프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0807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397AB"/>
                </a:solidFill>
              </a:rPr>
              <a:t>출처: Latent Space “The great loops debate and the state of AI engineering” (2026-07-03) · 수치: Amplify 2026 AI Engineer Survey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우리 팀에서 어디에 쓸까?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2200">
                <a:solidFill>
                  <a:srgbClr val="CFDEEB"/>
                </a:solidFill>
              </a:rPr>
              <a:t>API 테스트 자동 생성 및 실패 복구 제안</a:t>
            </a:r>
          </a:p>
          <a:p>
            <a:pPr>
              <a:spcAft>
                <a:spcPts val="1700"/>
              </a:spcAft>
            </a:pPr>
            <a:r>
              <a:rPr sz="2200">
                <a:solidFill>
                  <a:srgbClr val="CFDEEB"/>
                </a:solidFill>
              </a:rPr>
              <a:t>CI 실패 원인 분석 → 수정 PR 초안</a:t>
            </a:r>
          </a:p>
          <a:p>
            <a:pPr>
              <a:spcAft>
                <a:spcPts val="1700"/>
              </a:spcAft>
            </a:pPr>
            <a:r>
              <a:rPr sz="2200">
                <a:solidFill>
                  <a:srgbClr val="CFDEEB"/>
                </a:solidFill>
              </a:rPr>
              <a:t>SonarQube 이슈 수정 → 스캔 → 재검증</a:t>
            </a:r>
          </a:p>
          <a:p>
            <a:pPr>
              <a:spcAft>
                <a:spcPts val="1700"/>
              </a:spcAft>
            </a:pPr>
            <a:r>
              <a:rPr sz="2200">
                <a:solidFill>
                  <a:srgbClr val="CFDEEB"/>
                </a:solidFill>
              </a:rPr>
              <a:t>단, 테스트 기준 변경과 배포는 사람이 승인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397AB"/>
                </a:solidFill>
              </a:rPr>
              <a:t>AI Agent Loop · 2026.10.21                                     18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4 · 현실과 적용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핵심 메시지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19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63040"/>
            <a:ext cx="10515600" cy="1600200"/>
          </a:xfrm>
          <a:prstGeom prst="roundRect">
            <a:avLst>
              <a:gd name="adj" fmla="val 8000"/>
            </a:avLst>
          </a:prstGeom>
          <a:solidFill>
            <a:srgbClr val="0F2A2A"/>
          </a:solidFill>
          <a:ln w="2540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5F8FD"/>
                </a:solidFill>
              </a:rPr>
              <a:t>Loop는 AI를 여러 번 돌리는 기술이 아니라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31D3B1"/>
                </a:solidFill>
              </a:rPr>
              <a:t>실행 · 검증 · 피드백 · 종료 조건을 설계해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5F8FD"/>
                </a:solidFill>
              </a:rPr>
              <a:t>목표 달성을 관리하는 방식이다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291840"/>
            <a:ext cx="3352800" cy="123444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31D3B1"/>
                </a:solidFill>
              </a:rPr>
              <a:t>① Inner ≠ Outer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FDEEB"/>
                </a:solidFill>
              </a:rPr>
              <a:t>세션 안의 반복과 세션 바깥의 반복은 다르다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0080" y="3291840"/>
            <a:ext cx="3352800" cy="123444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31D3B1"/>
                </a:solidFill>
              </a:rPr>
              <a:t>② 테스트가 끝을 정한다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FDEEB"/>
                </a:solidFill>
              </a:rPr>
              <a:t>AI의 완료 선언이 아니라 독립된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1480" y="3291840"/>
            <a:ext cx="3352800" cy="123444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5875">
            <a:solidFill>
              <a:srgbClr val="2A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31D3B1"/>
                </a:solidFill>
              </a:rPr>
              <a:t>③ 한도와 기록은 필수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FDEEB"/>
                </a:solidFill>
              </a:rPr>
              <a:t>반복 횟수 · 타임아웃 · 권한 · 로그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397AB"/>
                </a:solidFill>
              </a:rPr>
              <a:t>오늘 데모 = Goal Loop의 한 구현 사례 (Software Factory 전체가 아님)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166360"/>
            <a:ext cx="10515600" cy="731520"/>
          </a:xfrm>
          <a:prstGeom prst="roundRect">
            <a:avLst>
              <a:gd name="adj" fmla="val 8000"/>
            </a:avLst>
          </a:prstGeom>
          <a:solidFill>
            <a:srgbClr val="162236"/>
          </a:solidFill>
          <a:ln w="19050">
            <a:solidFill>
              <a:srgbClr val="31D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2000" b="1">
                <a:solidFill>
                  <a:srgbClr val="F5F8FD"/>
                </a:solidFill>
              </a:rPr>
              <a:t>Q&amp;A — 우리 팀의 어떤 작업을 먼저 Loop로 만들어 볼까?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PART 4 · 현실과 적용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82296" cy="585216"/>
          </a:xfrm>
          <a:prstGeom prst="rect">
            <a:avLst/>
          </a:prstGeom>
          <a:solidFill>
            <a:srgbClr val="31D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8FD"/>
                </a:solidFill>
              </a:rPr>
              <a:t>참고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492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97AB"/>
                </a:solidFill>
              </a:rPr>
              <a:t>AI Agent Loop · 2026.10.21                                     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F5F8FD"/>
                </a:solidFill>
              </a:rPr>
              <a:t>swyx — The Highest Loop</a:t>
            </a:r>
            <a:r>
              <a:rPr sz="1400" b="0">
                <a:solidFill>
                  <a:srgbClr val="8397AB"/>
                </a:solidFill>
              </a:rPr>
              <a:t>   AIEWF 2026 오프닝 키노트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31D3B1"/>
                </a:solidFill>
                <a:hlinkClick r:id="rId3"/>
              </a:rPr>
              <a:t>https://github-main-preview.ai.engineer/talks/Fva8hFosqyQ-highest-loop-swyx</a:t>
            </a:r>
          </a:p>
          <a:p>
            <a:r>
              <a:rPr sz="2000" b="1">
                <a:solidFill>
                  <a:srgbClr val="F5F8FD"/>
                </a:solidFill>
              </a:rPr>
              <a:t>Kyle Mistele — Loop Engineering from First Principles</a:t>
            </a:r>
            <a:r>
              <a:rPr sz="1400" b="0">
                <a:solidFill>
                  <a:srgbClr val="8397AB"/>
                </a:solidFill>
              </a:rPr>
              <a:t>   AIEWF 2026 발표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31D3B1"/>
                </a:solidFill>
                <a:hlinkClick r:id="rId4"/>
              </a:rPr>
              <a:t>https://github-main-preview.ai.engineer/talks/xIt_mTQp6mY-loop-engineering-from-first-principles</a:t>
            </a:r>
          </a:p>
          <a:p>
            <a:r>
              <a:rPr sz="2000" b="1">
                <a:solidFill>
                  <a:srgbClr val="F5F8FD"/>
                </a:solidFill>
              </a:rPr>
              <a:t>Addy Osmani — Own the Outer Loop</a:t>
            </a:r>
            <a:r>
              <a:rPr sz="1400" b="0">
                <a:solidFill>
                  <a:srgbClr val="8397AB"/>
                </a:solidFill>
              </a:rPr>
              <a:t>   AIEWF 2026 키노트 (글 버전)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31D3B1"/>
                </a:solidFill>
                <a:hlinkClick r:id="rId13"/>
              </a:rPr>
              <a:t>https://addyosmani.com/blog/own-the-outer-loop/</a:t>
            </a:r>
          </a:p>
          <a:p>
            <a:r>
              <a:rPr sz="2000" b="1">
                <a:solidFill>
                  <a:srgbClr val="F5F8FD"/>
                </a:solidFill>
              </a:rPr>
              <a:t>The Great Loops Debate</a:t>
            </a:r>
            <a:r>
              <a:rPr sz="1400" b="0">
                <a:solidFill>
                  <a:srgbClr val="8397AB"/>
                </a:solidFill>
              </a:rPr>
              <a:t>   Latent Space 현장 기사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31D3B1"/>
                </a:solidFill>
                <a:hlinkClick r:id="rId6"/>
              </a:rPr>
              <a:t>https://www.latent.space/p/aiewf-daily-dispatch-locomotives</a:t>
            </a:r>
          </a:p>
          <a:p>
            <a:r>
              <a:rPr sz="2000" b="1">
                <a:solidFill>
                  <a:srgbClr val="F5F8FD"/>
                </a:solidFill>
              </a:rPr>
              <a:t>데모 저장소</a:t>
            </a:r>
            <a:r>
              <a:rPr sz="1400" b="0">
                <a:solidFill>
                  <a:srgbClr val="8397AB"/>
                </a:solidFill>
              </a:rPr>
              <a:t>   Java + Kiro CLI Outer Loop</a:t>
            </a:r>
          </a:p>
          <a:p>
            <a:pPr>
              <a:spcAft>
                <a:spcPts val="1600"/>
              </a:spcAft>
            </a:pPr>
            <a:r>
              <a:rPr sz="1200">
                <a:solidFill>
                  <a:srgbClr val="31D3B1"/>
                </a:solidFill>
                <a:hlinkClick r:id="rId9"/>
              </a:rPr>
              <a:t>https://github.com/jaewon-i/kiro-agent-loop-demo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1D3B1"/>
                </a:solidFill>
              </a:rPr>
              <a:t>참고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