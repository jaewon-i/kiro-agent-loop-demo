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2" r:id="rId24"/>
    <p:sldId id="273" r:id="rId25"/>
    <p:sldId id="274" r:id="rId26"/>
    <p:sldId id="275" r:id="rId27"/>
    <p:sldId id="276" r:id="rId28"/>
    <p:sldId id="277" r:id="rId29"/>
    <p:sldId id="261" r:id="rId12"/>
    <p:sldId id="278" r:id="rId30"/>
    <p:sldId id="270" r:id="rId22"/>
    <p:sldId id="271" r:id="rId23"/>
    <p:sldId id="267" r:id="rId18"/>
    <p:sldId id="268" r:id="rId20"/>
    <p:sldId id="269" r:id="rId21"/>
    <p:sldId id="279" r:id="rId31"/>
    <p:sldId id="264" r:id="rId15"/>
    <p:sldId id="265" r:id="rId16"/>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8.xml"/><Relationship Id="rId15" Type="http://schemas.openxmlformats.org/officeDocument/2006/relationships/slide" Target="slides/slide16.xml"/><Relationship Id="rId16" Type="http://schemas.openxmlformats.org/officeDocument/2006/relationships/slide" Target="slides/slide17.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8.xml"/><Relationship Id="rId33"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2026-10-20 Mac, kiro-cli 2.32.0 실제 실행 결과 (docs/captures/run-kiro-real.txt). 쉬운 목표는 1회에 끝나는 것이 정상이다. 그래도 완료 판정은 Kiro가 아니라 Controller의 QA Gate가 내렸다는 점을 강조.</a:t>
            </a:r>
          </a:p>
          <a:p/>
          <a:p>
            <a:r>
              <a:t>[실행 순서] 1) python3 verify.py → FAIL 확인  2) python3 loop.py --provider mock --reset (리허설, AI 아님)  3) python3 loop.py --provider kiro --reset  4) ... --inject-fault (데모 모드)  5) .loop/summary.json · iteration-NN.json · diff-NN.patch 확인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--inject-fault는 명시적 데모 모드다. 1회차에 Kiro는 올바르게 고쳤지만 Controller가 일부러 가격 검증을 지웠다. 이 실패는 AI의 실패가 아니라고 반드시 말할 것. 보여줄 핵심: 사람 입력 없이 실패 로그가 새 Kiro 세션에 전달되고 2회차에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판정과 변경은 .loop/에 남는다 (docs/captures/loop-inject-fault/). 가드레일 검증: 에이전트가 테스트 파일을 바꾸는 상황을 시뮬레이션하자 Controller가 복원하고 GUARDRAIL_STOP(exit 3)으로 종료했다. 단, 이 검사는 보안 샌드박스가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Controller는 코드를 고치지 않는다. 일을 맡기고(②), 검수하고(③④), 다시 시킬지 끝낼지 정한다(⑤). 사람이 하던 "테스트 돌려보고 틀렸으면 다시 시키기"를 프로그램으로 만든 것. CI가 PR마다 테스트를 돌리는 것과 같고, 차이는 실패하면 AI를 다시 부른다는 점. Controller는 AI가 아니라 일반 if문이다 — 그래서 믿을 수 있다. 보라색 ②만 AI(Kiro)이고, 그 안에서 Kiro 자체의 Inner Loop(읽기→수정→답변)가 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loop.py는 로그·출력·기록 코드 포함 약 250줄이지만 반복의 뼈대는 이것뿐이다. 중요한 줄은 ④: Kiro가 무엇을 말했든 qa_gate()의 결과만으로 판정한다. 종료 경로는 PASS / GUARDRAIL_STOP / AGENT_ERROR / MAX_ITERATIONS 네 가지이며 모두 Controller가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 계산기: 금액과 할인율을 받아 할인된 가격을 돌려준다. 정상 입력 4개는 이미 맞다. 문제는 잘못된 입력을 거르지 않는 것: -1% 할인이면 1,010원으로 가격이 오르고, 101%면 -10원, 즉 손님에게 돈을 준다. 실제 서비스라면 결제 버그. 이 7개 테스트가 QA Gate이고, Kiro는 테스트를 건드리지 못하고 코드 한 파일만 고칠 수 있다. 정답은 if문 두 줄(잘못된 값이면 IllegalArgumentException)이라 Kiro는 대개 1회에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6월 29일~7월 2일 샌프란시스코 AI Engineer World's Fair. 둘째 날 현장 기사 첫 문장이 "Loops, loops and more loops"였다. swyx 키노트에서 참가자가 7,000명을 넘었다고 발표(목표 6,000). 둘째 날 메인 스테이지 트랙 이름이 Software Factories. 오늘은 이 Loop가 무엇인지, 실제로 Kiro로 하나 만들어 보고, 우리 팀이 어디에 쓸 수 있을지 이야기한다.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행사 직전 Business Insider 기사 제목이 "프롬프트 엔지니어링은 잊어라, 루프 엔지니어링이 대세". 핵심 변화: 반복의 엔진이 사람에서 프로그램으로 바뀐다. 예전엔 결과를 보고 사람이 "다시 해"라고 했다면, 지금은 루프가 결과를 확인하고 다음 프롬프트를 만든다. Steinberger(OpenClaw 제작자, OpenAI)와 Boris Cherny(Claude Code 제작자) 발언이 대표적. 주의: 이 기사는 행사 전 보도다.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swyx 오프닝 키노트 "The Highest Loop". AI 작업 단위가 토큰 → 채팅 → 도구 호출 → 목표 → 자동화(cron) → 소프트웨어 팩토리로 넓어지고, 이를 loop stacking이라 부른다(“while 루프의 스택”). 가로축은 AI에게 한 번에 맡기는 작업 단위, 세로축은 추상화 수준. 핵심은 무조건 높이 쌓는 것이 아니다. "지금 어느 루프에서 일하고 있나?"를 알고, 목적에 맞는 층을 고르는 것이 AI 엔지니어링 역량이다. 생산성·규모가 필요하고 준비됐으면 한 층 위로, 무언가 깨지면 한 층 아래로 내려가 신뢰성을 잡는다. 오늘 데모는 Goal 층: 테스트 통과라는 목표가 달성될 때까지 반복한다. (축 표현은 발표 내용을 시각화하기 위한 해석이며 원본 슬라이드에 있는 그림은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Kyle Mistele "Loop Engineering from First Principles". 루프를 제어 이론으로 설명한다. 목표값(set point)과 센서가 잰 현재 상태의 차이가 오차, 컨트롤러가 오차를 보고 작은 보정을 정하고, 실행기(actuator)가 그 보정을 시스템에 적용한다. 그리고 다시 잰다. 온도조절기, Kubernetes 오토스케일링, IaC reconcile이 같은 구조. 코딩 루프에서는 시스템이 코드베이스다. 그의 핵심 주장: 한 번에 최종 상태로 가려 하지 말고 작게 고치고 다시 측정하라(과하게 꺾는 것 방지). 측정 없는 반복은 눈먼 루프다. 또한 리뷰가 막히면 변경 생산을 멈추라고 했다 — 사람이 읽을 수 있는 작은 변경이 중요. 외부 변화(disturbance): 루프가 고치는 동안에도 다른 사람의 변경 등이 시스템을 계속 흔든다 — 그래서 한 번 고치고 끝이 아니라 계속 다시 측정한다. (그림은 발표 다이어그램을 재구성한 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중요: 평소 쓰는 Kiro나 Claude Code도 이미 루프를 돈다. 한 세션 안에서 모델이 도구를 호출하고 결과를 보고 다시 판단하는 반복이 Inner Loop. 그래서 한 번의 프롬프트로 개발·테스트·수정이 다 끝날 수도 있고, 그게 정상이다. "기존 Kiro는 반복을 못 한다"는 사실이 아니다. 차이는 누가 끝을 정하느냐. Inner Loop는 AI가 스스로 완료라고 판단하면 끝난다. Outer Loop는 세션 바깥의 프로그램이 독립적으로 검증하고, 실패하면 사람 개입 없이 새 세션을 시작한다. 오늘 데모는 Outer Loop. [용어 출처] Inner/Outer Loop는 Fair 발표 용어가 아니라 업계 글에서 쓰는 용어다. Philipp Schmid(2026-02-20): inner loop = 한 작업 안에서 에이전트가 코드 작성→테스트→수정 후 응답, outer loop = 여러 턴·세션에 걸쳐 배운 것을 유지(AGENTS.md, 스킬, 핸드오프 문서). The AI Automators(2026-07): 에이전트 자신의 반복이 inner loop이고, loop engineering은 보통 그 바깥에 두는 outer loop — 언제 다시 시작할지, 진행을 어떻게 평가할지, 어떤 피드백을 줄지, 언제 멈출지를 정한다. 오늘 데모는 두 번째 정의에 가깝다. 실패 로그를 다음 세션에 넘기는 점에서 Schmid의 "세션 간 상태 유지"도 일부 해당한다.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Addy Osmani(Google Cloud)의 말: 코드를 쓴 모델은 자기 숙제를 너무 후하게 채점한다. 그래서 흔한 구성이 "쓰는 쪽"과 "확인하는 쪽"을 나누는 것. AI가 "고쳤습니다"라고 하는 것은 주장이고, 테스트가 통과하는 것은 증거다. 디베이트에서 Ian Livingstone도 "결국 핵심은 검증 가능성"이라고 했다. 오늘 데모의 Controller는 AI의 말을 전혀 보지 않고 테스트 종료 코드만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5장의 제어 루프 그림에 데모를 그대로 대응시킨 표. 목표값은 테스트 7개 PASS, 센서는 verify.py, 컨트롤러는 loop.py, 실행기가 Kiro CLI. 즉 AI는 실행기 한 칸일 뿐이고, 판정은 AI가 아닌 센서와 컨트롤러가 한다. 정확히 말하면 이것은 swyx 계단의 Goal Loop 하나를 외부 Controller로 구현한 사례이지, Software Factory 전체가 아니다. 주의: 이 대응표는 발표자의 해석이다. Mistele 발표가 이 데모를 다룬 것은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날 패널. 사회 Allie Howe. 찬성: Ralph Loop 창시자 Geoffrey Huntley, Keycard CEO Ian Livingstone. 신중론: HumanLayer의 Dex Horthy, Subroutine의 Greg Pstrucha. Horthy도 루프 자체를 반대하지 않았다 — Kubernetes도 제어 루프로 돌지만 결정적 루프다. 문제는 과대광고가 규율을 앞지른 것. 그의 조언: 작게 시작해서 직관을 쌓아라. Pstrucha는 비용 지속성 우려. Huntley조차 소프트웨어 팩토리는 아직 시장에서 풀리지 않은 문제라고 했다. 같은 날 발표된 Amplify 설문: 에이전트 사용 95%(전년 약 2배), 에이전트가 데이터를 쓸 수 있는 팀 89%, AI 생성 코드가 장기 부채라는 우려 59%, AI 비용이 사용을 정기적으로 제한한다 40%. "에이전트 통제 계층은 아직 누구도 정립하지 못했다."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기억하자. 1) 세션 안의 반복(Inner)과 세션 바깥의 반복(Outer)은 다르다. 2) AI의 완료 선언이 아니라 독립된 테스트가 끝을 정한다. 3) 반복 횟수·타임아웃·권한·로그는 필수. 오늘 데모는 Goal Loop 하나를 구현한 사례이고 Software Factory가 아니다. 질문으로 마무리: 우리 팀의 어떤 작업을 먼저 Loop로 만들어 볼까?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후 공유용 링크 모음.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Engineer World's Fair 2026에서 가장 많이 나온 단어 Loop를 소개하고, Kiro CLI와 Python Controller로 만든 Outer Loop 데모를 실제 실행 결과로 보여준다. 약 30분 +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main-preview.ai.engineer/talks/Fva8hFosqyQ-highest-loop-swyx" TargetMode="External"/><Relationship Id="rId4" Type="http://schemas.openxmlformats.org/officeDocument/2006/relationships/hyperlink" Target="https://github-main-preview.ai.engineer/talks/xIt_mTQp6mY-loop-engineering-from-first-principles" TargetMode="External"/><Relationship Id="rId5" Type="http://schemas.openxmlformats.org/officeDocument/2006/relationships/hyperlink" Target="https://www.latent.space/p/aiewf-daily-dispatch-loops" TargetMode="External"/><Relationship Id="rId6" Type="http://schemas.openxmlformats.org/officeDocument/2006/relationships/hyperlink" Target="https://www.latent.space/p/aiewf-daily-dispatch-locomotives" TargetMode="External"/><Relationship Id="rId7" Type="http://schemas.openxmlformats.org/officeDocument/2006/relationships/hyperlink" Target="https://www.businessinsider.com/what-are-loops-ai-engineering-tips-2026-6" TargetMode="External"/><Relationship Id="rId8" Type="http://schemas.openxmlformats.org/officeDocument/2006/relationships/hyperlink" Target="https://kiro.dev/docs/cli/headless/" TargetMode="External"/><Relationship Id="rId9" Type="http://schemas.openxmlformats.org/officeDocument/2006/relationships/hyperlink" Target="https://github.com/jaewon-i/kiro-agent-loop-demo" TargetMode="External"/><Relationship Id="rId10" Type="http://schemas.openxmlformats.org/officeDocument/2006/relationships/hyperlink" Target="https://www.philschmid.de/inner-loop-vs-outer-loop" TargetMode="External"/><Relationship Id="rId11" Type="http://schemas.openxmlformats.org/officeDocument/2006/relationships/hyperlink" Target="https://www.theaiautomators.com/levels-of-loop-engineerin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AI Agent Loop</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700">
                <a:solidFill>
                  <a:srgbClr val="CFDEEB"/>
                </a:solidFill>
              </a:rPr>
              <a:t>World's Fair 2026의 화두 Loop, Kiro CLI로 직접 돌려보기</a:t>
            </a:r>
          </a:p>
          <a:p>
            <a:pPr>
              <a:spcAft>
                <a:spcPts val="1700"/>
              </a:spcAft>
            </a:pPr>
            <a:r>
              <a:rPr sz="2700">
                <a:solidFill>
                  <a:srgbClr val="CFDEEB"/>
                </a:solidFill>
              </a:rPr>
              <a:t>2026.10.21 · 개발자 대상 30분 데모</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World's Fair 2026의 키워드: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02 / 19</a:t>
            </a:r>
          </a:p>
        </p:txBody>
      </p:sp>
      <p:sp>
        <p:nvSpPr>
          <p:cNvPr id="5" name="TextBox 4"/>
          <p:cNvSpPr txBox="1"/>
          <p:nvPr/>
        </p:nvSpPr>
        <p:spPr>
          <a:xfrm>
            <a:off x="868680" y="1463040"/>
            <a:ext cx="10515600" cy="868680"/>
          </a:xfrm>
          <a:prstGeom prst="rect">
            <a:avLst/>
          </a:prstGeom>
          <a:noFill/>
        </p:spPr>
        <p:txBody>
          <a:bodyPr wrap="square">
            <a:spAutoFit/>
          </a:bodyPr>
          <a:lstStyle/>
          <a:p>
            <a:r>
              <a:rPr sz="4000" b="1">
                <a:solidFill>
                  <a:srgbClr val="31D3B1"/>
                </a:solidFill>
              </a:rPr>
              <a:t>“Loops, loops and more loops.”</a:t>
            </a:r>
          </a:p>
        </p:txBody>
      </p:sp>
      <p:sp>
        <p:nvSpPr>
          <p:cNvPr id="6" name="TextBox 5"/>
          <p:cNvSpPr txBox="1"/>
          <p:nvPr/>
        </p:nvSpPr>
        <p:spPr>
          <a:xfrm>
            <a:off x="868680" y="2331720"/>
            <a:ext cx="10515600" cy="411480"/>
          </a:xfrm>
          <a:prstGeom prst="rect">
            <a:avLst/>
          </a:prstGeom>
          <a:noFill/>
        </p:spPr>
        <p:txBody>
          <a:bodyPr wrap="square">
            <a:spAutoFit/>
          </a:bodyPr>
          <a:lstStyle/>
          <a:p>
            <a:r>
              <a:rPr sz="2000" b="0">
                <a:solidFill>
                  <a:srgbClr val="F5F8FD"/>
                </a:solidFill>
              </a:rPr>
              <a:t>행사 둘째 날, 모든 대화를 지배한 단어는 ‘loop’였다</a:t>
            </a:r>
          </a:p>
        </p:txBody>
      </p:sp>
      <p:sp>
        <p:nvSpPr>
          <p:cNvPr id="7" name="TextBox 6"/>
          <p:cNvSpPr txBox="1"/>
          <p:nvPr/>
        </p:nvSpPr>
        <p:spPr>
          <a:xfrm>
            <a:off x="868680" y="2743200"/>
            <a:ext cx="10515600" cy="320040"/>
          </a:xfrm>
          <a:prstGeom prst="rect">
            <a:avLst/>
          </a:prstGeom>
          <a:noFill/>
        </p:spPr>
        <p:txBody>
          <a:bodyPr wrap="square">
            <a:spAutoFit/>
          </a:bodyPr>
          <a:lstStyle/>
          <a:p>
            <a:r>
              <a:rPr sz="1200" b="0">
                <a:solidFill>
                  <a:srgbClr val="8397AB"/>
                </a:solidFill>
              </a:rPr>
              <a:t>— Richard MacManus, Latent Space “AIEWF Daily Dispatch” (2026-07-01)</a:t>
            </a:r>
          </a:p>
        </p:txBody>
      </p:sp>
      <p:sp>
        <p:nvSpPr>
          <p:cNvPr id="8" name="Rounded Rectangle 7"/>
          <p:cNvSpPr/>
          <p:nvPr/>
        </p:nvSpPr>
        <p:spPr>
          <a:xfrm>
            <a:off x="8686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600" b="1">
                <a:solidFill>
                  <a:srgbClr val="31D3B1"/>
                </a:solidFill>
              </a:rPr>
              <a:t>AI Engineer World's Fair 2026</a:t>
            </a:r>
          </a:p>
          <a:p>
            <a:pPr algn="ctr">
              <a:spcAft>
                <a:spcPts val="400"/>
              </a:spcAft>
            </a:pPr>
            <a:r>
              <a:rPr sz="1400" b="0">
                <a:solidFill>
                  <a:srgbClr val="CFDEEB"/>
                </a:solidFill>
              </a:rPr>
              <a:t>2026.6.29 – 7.2 · 샌프란시스코</a:t>
            </a:r>
          </a:p>
        </p:txBody>
      </p:sp>
      <p:sp>
        <p:nvSpPr>
          <p:cNvPr id="9" name="Rounded Rectangle 8"/>
          <p:cNvSpPr/>
          <p:nvPr/>
        </p:nvSpPr>
        <p:spPr>
          <a:xfrm>
            <a:off x="44500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2600" b="1">
                <a:solidFill>
                  <a:srgbClr val="31D3B1"/>
                </a:solidFill>
              </a:rPr>
              <a:t>7,000명+</a:t>
            </a:r>
          </a:p>
          <a:p>
            <a:pPr algn="ctr">
              <a:spcAft>
                <a:spcPts val="400"/>
              </a:spcAft>
            </a:pPr>
            <a:r>
              <a:rPr sz="1400" b="0">
                <a:solidFill>
                  <a:srgbClr val="CFDEEB"/>
                </a:solidFill>
              </a:rPr>
              <a:t>참가자 (swyx 오프닝 키노트 발표)</a:t>
            </a:r>
          </a:p>
        </p:txBody>
      </p:sp>
      <p:sp>
        <p:nvSpPr>
          <p:cNvPr id="10" name="Rounded Rectangle 9"/>
          <p:cNvSpPr/>
          <p:nvPr/>
        </p:nvSpPr>
        <p:spPr>
          <a:xfrm>
            <a:off x="80314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800" b="1">
                <a:solidFill>
                  <a:srgbClr val="31D3B1"/>
                </a:solidFill>
              </a:rPr>
              <a:t>Software Factories</a:t>
            </a:r>
          </a:p>
          <a:p>
            <a:pPr algn="ctr">
              <a:spcAft>
                <a:spcPts val="400"/>
              </a:spcAft>
            </a:pPr>
            <a:r>
              <a:rPr sz="1400" b="0">
                <a:solidFill>
                  <a:srgbClr val="CFDEEB"/>
                </a:solidFill>
              </a:rPr>
              <a:t>둘째 날 메인 스테이지 트랙 주제</a:t>
            </a:r>
          </a:p>
        </p:txBody>
      </p:sp>
      <p:sp>
        <p:nvSpPr>
          <p:cNvPr id="11" name="Rounded Rectangle 10"/>
          <p:cNvSpPr/>
          <p:nvPr/>
        </p:nvSpPr>
        <p:spPr>
          <a:xfrm>
            <a:off x="868680" y="5074920"/>
            <a:ext cx="10515600" cy="6858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900" b="1">
                <a:solidFill>
                  <a:srgbClr val="F5F8FD"/>
                </a:solidFill>
              </a:rPr>
              <a:t>오늘의 질문: Loop는 무엇이고, 우리 팀은 어떻게 써볼 수 있을까?</a:t>
            </a:r>
          </a:p>
        </p:txBody>
      </p:sp>
      <p:sp>
        <p:nvSpPr>
          <p:cNvPr id="12" name="TextBox 11"/>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프롬프트 엔지니어링 → 루프 엔지니어링</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03 / 19</a:t>
            </a:r>
          </a:p>
        </p:txBody>
      </p:sp>
      <p:sp>
        <p:nvSpPr>
          <p:cNvPr id="5" name="Rounded Rectangle 4"/>
          <p:cNvSpPr/>
          <p:nvPr/>
        </p:nvSpPr>
        <p:spPr>
          <a:xfrm>
            <a:off x="868680" y="1463040"/>
            <a:ext cx="512064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8397AB"/>
                </a:solidFill>
              </a:rPr>
              <a:t>이전: 사람이 프롬프트를 쓴다</a:t>
            </a:r>
          </a:p>
          <a:p>
            <a:pPr algn="ctr">
              <a:spcAft>
                <a:spcPts val="800"/>
              </a:spcAft>
            </a:pPr>
            <a:r>
              <a:rPr sz="1600" b="0">
                <a:solidFill>
                  <a:srgbClr val="CFDEEB"/>
                </a:solidFill>
              </a:rPr>
              <a:t>사람 요청 → AI 작성 → 사람 검증 → 사람 재요청</a:t>
            </a:r>
          </a:p>
          <a:p>
            <a:pPr algn="ctr">
              <a:spcAft>
                <a:spcPts val="800"/>
              </a:spcAft>
            </a:pPr>
            <a:r>
              <a:rPr sz="1400" b="0">
                <a:solidFill>
                  <a:srgbClr val="8397AB"/>
                </a:solidFill>
              </a:rPr>
              <a:t>반복을 돌리는 엔진 = 사람</a:t>
            </a:r>
          </a:p>
        </p:txBody>
      </p:sp>
      <p:sp>
        <p:nvSpPr>
          <p:cNvPr id="6" name="Rounded Rectangle 5"/>
          <p:cNvSpPr/>
          <p:nvPr/>
        </p:nvSpPr>
        <p:spPr>
          <a:xfrm>
            <a:off x="6263640" y="1463040"/>
            <a:ext cx="5120640" cy="16002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31D3B1"/>
                </a:solidFill>
              </a:rPr>
              <a:t>지금: 루프가 프롬프트를 쓴다</a:t>
            </a:r>
          </a:p>
          <a:p>
            <a:pPr algn="ctr">
              <a:spcAft>
                <a:spcPts val="800"/>
              </a:spcAft>
            </a:pPr>
            <a:r>
              <a:rPr sz="1600" b="0">
                <a:solidFill>
                  <a:srgbClr val="CFDEEB"/>
                </a:solidFill>
              </a:rPr>
              <a:t>목표 → AI 실행 → 자동 검증 → 실패 피드백 → 새 AI 실행</a:t>
            </a:r>
          </a:p>
          <a:p>
            <a:pPr algn="ctr">
              <a:spcAft>
                <a:spcPts val="800"/>
              </a:spcAft>
            </a:pPr>
            <a:r>
              <a:rPr sz="1400" b="0">
                <a:solidFill>
                  <a:srgbClr val="31D3B1"/>
                </a:solidFill>
              </a:rPr>
              <a:t>반복을 돌리는 엔진 = 프로그램 (Loop)</a:t>
            </a:r>
          </a:p>
        </p:txBody>
      </p:sp>
      <p:sp>
        <p:nvSpPr>
          <p:cNvPr id="7" name="Rounded Rectangle 6"/>
          <p:cNvSpPr/>
          <p:nvPr/>
        </p:nvSpPr>
        <p:spPr>
          <a:xfrm>
            <a:off x="86868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“You should be designing loops that prompt your agents.”</a:t>
            </a:r>
          </a:p>
          <a:p>
            <a:pPr algn="l">
              <a:spcAft>
                <a:spcPts val="600"/>
              </a:spcAft>
            </a:pPr>
            <a:r>
              <a:rPr sz="1400" b="0">
                <a:solidFill>
                  <a:srgbClr val="CFDEEB"/>
                </a:solidFill>
              </a:rPr>
              <a:t>에이전트에게 직접 프롬프트를 쓰지 말고, 에이전트에게 프롬프트를 주는 루프를 설계하라</a:t>
            </a:r>
          </a:p>
          <a:p>
            <a:pPr algn="l">
              <a:spcAft>
                <a:spcPts val="600"/>
              </a:spcAft>
            </a:pPr>
            <a:r>
              <a:rPr sz="1200" b="0">
                <a:solidFill>
                  <a:srgbClr val="8397AB"/>
                </a:solidFill>
              </a:rPr>
              <a:t>— Peter Steinberger (OpenClaw 제작자, OpenAI)</a:t>
            </a:r>
          </a:p>
        </p:txBody>
      </p:sp>
      <p:sp>
        <p:nvSpPr>
          <p:cNvPr id="8" name="Rounded Rectangle 7"/>
          <p:cNvSpPr/>
          <p:nvPr/>
        </p:nvSpPr>
        <p:spPr>
          <a:xfrm>
            <a:off x="626364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“I don't write the prompt anymore. Claude writes the prompt.”</a:t>
            </a:r>
          </a:p>
          <a:p>
            <a:pPr algn="l">
              <a:spcAft>
                <a:spcPts val="600"/>
              </a:spcAft>
            </a:pPr>
            <a:r>
              <a:rPr sz="1400" b="0">
                <a:solidFill>
                  <a:srgbClr val="CFDEEB"/>
                </a:solidFill>
              </a:rPr>
              <a:t>이제 프롬프트를 직접 쓰지 않는다. Claude가 프롬프트를 쓴다</a:t>
            </a:r>
          </a:p>
          <a:p>
            <a:pPr algn="l">
              <a:spcAft>
                <a:spcPts val="600"/>
              </a:spcAft>
            </a:pPr>
            <a:r>
              <a:rPr sz="1200" b="0">
                <a:solidFill>
                  <a:srgbClr val="8397AB"/>
                </a:solidFill>
              </a:rPr>
              <a:t>— Boris Cherny (Claude Code 제작자)</a:t>
            </a:r>
          </a:p>
        </p:txBody>
      </p:sp>
      <p:sp>
        <p:nvSpPr>
          <p:cNvPr id="9" name="TextBox 8"/>
          <p:cNvSpPr txBox="1"/>
          <p:nvPr/>
        </p:nvSpPr>
        <p:spPr>
          <a:xfrm>
            <a:off x="868680" y="6053328"/>
            <a:ext cx="10515600" cy="274320"/>
          </a:xfrm>
          <a:prstGeom prst="rect">
            <a:avLst/>
          </a:prstGeom>
          <a:noFill/>
        </p:spPr>
        <p:txBody>
          <a:bodyPr wrap="square">
            <a:spAutoFit/>
          </a:bodyPr>
          <a:lstStyle/>
          <a:p>
            <a:r>
              <a:rPr sz="1000" b="0">
                <a:solidFill>
                  <a:srgbClr val="8397AB"/>
                </a:solidFill>
              </a:rPr>
              <a:t>출처: Business Insider, “Forget prompt engineering: ‘Loop engineering’ is all the rage now” (2026-06-20, 행사 전 보도)</a:t>
            </a:r>
          </a:p>
        </p:txBody>
      </p:sp>
      <p:sp>
        <p:nvSpPr>
          <p:cNvPr id="10" name="TextBox 9"/>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swyx 키노트: 어느 루프에서 일할 것인가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04 / 19</a:t>
            </a:r>
          </a:p>
        </p:txBody>
      </p:sp>
      <p:sp>
        <p:nvSpPr>
          <p:cNvPr id="17" name="TextBox 16"/>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
        <p:nvSpPr>
          <p:cNvPr id="18" name="TextBox 17"/>
          <p:cNvSpPr txBox="1"/>
          <p:nvPr/>
        </p:nvSpPr>
        <p:spPr>
          <a:xfrm>
            <a:off x="868680" y="1371600"/>
            <a:ext cx="10515600" cy="365760"/>
          </a:xfrm>
          <a:prstGeom prst="rect">
            <a:avLst/>
          </a:prstGeom>
          <a:noFill/>
        </p:spPr>
        <p:txBody>
          <a:bodyPr wrap="square">
            <a:spAutoFit/>
          </a:bodyPr>
          <a:lstStyle/>
          <a:p>
            <a:r>
              <a:rPr sz="1500" b="0">
                <a:solidFill>
                  <a:srgbClr val="8397AB"/>
                </a:solidFill>
              </a:rPr>
              <a:t>“Which loop are you working in?”  지금 나는 어느 루프에서 일하고 있나?</a:t>
            </a:r>
          </a:p>
        </p:txBody>
      </p:sp>
      <p:cxnSp>
        <p:nvCxnSpPr>
          <p:cNvPr id="19" name="Connector 18"/>
          <p:cNvCxnSpPr/>
          <p:nvPr/>
        </p:nvCxnSpPr>
        <p:spPr>
          <a:xfrm flipV="1">
            <a:off x="1325880" y="1874519"/>
            <a:ext cx="0" cy="3337561"/>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 y="5212080"/>
            <a:ext cx="9966960" cy="0"/>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35607" y="1764791"/>
            <a:ext cx="5486400" cy="566928"/>
          </a:xfrm>
          <a:prstGeom prst="rect">
            <a:avLst/>
          </a:prstGeom>
          <a:noFill/>
        </p:spPr>
        <p:txBody>
          <a:bodyPr wrap="square">
            <a:spAutoFit/>
          </a:bodyPr>
          <a:lstStyle/>
          <a:p>
            <a:r>
              <a:rPr sz="1300" b="1">
                <a:solidFill>
                  <a:srgbClr val="31D3B1"/>
                </a:solidFill>
              </a:rPr>
              <a:t>추상화 수준</a:t>
            </a:r>
          </a:p>
          <a:p>
            <a:r>
              <a:rPr sz="1100" b="0">
                <a:solidFill>
                  <a:srgbClr val="8397AB"/>
                </a:solidFill>
              </a:rPr>
              <a:t>↑ 위로 = 규모·생산성 (준비되면 올라간다)</a:t>
            </a:r>
          </a:p>
        </p:txBody>
      </p:sp>
      <p:sp>
        <p:nvSpPr>
          <p:cNvPr id="22" name="TextBox 21"/>
          <p:cNvSpPr txBox="1"/>
          <p:nvPr/>
        </p:nvSpPr>
        <p:spPr>
          <a:xfrm>
            <a:off x="5760720" y="5248656"/>
            <a:ext cx="5532120" cy="274320"/>
          </a:xfrm>
          <a:prstGeom prst="rect">
            <a:avLst/>
          </a:prstGeom>
          <a:noFill/>
        </p:spPr>
        <p:txBody>
          <a:bodyPr wrap="square">
            <a:spAutoFit/>
          </a:bodyPr>
          <a:lstStyle/>
          <a:p>
            <a:pPr algn="r"/>
            <a:r>
              <a:rPr sz="1200" b="1">
                <a:solidFill>
                  <a:srgbClr val="31D3B1"/>
                </a:solidFill>
              </a:rPr>
              <a:t>AI에게 맡기는 작업 단위 →  한 번의 응답 … 개발 전체</a:t>
            </a:r>
          </a:p>
        </p:txBody>
      </p:sp>
      <p:sp>
        <p:nvSpPr>
          <p:cNvPr id="23" name="Rounded Rectangle 22"/>
          <p:cNvSpPr/>
          <p:nvPr/>
        </p:nvSpPr>
        <p:spPr>
          <a:xfrm>
            <a:off x="1554480" y="434340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Token</a:t>
            </a:r>
          </a:p>
          <a:p>
            <a:pPr algn="ctr"/>
            <a:r>
              <a:rPr sz="1100" b="0">
                <a:solidFill>
                  <a:srgbClr val="8397AB"/>
                </a:solidFill>
              </a:rPr>
              <a:t>토큰 생성</a:t>
            </a:r>
          </a:p>
        </p:txBody>
      </p:sp>
      <p:sp>
        <p:nvSpPr>
          <p:cNvPr id="24" name="Rounded Rectangle 23"/>
          <p:cNvSpPr/>
          <p:nvPr/>
        </p:nvSpPr>
        <p:spPr>
          <a:xfrm>
            <a:off x="3180588" y="3904487"/>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Chat</a:t>
            </a:r>
          </a:p>
          <a:p>
            <a:pPr algn="ctr"/>
            <a:r>
              <a:rPr sz="1100" b="0">
                <a:solidFill>
                  <a:srgbClr val="8397AB"/>
                </a:solidFill>
              </a:rPr>
              <a:t>질문 · 응답</a:t>
            </a:r>
          </a:p>
        </p:txBody>
      </p:sp>
      <p:sp>
        <p:nvSpPr>
          <p:cNvPr id="25" name="Rounded Rectangle 24"/>
          <p:cNvSpPr/>
          <p:nvPr/>
        </p:nvSpPr>
        <p:spPr>
          <a:xfrm>
            <a:off x="4806696" y="3465576"/>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Tool call</a:t>
            </a:r>
          </a:p>
          <a:p>
            <a:pPr algn="ctr"/>
            <a:r>
              <a:rPr sz="1100" b="0">
                <a:solidFill>
                  <a:srgbClr val="8397AB"/>
                </a:solidFill>
              </a:rPr>
              <a:t>도구 호출 (에이전트)</a:t>
            </a:r>
          </a:p>
        </p:txBody>
      </p:sp>
      <p:sp>
        <p:nvSpPr>
          <p:cNvPr id="26" name="Rounded Rectangle 25"/>
          <p:cNvSpPr/>
          <p:nvPr/>
        </p:nvSpPr>
        <p:spPr>
          <a:xfrm>
            <a:off x="6432804" y="3026664"/>
            <a:ext cx="1516380" cy="731520"/>
          </a:xfrm>
          <a:prstGeom prst="roundRect">
            <a:avLst>
              <a:gd name="adj" fmla="val 8000"/>
            </a:avLst>
          </a:prstGeom>
          <a:solidFill>
            <a:srgbClr val="0F2A2A"/>
          </a:solidFill>
          <a:ln w="2857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31D3B1"/>
                </a:solidFill>
              </a:rPr>
              <a:t>Goal</a:t>
            </a:r>
          </a:p>
          <a:p>
            <a:pPr algn="ctr"/>
            <a:r>
              <a:rPr sz="1100" b="0">
                <a:solidFill>
                  <a:srgbClr val="CFDEEB"/>
                </a:solidFill>
              </a:rPr>
              <a:t>목표 달성까지 반복</a:t>
            </a:r>
          </a:p>
        </p:txBody>
      </p:sp>
      <p:sp>
        <p:nvSpPr>
          <p:cNvPr id="27" name="Rounded Rectangle 26"/>
          <p:cNvSpPr/>
          <p:nvPr/>
        </p:nvSpPr>
        <p:spPr>
          <a:xfrm>
            <a:off x="8058911" y="2587752"/>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Automation</a:t>
            </a:r>
          </a:p>
          <a:p>
            <a:pPr algn="ctr"/>
            <a:r>
              <a:rPr sz="1100" b="0">
                <a:solidFill>
                  <a:srgbClr val="8397AB"/>
                </a:solidFill>
              </a:rPr>
              <a:t>cron · 이벤트 자동 시작</a:t>
            </a:r>
          </a:p>
        </p:txBody>
      </p:sp>
      <p:sp>
        <p:nvSpPr>
          <p:cNvPr id="28" name="Rounded Rectangle 27"/>
          <p:cNvSpPr/>
          <p:nvPr/>
        </p:nvSpPr>
        <p:spPr>
          <a:xfrm>
            <a:off x="9685019" y="214884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Software Factory</a:t>
            </a:r>
          </a:p>
          <a:p>
            <a:pPr algn="ctr"/>
            <a:r>
              <a:rPr sz="1100" b="0">
                <a:solidFill>
                  <a:srgbClr val="8397AB"/>
                </a:solidFill>
              </a:rPr>
              <a:t>개발 전체를 루프로</a:t>
            </a:r>
          </a:p>
        </p:txBody>
      </p:sp>
      <p:sp>
        <p:nvSpPr>
          <p:cNvPr id="29" name="TextBox 28"/>
          <p:cNvSpPr txBox="1"/>
          <p:nvPr/>
        </p:nvSpPr>
        <p:spPr>
          <a:xfrm>
            <a:off x="6158484" y="3803904"/>
            <a:ext cx="2065020" cy="292608"/>
          </a:xfrm>
          <a:prstGeom prst="rect">
            <a:avLst/>
          </a:prstGeom>
          <a:noFill/>
        </p:spPr>
        <p:txBody>
          <a:bodyPr wrap="square">
            <a:spAutoFit/>
          </a:bodyPr>
          <a:lstStyle/>
          <a:p>
            <a:pPr algn="ctr"/>
            <a:r>
              <a:rPr sz="1300" b="1">
                <a:solidFill>
                  <a:srgbClr val="31D3B1"/>
                </a:solidFill>
              </a:rPr>
              <a:t>↑ 오늘 데모</a:t>
            </a:r>
          </a:p>
        </p:txBody>
      </p:sp>
      <p:sp>
        <p:nvSpPr>
          <p:cNvPr id="30" name="TextBox 29"/>
          <p:cNvSpPr txBox="1"/>
          <p:nvPr/>
        </p:nvSpPr>
        <p:spPr>
          <a:xfrm>
            <a:off x="1435607" y="3703320"/>
            <a:ext cx="2377440" cy="457200"/>
          </a:xfrm>
          <a:prstGeom prst="rect">
            <a:avLst/>
          </a:prstGeom>
          <a:noFill/>
        </p:spPr>
        <p:txBody>
          <a:bodyPr wrap="square">
            <a:spAutoFit/>
          </a:bodyPr>
          <a:lstStyle/>
          <a:p>
            <a:r>
              <a:rPr sz="1100" b="0">
                <a:solidFill>
                  <a:srgbClr val="8397AB"/>
                </a:solidFill>
              </a:rPr>
              <a:t>↓ 아래로 = 신뢰성·통제</a:t>
            </a:r>
          </a:p>
          <a:p>
            <a:r>
              <a:rPr sz="1100" b="0">
                <a:solidFill>
                  <a:srgbClr val="8397AB"/>
                </a:solidFill>
              </a:rPr>
              <a:t>(깨지면 내려간다)</a:t>
            </a:r>
          </a:p>
        </p:txBody>
      </p:sp>
      <p:sp>
        <p:nvSpPr>
          <p:cNvPr id="31" name="Rounded Rectangle 30"/>
          <p:cNvSpPr/>
          <p:nvPr/>
        </p:nvSpPr>
        <p:spPr>
          <a:xfrm>
            <a:off x="868680" y="5577840"/>
            <a:ext cx="10515600" cy="457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F5F8FD"/>
                </a:solidFill>
              </a:rPr>
              <a:t>정답 층은 없다 — 목적에 맞는 층에서 루프를 만들고, 준비되면 올라가고 깨지면 내려온다</a:t>
            </a:r>
          </a:p>
        </p:txBody>
      </p:sp>
      <p:sp>
        <p:nvSpPr>
          <p:cNvPr id="32" name="TextBox 31"/>
          <p:cNvSpPr txBox="1"/>
          <p:nvPr/>
        </p:nvSpPr>
        <p:spPr>
          <a:xfrm>
            <a:off x="868680" y="6080760"/>
            <a:ext cx="10515600" cy="256032"/>
          </a:xfrm>
          <a:prstGeom prst="rect">
            <a:avLst/>
          </a:prstGeom>
          <a:noFill/>
        </p:spPr>
        <p:txBody>
          <a:bodyPr wrap="square">
            <a:spAutoFit/>
          </a:bodyPr>
          <a:lstStyle/>
          <a:p>
            <a:r>
              <a:rPr sz="1000" b="0">
                <a:solidFill>
                  <a:srgbClr val="8397AB"/>
                </a:solidFill>
              </a:rPr>
              <a:t>출처: swyx, “The Highest Loop”, AI Engineer World's Fair 2026 · 단계 구분과 축은 발표 내용을 해석한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Loop의 뼈대: 제어 루프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05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Kyle Mistele “Loop Engineering from First Principles” — 측정하고, 보정하고, 다시 측정한다</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목표값</a:t>
            </a:r>
          </a:p>
          <a:p>
            <a:pPr algn="ctr"/>
            <a:r>
              <a:rPr sz="1200" b="0">
                <a:solidFill>
                  <a:srgbClr val="8397AB"/>
                </a:solidFill>
              </a:rPr>
              <a:t>Set point</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300" b="0">
                <a:solidFill>
                  <a:srgbClr val="CFDEEB"/>
                </a:solidFill>
              </a:rPr>
              <a:t>비교</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31D3B1"/>
                </a:solidFill>
              </a:rPr>
              <a:t>컨트롤러</a:t>
            </a:r>
          </a:p>
          <a:p>
            <a:pPr algn="ctr"/>
            <a:r>
              <a:rPr sz="1200" b="0">
                <a:solidFill>
                  <a:srgbClr val="8397AB"/>
                </a:solidFill>
              </a:rPr>
              <a:t>Controller</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7C5CFF"/>
                </a:solidFill>
              </a:rPr>
              <a:t>실행기</a:t>
            </a:r>
          </a:p>
          <a:p>
            <a:pPr algn="ctr"/>
            <a:r>
              <a:rPr sz="1200" b="0">
                <a:solidFill>
                  <a:srgbClr val="8397AB"/>
                </a:solidFill>
              </a:rPr>
              <a:t>Actuator</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시스템</a:t>
            </a:r>
          </a:p>
          <a:p>
            <a:pPr algn="ctr"/>
            <a:r>
              <a:rPr sz="1200" b="0">
                <a:solidFill>
                  <a:srgbClr val="8397AB"/>
                </a:solidFill>
              </a:rPr>
              <a:t>코드베이스</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오차</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보정</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변경</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Sensor</a:t>
            </a:r>
          </a:p>
          <a:p>
            <a:pPr algn="ctr"/>
            <a:r>
              <a:rPr sz="1200" b="0">
                <a:solidFill>
                  <a:srgbClr val="8397AB"/>
                </a:solidFill>
              </a:rPr>
              <a:t>현재 상태를 측정</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r>
              <a:rPr sz="1100" b="0">
                <a:solidFill>
                  <a:srgbClr val="8397AB"/>
                </a:solidFill>
              </a:rPr>
              <a:t>측정값</a:t>
            </a:r>
          </a:p>
        </p:txBody>
      </p:sp>
      <p:sp>
        <p:nvSpPr>
          <p:cNvPr id="24" name="Rounded Rectangle 23"/>
          <p:cNvSpPr/>
          <p:nvPr/>
        </p:nvSpPr>
        <p:spPr>
          <a:xfrm>
            <a:off x="8686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온도조절기</a:t>
            </a:r>
          </a:p>
          <a:p>
            <a:pPr algn="ctr">
              <a:spcAft>
                <a:spcPts val="400"/>
              </a:spcAft>
            </a:pPr>
            <a:r>
              <a:rPr sz="1300" b="0">
                <a:solidFill>
                  <a:srgbClr val="CFDEEB"/>
                </a:solidFill>
              </a:rPr>
              <a:t>24°C 설정 → 온도 측정 → 차이만큼 냉방 → 다시 측정</a:t>
            </a:r>
          </a:p>
        </p:txBody>
      </p:sp>
      <p:sp>
        <p:nvSpPr>
          <p:cNvPr id="25" name="Rounded Rectangle 24"/>
          <p:cNvSpPr/>
          <p:nvPr/>
        </p:nvSpPr>
        <p:spPr>
          <a:xfrm>
            <a:off x="44500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코딩 Loop</a:t>
            </a:r>
          </a:p>
          <a:p>
            <a:pPr algn="ctr">
              <a:spcAft>
                <a:spcPts val="400"/>
              </a:spcAft>
            </a:pPr>
            <a:r>
              <a:rPr sz="1300" b="0">
                <a:solidFill>
                  <a:srgbClr val="CFDEEB"/>
                </a:solidFill>
              </a:rPr>
              <a:t>원하는 상태(테스트 통과) → 측정 → 작은 수정 → 다시 측정</a:t>
            </a:r>
          </a:p>
        </p:txBody>
      </p:sp>
      <p:sp>
        <p:nvSpPr>
          <p:cNvPr id="26" name="Rounded Rectangle 25"/>
          <p:cNvSpPr/>
          <p:nvPr/>
        </p:nvSpPr>
        <p:spPr>
          <a:xfrm>
            <a:off x="80314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핵심: 작게 고치고 다시 잰다</a:t>
            </a:r>
          </a:p>
          <a:p>
            <a:pPr algn="ctr">
              <a:spcAft>
                <a:spcPts val="400"/>
              </a:spcAft>
            </a:pPr>
            <a:r>
              <a:rPr sz="1300" b="0">
                <a:solidFill>
                  <a:srgbClr val="CFDEEB"/>
                </a:solidFill>
              </a:rPr>
              <a:t>한 번에 끝내려 하면 과하게 꺾는다. 측정 없는 반복은 ‘눈먼 루프’</a:t>
            </a:r>
          </a:p>
        </p:txBody>
      </p:sp>
      <p:sp>
        <p:nvSpPr>
          <p:cNvPr id="27" name="TextBox 26"/>
          <p:cNvSpPr txBox="1"/>
          <p:nvPr/>
        </p:nvSpPr>
        <p:spPr>
          <a:xfrm>
            <a:off x="868680" y="6053328"/>
            <a:ext cx="10515600" cy="274320"/>
          </a:xfrm>
          <a:prstGeom prst="rect">
            <a:avLst/>
          </a:prstGeom>
          <a:noFill/>
        </p:spPr>
        <p:txBody>
          <a:bodyPr wrap="square">
            <a:spAutoFit/>
          </a:bodyPr>
          <a:lstStyle/>
          <a:p>
            <a:r>
              <a:rPr sz="1000" b="0">
                <a:solidFill>
                  <a:srgbClr val="8397AB"/>
                </a:solidFill>
              </a:rPr>
              <a:t>출처: Kyle Mistele, “Loop Engineering from First Principles”, AI Engineer World's Fair 2026 · 발표의 제어 루프 다이어그램을 한국어로 재구성</a:t>
            </a:r>
          </a:p>
        </p:txBody>
      </p:sp>
      <p:sp>
        <p:nvSpPr>
          <p:cNvPr id="28" name="TextBox 2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29" name="TextBox 28"/>
          <p:cNvSpPr txBox="1"/>
          <p:nvPr/>
        </p:nvSpPr>
        <p:spPr>
          <a:xfrm>
            <a:off x="9098280" y="1764792"/>
            <a:ext cx="2651760" cy="274320"/>
          </a:xfrm>
          <a:prstGeom prst="rect">
            <a:avLst/>
          </a:prstGeom>
          <a:noFill/>
        </p:spPr>
        <p:txBody>
          <a:bodyPr wrap="square">
            <a:spAutoFit/>
          </a:bodyPr>
          <a:lstStyle/>
          <a:p>
            <a:pPr algn="ctr"/>
            <a:r>
              <a:rPr sz="1100" b="1">
                <a:solidFill>
                  <a:srgbClr val="FACC15"/>
                </a:solidFill>
              </a:rPr>
              <a:t>외부 변화  Disturbance</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Inner Loop vs Outer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06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평소 Kiro · Claude Code도 이미 루프를 돈다 — 차이는 ‘누가, 무엇을 기준으로 끝내는가’</a:t>
            </a:r>
          </a:p>
        </p:txBody>
      </p:sp>
      <p:sp>
        <p:nvSpPr>
          <p:cNvPr id="6" name="Rounded Rectangle 5"/>
          <p:cNvSpPr/>
          <p:nvPr/>
        </p:nvSpPr>
        <p:spPr>
          <a:xfrm>
            <a:off x="868680" y="1874519"/>
            <a:ext cx="6126480" cy="3886200"/>
          </a:xfrm>
          <a:prstGeom prst="roundRect">
            <a:avLst>
              <a:gd name="adj" fmla="val 4000"/>
            </a:avLst>
          </a:prstGeom>
          <a:noFill/>
          <a:ln w="22225">
            <a:solidFill>
              <a:srgbClr val="31D3B1"/>
            </a:solidFill>
            <a:prstDash val="dash"/>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1005840" y="1938528"/>
            <a:ext cx="5852160" cy="320040"/>
          </a:xfrm>
          <a:prstGeom prst="rect">
            <a:avLst/>
          </a:prstGeom>
          <a:noFill/>
        </p:spPr>
        <p:txBody>
          <a:bodyPr wrap="square">
            <a:spAutoFit/>
          </a:bodyPr>
          <a:lstStyle/>
          <a:p>
            <a:r>
              <a:rPr sz="1300" b="1">
                <a:solidFill>
                  <a:srgbClr val="31D3B1"/>
                </a:solidFill>
              </a:rPr>
              <a:t>Outer Loop — 바깥 프로그램(Controller)이 세션 전체를 반복</a:t>
            </a:r>
          </a:p>
        </p:txBody>
      </p:sp>
      <p:sp>
        <p:nvSpPr>
          <p:cNvPr id="8" name="Rounded Rectangle 7"/>
          <p:cNvSpPr/>
          <p:nvPr/>
        </p:nvSpPr>
        <p:spPr>
          <a:xfrm>
            <a:off x="1143000" y="2468880"/>
            <a:ext cx="3200400" cy="1874519"/>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7C5CFF"/>
                </a:solidFill>
              </a:rPr>
              <a:t>Kiro 세션 = Inner Loop</a:t>
            </a:r>
          </a:p>
          <a:p>
            <a:pPr algn="ctr">
              <a:spcAft>
                <a:spcPts val="400"/>
              </a:spcAft>
            </a:pPr>
            <a:r>
              <a:rPr sz="1400" b="0">
                <a:solidFill>
                  <a:srgbClr val="CFDEEB"/>
                </a:solidFill>
              </a:rPr>
              <a:t>모델 → 도구 호출 → 결과 확인</a:t>
            </a:r>
          </a:p>
          <a:p>
            <a:pPr algn="ctr">
              <a:spcAft>
                <a:spcPts val="400"/>
              </a:spcAft>
            </a:pPr>
            <a:r>
              <a:rPr sz="1400" b="0">
                <a:solidFill>
                  <a:srgbClr val="CFDEEB"/>
                </a:solidFill>
              </a:rPr>
              <a:t>→ 모델 → … → “완료”</a:t>
            </a:r>
          </a:p>
        </p:txBody>
      </p:sp>
      <p:sp>
        <p:nvSpPr>
          <p:cNvPr id="9" name="Rounded Rectangle 8"/>
          <p:cNvSpPr/>
          <p:nvPr/>
        </p:nvSpPr>
        <p:spPr>
          <a:xfrm>
            <a:off x="4892040" y="2468880"/>
            <a:ext cx="1783080" cy="1874519"/>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500" b="1">
                <a:solidFill>
                  <a:srgbClr val="F5F8FD"/>
                </a:solidFill>
              </a:rPr>
              <a:t>독립 검증</a:t>
            </a:r>
          </a:p>
          <a:p>
            <a:pPr algn="ctr">
              <a:spcAft>
                <a:spcPts val="200"/>
              </a:spcAft>
            </a:pPr>
            <a:r>
              <a:rPr sz="1200" b="0">
                <a:solidFill>
                  <a:srgbClr val="8397AB"/>
                </a:solidFill>
              </a:rPr>
              <a:t>테스트 실행</a:t>
            </a:r>
          </a:p>
          <a:p>
            <a:pPr algn="ctr">
              <a:spcAft>
                <a:spcPts val="200"/>
              </a:spcAft>
            </a:pPr>
            <a:r>
              <a:rPr sz="1300" b="1">
                <a:solidFill>
                  <a:srgbClr val="4ADE80"/>
                </a:solidFill>
              </a:rPr>
              <a:t>PASS → 종료</a:t>
            </a:r>
          </a:p>
          <a:p>
            <a:pPr algn="ctr">
              <a:spcAft>
                <a:spcPts val="200"/>
              </a:spcAft>
            </a:pPr>
            <a:r>
              <a:rPr sz="1300" b="1">
                <a:solidFill>
                  <a:srgbClr val="FF6B6B"/>
                </a:solidFill>
              </a:rPr>
              <a:t>FAIL ↓</a:t>
            </a:r>
          </a:p>
        </p:txBody>
      </p:sp>
      <p:cxnSp>
        <p:nvCxnSpPr>
          <p:cNvPr id="10" name="Connector 9"/>
          <p:cNvCxnSpPr/>
          <p:nvPr/>
        </p:nvCxnSpPr>
        <p:spPr>
          <a:xfrm>
            <a:off x="4343400" y="3401568"/>
            <a:ext cx="54864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83579" y="4343400"/>
            <a:ext cx="0" cy="54864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43200" y="4892040"/>
            <a:ext cx="3040379"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743200" y="4343400"/>
            <a:ext cx="0" cy="54864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4937759"/>
            <a:ext cx="4114800" cy="320040"/>
          </a:xfrm>
          <a:prstGeom prst="rect">
            <a:avLst/>
          </a:prstGeom>
          <a:noFill/>
        </p:spPr>
        <p:txBody>
          <a:bodyPr wrap="square">
            <a:spAutoFit/>
          </a:bodyPr>
          <a:lstStyle/>
          <a:p>
            <a:r>
              <a:rPr sz="1200" b="1">
                <a:solidFill>
                  <a:srgbClr val="FF6B6B"/>
                </a:solidFill>
              </a:rPr>
              <a:t>실패 로그를 들고 새 세션 시작 (사람 입력 없음)</a:t>
            </a:r>
          </a:p>
        </p:txBody>
      </p:sp>
      <p:sp>
        <p:nvSpPr>
          <p:cNvPr id="15" name="Rounded Rectangle 14"/>
          <p:cNvSpPr/>
          <p:nvPr/>
        </p:nvSpPr>
        <p:spPr>
          <a:xfrm>
            <a:off x="7269480" y="1874519"/>
            <a:ext cx="4114800" cy="182880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7C5CFF"/>
                </a:solidFill>
              </a:rPr>
              <a:t>Inner Loop</a:t>
            </a:r>
          </a:p>
          <a:p>
            <a:pPr algn="l">
              <a:spcAft>
                <a:spcPts val="400"/>
              </a:spcAft>
            </a:pPr>
            <a:r>
              <a:rPr sz="1400" b="0">
                <a:solidFill>
                  <a:srgbClr val="CFDEEB"/>
                </a:solidFill>
              </a:rPr>
              <a:t>반복 단위: 모델 ↔ 도구 호출</a:t>
            </a:r>
          </a:p>
          <a:p>
            <a:pPr algn="l">
              <a:spcAft>
                <a:spcPts val="400"/>
              </a:spcAft>
            </a:pPr>
            <a:r>
              <a:rPr sz="1400" b="0">
                <a:solidFill>
                  <a:srgbClr val="CFDEEB"/>
                </a:solidFill>
              </a:rPr>
              <a:t>끝내는 주체: AI 자신</a:t>
            </a:r>
          </a:p>
          <a:p>
            <a:pPr algn="l">
              <a:spcAft>
                <a:spcPts val="400"/>
              </a:spcAft>
            </a:pPr>
            <a:r>
              <a:rPr sz="1400" b="0">
                <a:solidFill>
                  <a:srgbClr val="CFDEEB"/>
                </a:solidFill>
              </a:rPr>
              <a:t>종료 기준: AI가 “다 됐다”고 판단</a:t>
            </a:r>
          </a:p>
        </p:txBody>
      </p:sp>
      <p:sp>
        <p:nvSpPr>
          <p:cNvPr id="16" name="Rounded Rectangle 15"/>
          <p:cNvSpPr/>
          <p:nvPr/>
        </p:nvSpPr>
        <p:spPr>
          <a:xfrm>
            <a:off x="7269480" y="3931920"/>
            <a:ext cx="4114800" cy="18288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31D3B1"/>
                </a:solidFill>
              </a:rPr>
              <a:t>Outer Loop</a:t>
            </a:r>
          </a:p>
          <a:p>
            <a:pPr algn="l">
              <a:spcAft>
                <a:spcPts val="400"/>
              </a:spcAft>
            </a:pPr>
            <a:r>
              <a:rPr sz="1400" b="0">
                <a:solidFill>
                  <a:srgbClr val="CFDEEB"/>
                </a:solidFill>
              </a:rPr>
              <a:t>반복 단위: AI 세션 전체</a:t>
            </a:r>
          </a:p>
          <a:p>
            <a:pPr algn="l">
              <a:spcAft>
                <a:spcPts val="400"/>
              </a:spcAft>
            </a:pPr>
            <a:r>
              <a:rPr sz="1400" b="0">
                <a:solidFill>
                  <a:srgbClr val="CFDEEB"/>
                </a:solidFill>
              </a:rPr>
              <a:t>끝내는 주체: 외부 Controller</a:t>
            </a:r>
          </a:p>
          <a:p>
            <a:pPr algn="l">
              <a:spcAft>
                <a:spcPts val="400"/>
              </a:spcAft>
            </a:pPr>
            <a:r>
              <a:rPr sz="1400" b="0">
                <a:solidFill>
                  <a:srgbClr val="CFDEEB"/>
                </a:solidFill>
              </a:rPr>
              <a:t>종료 기준: 테스트 PASS · 횟수/시간 한도</a:t>
            </a:r>
          </a:p>
        </p:txBody>
      </p:sp>
      <p:sp>
        <p:nvSpPr>
          <p:cNvPr id="17" name="TextBox 16"/>
          <p:cNvSpPr txBox="1"/>
          <p:nvPr/>
        </p:nvSpPr>
        <p:spPr>
          <a:xfrm>
            <a:off x="868680" y="5779008"/>
            <a:ext cx="10515600" cy="320040"/>
          </a:xfrm>
          <a:prstGeom prst="rect">
            <a:avLst/>
          </a:prstGeom>
          <a:noFill/>
        </p:spPr>
        <p:txBody>
          <a:bodyPr wrap="square">
            <a:spAutoFit/>
          </a:bodyPr>
          <a:lstStyle/>
          <a:p>
            <a:r>
              <a:rPr sz="1300" b="0">
                <a:solidFill>
                  <a:srgbClr val="8397AB"/>
                </a:solidFill>
              </a:rPr>
              <a:t>한 프롬프트로 끝날 수도 있다(정상). 오늘 보여줄 것은 그 바깥, Outer Loop</a:t>
            </a:r>
          </a:p>
        </p:txBody>
      </p:sp>
      <p:sp>
        <p:nvSpPr>
          <p:cNvPr id="18" name="TextBox 1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19" name="TextBox 18"/>
          <p:cNvSpPr txBox="1"/>
          <p:nvPr/>
        </p:nvSpPr>
        <p:spPr>
          <a:xfrm>
            <a:off x="868680" y="6080760"/>
            <a:ext cx="10515600" cy="256032"/>
          </a:xfrm>
          <a:prstGeom prst="rect">
            <a:avLst/>
          </a:prstGeom>
          <a:noFill/>
        </p:spPr>
        <p:txBody>
          <a:bodyPr wrap="none">
            <a:spAutoFit/>
          </a:bodyPr>
          <a:lstStyle/>
          <a:p>
            <a:r>
              <a:rPr sz="1000">
                <a:solidFill>
                  <a:srgbClr val="8397AB"/>
                </a:solidFill>
              </a:rPr>
              <a:t>용어 출처: Philipp Schmid “Agents: Inner Loop vs Outer Loop” (2026-02-20) · The AI Automators “The 4 Levels of Loop Engineering” (2026-07) — Outer Loop의 정의는 출처마다 조금씩 다름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왜 독립된 검증이 필요한가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07 / 19</a:t>
            </a:r>
          </a:p>
        </p:txBody>
      </p:sp>
      <p:sp>
        <p:nvSpPr>
          <p:cNvPr id="5" name="Rounded Rectangle 4"/>
          <p:cNvSpPr/>
          <p:nvPr/>
        </p:nvSpPr>
        <p:spPr>
          <a:xfrm>
            <a:off x="868680" y="1463040"/>
            <a:ext cx="1051560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spcAft>
                <a:spcPts val="400"/>
              </a:spcAft>
            </a:pPr>
            <a:r>
              <a:rPr sz="2100" b="1">
                <a:solidFill>
                  <a:srgbClr val="F5F8FD"/>
                </a:solidFill>
              </a:rPr>
              <a:t>“The model that wrote the code is way too nice grading its own homework.”</a:t>
            </a:r>
          </a:p>
          <a:p>
            <a:pPr algn="l">
              <a:spcAft>
                <a:spcPts val="400"/>
              </a:spcAft>
            </a:pPr>
            <a:r>
              <a:rPr sz="1800" b="1">
                <a:solidFill>
                  <a:srgbClr val="31D3B1"/>
                </a:solidFill>
              </a:rPr>
              <a:t>코드를 쓴 모델은 자기 숙제를 너무 후하게 채점한다</a:t>
            </a:r>
          </a:p>
          <a:p>
            <a:pPr algn="l">
              <a:spcAft>
                <a:spcPts val="400"/>
              </a:spcAft>
            </a:pPr>
            <a:r>
              <a:rPr sz="1200" b="0">
                <a:solidFill>
                  <a:srgbClr val="8397AB"/>
                </a:solidFill>
              </a:rPr>
              <a:t>— Addy Osmani (Google Cloud), Business Insider 기사 인용</a:t>
            </a:r>
          </a:p>
        </p:txBody>
      </p:sp>
      <p:sp>
        <p:nvSpPr>
          <p:cNvPr id="6" name="Rounded Rectangle 5"/>
          <p:cNvSpPr/>
          <p:nvPr/>
        </p:nvSpPr>
        <p:spPr>
          <a:xfrm>
            <a:off x="868680" y="3337560"/>
            <a:ext cx="4572000" cy="1234440"/>
          </a:xfrm>
          <a:prstGeom prst="roundRect">
            <a:avLst>
              <a:gd name="adj" fmla="val 8000"/>
            </a:avLst>
          </a:prstGeom>
          <a:solidFill>
            <a:srgbClr val="162236"/>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AI의 완료 선언</a:t>
            </a:r>
          </a:p>
          <a:p>
            <a:pPr algn="ctr">
              <a:spcAft>
                <a:spcPts val="200"/>
              </a:spcAft>
            </a:pPr>
            <a:r>
              <a:rPr sz="2000" b="1">
                <a:solidFill>
                  <a:srgbClr val="F5F8FD"/>
                </a:solidFill>
              </a:rPr>
              <a:t>“고쳤습니다”</a:t>
            </a:r>
          </a:p>
          <a:p>
            <a:pPr algn="ctr">
              <a:spcAft>
                <a:spcPts val="200"/>
              </a:spcAft>
            </a:pPr>
            <a:r>
              <a:rPr sz="1400" b="1">
                <a:solidFill>
                  <a:srgbClr val="FF6B6B"/>
                </a:solidFill>
              </a:rPr>
              <a:t>= 주장 (claim)</a:t>
            </a:r>
          </a:p>
        </p:txBody>
      </p:sp>
      <p:sp>
        <p:nvSpPr>
          <p:cNvPr id="7" name="TextBox 6"/>
          <p:cNvSpPr txBox="1"/>
          <p:nvPr/>
        </p:nvSpPr>
        <p:spPr>
          <a:xfrm>
            <a:off x="5440680" y="3337560"/>
            <a:ext cx="1371600" cy="1234440"/>
          </a:xfrm>
          <a:prstGeom prst="rect">
            <a:avLst/>
          </a:prstGeom>
          <a:noFill/>
        </p:spPr>
        <p:txBody>
          <a:bodyPr wrap="square" anchor="ctr">
            <a:spAutoFit/>
          </a:bodyPr>
          <a:lstStyle/>
          <a:p>
            <a:pPr algn="ctr"/>
            <a:r>
              <a:rPr sz="4000" b="1">
                <a:solidFill>
                  <a:srgbClr val="8397AB"/>
                </a:solidFill>
              </a:rPr>
              <a:t>≠</a:t>
            </a:r>
          </a:p>
        </p:txBody>
      </p:sp>
      <p:sp>
        <p:nvSpPr>
          <p:cNvPr id="8" name="Rounded Rectangle 7"/>
          <p:cNvSpPr/>
          <p:nvPr/>
        </p:nvSpPr>
        <p:spPr>
          <a:xfrm>
            <a:off x="6812279" y="3337560"/>
            <a:ext cx="4572000" cy="123444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시스템의 완료 승인</a:t>
            </a:r>
          </a:p>
          <a:p>
            <a:pPr algn="ctr">
              <a:spcAft>
                <a:spcPts val="200"/>
              </a:spcAft>
            </a:pPr>
            <a:r>
              <a:rPr sz="2000" b="1">
                <a:solidFill>
                  <a:srgbClr val="F5F8FD"/>
                </a:solidFill>
              </a:rPr>
              <a:t>테스트 PASS</a:t>
            </a:r>
          </a:p>
          <a:p>
            <a:pPr algn="ctr">
              <a:spcAft>
                <a:spcPts val="200"/>
              </a:spcAft>
            </a:pPr>
            <a:r>
              <a:rPr sz="1400" b="1">
                <a:solidFill>
                  <a:srgbClr val="4ADE80"/>
                </a:solidFill>
              </a:rPr>
              <a:t>= 증거 (evidence)</a:t>
            </a:r>
          </a:p>
        </p:txBody>
      </p:sp>
      <p:sp>
        <p:nvSpPr>
          <p:cNvPr id="9" name="TextBox 8"/>
          <p:cNvSpPr txBox="1"/>
          <p:nvPr/>
        </p:nvSpPr>
        <p:spPr>
          <a:xfrm>
            <a:off x="868680" y="4800600"/>
            <a:ext cx="5166360" cy="1005840"/>
          </a:xfrm>
          <a:prstGeom prst="rect">
            <a:avLst/>
          </a:prstGeom>
          <a:noFill/>
        </p:spPr>
        <p:txBody>
          <a:bodyPr wrap="square">
            <a:spAutoFit/>
          </a:bodyPr>
          <a:lstStyle/>
          <a:p>
            <a:pPr>
              <a:spcAft>
                <a:spcPts val="600"/>
              </a:spcAft>
            </a:pPr>
            <a:r>
              <a:rPr sz="1500" b="0">
                <a:solidFill>
                  <a:srgbClr val="CFDEEB"/>
                </a:solidFill>
              </a:rPr>
              <a:t>• AI 세션이 끝나도 판정은 Controller가 한다</a:t>
            </a:r>
          </a:p>
          <a:p>
            <a:pPr>
              <a:spcAft>
                <a:spcPts val="600"/>
              </a:spcAft>
            </a:pPr>
            <a:r>
              <a:rPr sz="1500" b="0">
                <a:solidFill>
                  <a:srgbClr val="CFDEEB"/>
                </a:solidFill>
              </a:rPr>
              <a:t>• AI가 “성공”이라 해도 테스트가 실패하면 다시 돈다</a:t>
            </a:r>
          </a:p>
        </p:txBody>
      </p:sp>
      <p:sp>
        <p:nvSpPr>
          <p:cNvPr id="10" name="TextBox 9"/>
          <p:cNvSpPr txBox="1"/>
          <p:nvPr/>
        </p:nvSpPr>
        <p:spPr>
          <a:xfrm>
            <a:off x="6217920" y="4800600"/>
            <a:ext cx="5166360" cy="1005840"/>
          </a:xfrm>
          <a:prstGeom prst="rect">
            <a:avLst/>
          </a:prstGeom>
          <a:noFill/>
        </p:spPr>
        <p:txBody>
          <a:bodyPr wrap="square">
            <a:spAutoFit/>
          </a:bodyPr>
          <a:lstStyle/>
          <a:p>
            <a:pPr>
              <a:spcAft>
                <a:spcPts val="600"/>
              </a:spcAft>
            </a:pPr>
            <a:r>
              <a:rPr sz="1500" b="0">
                <a:solidFill>
                  <a:srgbClr val="CFDEEB"/>
                </a:solidFill>
              </a:rPr>
              <a:t>• 실패 로그를 다음 새 세션에 전달한다</a:t>
            </a:r>
          </a:p>
          <a:p>
            <a:pPr>
              <a:spcAft>
                <a:spcPts val="600"/>
              </a:spcAft>
            </a:pPr>
            <a:r>
              <a:rPr sz="1500" b="0">
                <a:solidFill>
                  <a:srgbClr val="CFDEEB"/>
                </a:solidFill>
              </a:rPr>
              <a:t>• 최대 횟수에 도달하면 실패로 끝낸다</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데모 시나리오: 할인 계산기 버그 고치기</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08 / 19</a:t>
            </a:r>
          </a:p>
        </p:txBody>
      </p:sp>
      <p:sp>
        <p:nvSpPr>
          <p:cNvPr id="6" name="TextBox 5"/>
          <p:cNvSpPr txBox="1"/>
          <p:nvPr/>
        </p:nvSpPr>
        <p:spPr>
          <a:xfrm>
            <a:off x="868680" y="1554480"/>
            <a:ext cx="4206240" cy="320040"/>
          </a:xfrm>
          <a:prstGeom prst="rect">
            <a:avLst/>
          </a:prstGeom>
          <a:noFill/>
        </p:spPr>
        <p:txBody>
          <a:bodyPr wrap="square">
            <a:spAutoFit/>
          </a:bodyPr>
          <a:lstStyle/>
          <a:p>
            <a:r>
              <a:rPr sz="1400" b="1">
                <a:solidFill>
                  <a:srgbClr val="8397AB"/>
                </a:solidFill>
              </a:rPr>
              <a:t>현재 코드 — 입력 검사가 없다</a:t>
            </a:r>
          </a:p>
        </p:txBody>
      </p:sp>
      <p:sp>
        <p:nvSpPr>
          <p:cNvPr id="7" name="Rounded Rectangle 6"/>
          <p:cNvSpPr/>
          <p:nvPr/>
        </p:nvSpPr>
        <p:spPr>
          <a:xfrm>
            <a:off x="868680" y="1920240"/>
            <a:ext cx="4206240" cy="1554480"/>
          </a:xfrm>
          <a:prstGeom prst="roundRect">
            <a:avLst>
              <a:gd name="adj" fmla="val 5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3931920" cy="1371600"/>
          </a:xfrm>
          <a:prstGeom prst="rect">
            <a:avLst/>
          </a:prstGeom>
          <a:noFill/>
        </p:spPr>
        <p:txBody>
          <a:bodyPr wrap="square">
            <a:spAutoFit/>
          </a:bodyPr>
          <a:lstStyle/>
          <a:p>
            <a:r>
              <a:rPr sz="1300" b="0">
                <a:solidFill>
                  <a:srgbClr val="CFDEEB"/>
                </a:solidFill>
                <a:latin typeface="Menlo"/>
                <a:ea typeface="Apple SD Gothic Neo"/>
              </a:rPr>
              <a:t>int discount(int price, int rate) {</a:t>
            </a:r>
          </a:p>
          <a:p>
            <a:r>
              <a:rPr sz="1300" b="0">
                <a:solidFill>
                  <a:srgbClr val="CFDEEB"/>
                </a:solidFill>
                <a:latin typeface="Menlo"/>
                <a:ea typeface="Apple SD Gothic Neo"/>
              </a:rPr>
              <a:t/>
            </a:r>
          </a:p>
          <a:p>
            <a:r>
              <a:rPr sz="1300" b="0">
                <a:solidFill>
                  <a:srgbClr val="FF6B6B"/>
                </a:solidFill>
                <a:latin typeface="Menlo"/>
                <a:ea typeface="Apple SD Gothic Neo"/>
              </a:rPr>
              <a:t>  // 검사 없음: 음수·100% 초과도 계산</a:t>
            </a:r>
          </a:p>
          <a:p>
            <a:r>
              <a:rPr sz="1300" b="0">
                <a:solidFill>
                  <a:srgbClr val="CFDEEB"/>
                </a:solidFill>
                <a:latin typeface="Menlo"/>
                <a:ea typeface="Apple SD Gothic Neo"/>
              </a:rPr>
              <a:t/>
            </a:r>
          </a:p>
          <a:p>
            <a:r>
              <a:rPr sz="1300" b="0">
                <a:solidFill>
                  <a:srgbClr val="CFDEEB"/>
                </a:solidFill>
                <a:latin typeface="Menlo"/>
                <a:ea typeface="Apple SD Gothic Neo"/>
              </a:rPr>
              <a:t>  return price - price*rate/100;</a:t>
            </a:r>
          </a:p>
          <a:p>
            <a:r>
              <a:rPr sz="1300" b="0">
                <a:solidFill>
                  <a:srgbClr val="CFDEEB"/>
                </a:solidFill>
                <a:latin typeface="Menlo"/>
                <a:ea typeface="Apple SD Gothic Neo"/>
              </a:rPr>
              <a:t>}</a:t>
            </a:r>
          </a:p>
        </p:txBody>
      </p:sp>
      <p:sp>
        <p:nvSpPr>
          <p:cNvPr id="9" name="Rounded Rectangle 8"/>
          <p:cNvSpPr/>
          <p:nvPr/>
        </p:nvSpPr>
        <p:spPr>
          <a:xfrm>
            <a:off x="868680" y="3657600"/>
            <a:ext cx="4206240" cy="1325880"/>
          </a:xfrm>
          <a:prstGeom prst="roundRect">
            <a:avLst>
              <a:gd name="adj" fmla="val 5000"/>
            </a:avLst>
          </a:prstGeom>
          <a:solidFill>
            <a:srgbClr val="162236"/>
          </a:solidFill>
          <a:ln w="22225">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49040"/>
            <a:ext cx="3931920" cy="1143000"/>
          </a:xfrm>
          <a:prstGeom prst="rect">
            <a:avLst/>
          </a:prstGeom>
          <a:noFill/>
        </p:spPr>
        <p:txBody>
          <a:bodyPr wrap="square">
            <a:spAutoFit/>
          </a:bodyPr>
          <a:lstStyle/>
          <a:p>
            <a:r>
              <a:rPr sz="1400" b="1">
                <a:solidFill>
                  <a:srgbClr val="7C5CFF"/>
                </a:solidFill>
              </a:rPr>
              <a:t>Kiro에게 주는 규칙</a:t>
            </a:r>
          </a:p>
          <a:p>
            <a:r>
              <a:rPr sz="1400" b="0">
                <a:solidFill>
                  <a:srgbClr val="CFDEEB"/>
                </a:solidFill>
              </a:rPr>
              <a:t>수정 가능: src/DiscountCalculator.java 하나</a:t>
            </a:r>
          </a:p>
          <a:p>
            <a:r>
              <a:rPr sz="1400" b="0">
                <a:solidFill>
                  <a:srgbClr val="CFDEEB"/>
                </a:solidFill>
              </a:rPr>
              <a:t>수정 금지: 테스트 · verify.py · loop.py</a:t>
            </a:r>
          </a:p>
          <a:p>
            <a:r>
              <a:rPr sz="1400" b="0">
                <a:solidFill>
                  <a:srgbClr val="CFDEEB"/>
                </a:solidFill>
              </a:rPr>
              <a:t>셸 실행 불가 (파일 읽기/쓰기만 허용)</a:t>
            </a:r>
          </a:p>
        </p:txBody>
      </p:sp>
      <p:sp>
        <p:nvSpPr>
          <p:cNvPr id="11" name="TextBox 10"/>
          <p:cNvSpPr txBox="1"/>
          <p:nvPr/>
        </p:nvSpPr>
        <p:spPr>
          <a:xfrm>
            <a:off x="5349240" y="1554480"/>
            <a:ext cx="6035040" cy="320040"/>
          </a:xfrm>
          <a:prstGeom prst="rect">
            <a:avLst/>
          </a:prstGeom>
          <a:noFill/>
        </p:spPr>
        <p:txBody>
          <a:bodyPr wrap="square">
            <a:spAutoFit/>
          </a:bodyPr>
          <a:lstStyle/>
          <a:p>
            <a:r>
              <a:rPr sz="1400" b="1">
                <a:solidFill>
                  <a:srgbClr val="8397AB"/>
                </a:solidFill>
              </a:rPr>
              <a:t>QA Gate 테스트 7개 — 현재 결과</a:t>
            </a:r>
          </a:p>
        </p:txBody>
      </p:sp>
      <p:graphicFrame>
        <p:nvGraphicFramePr>
          <p:cNvPr id="12" name="Table 11"/>
          <p:cNvGraphicFramePr>
            <a:graphicFrameLocks noGrp="1"/>
          </p:cNvGraphicFramePr>
          <p:nvPr/>
        </p:nvGraphicFramePr>
        <p:xfrm>
          <a:off x="5349240" y="1920240"/>
          <a:ext cx="6035040" cy="3291840"/>
        </p:xfrm>
        <a:graphic>
          <a:graphicData uri="http://schemas.openxmlformats.org/drawingml/2006/table">
            <a:tbl>
              <a:tblPr firstRow="0" bandRow="0">
                <a:tableStyleId>{5C22544A-7EE6-4342-B048-85BDC9FD1C3A}</a:tableStyleId>
              </a:tblPr>
              <a:tblGrid>
                <a:gridCol w="1783080"/>
                <a:gridCol w="1188720"/>
                <a:gridCol w="2423160"/>
                <a:gridCol w="640080"/>
              </a:tblGrid>
              <a:tr h="411480">
                <a:tc>
                  <a:txBody>
                    <a:bodyPr/>
                    <a:lstStyle/>
                    <a:p>
                      <a:pPr algn="l"/>
                      <a:r>
                        <a:rPr sz="1200" b="1">
                          <a:solidFill>
                            <a:srgbClr val="F5F8FD"/>
                          </a:solidFill>
                        </a:rPr>
                        <a:t>입력 (금액, 할인율)</a:t>
                      </a:r>
                    </a:p>
                  </a:txBody>
                  <a:tcPr anchor="ctr" marL="91440" marR="91440" marT="0" marB="0">
                    <a:solidFill>
                      <a:srgbClr val="2A3B52"/>
                    </a:solidFill>
                  </a:tcPr>
                </a:tc>
                <a:tc>
                  <a:txBody>
                    <a:bodyPr/>
                    <a:lstStyle/>
                    <a:p>
                      <a:pPr algn="l"/>
                      <a:r>
                        <a:rPr sz="1200" b="1">
                          <a:solidFill>
                            <a:srgbClr val="F5F8FD"/>
                          </a:solidFill>
                        </a:rPr>
                        <a:t>기대 결과</a:t>
                      </a:r>
                    </a:p>
                  </a:txBody>
                  <a:tcPr anchor="ctr" marL="91440" marR="91440" marT="0" marB="0">
                    <a:solidFill>
                      <a:srgbClr val="2A3B52"/>
                    </a:solidFill>
                  </a:tcPr>
                </a:tc>
                <a:tc>
                  <a:txBody>
                    <a:bodyPr/>
                    <a:lstStyle/>
                    <a:p>
                      <a:pPr algn="l"/>
                      <a:r>
                        <a:rPr sz="1200" b="1">
                          <a:solidFill>
                            <a:srgbClr val="F5F8FD"/>
                          </a:solidFill>
                        </a:rPr>
                        <a:t>현재 코드</a:t>
                      </a:r>
                    </a:p>
                  </a:txBody>
                  <a:tcPr anchor="ctr" marL="91440" marR="91440" marT="0" marB="0">
                    <a:solidFill>
                      <a:srgbClr val="2A3B52"/>
                    </a:solidFill>
                  </a:tcPr>
                </a:tc>
                <a:tc>
                  <a:txBody>
                    <a:bodyPr/>
                    <a:lstStyle/>
                    <a:p>
                      <a:pPr algn="ctr"/>
                      <a:r>
                        <a:rPr sz="1200" b="1">
                          <a:solidFill>
                            <a:srgbClr val="FF6B6B"/>
                          </a:solidFill>
                        </a:rPr>
                        <a:t>판정</a:t>
                      </a:r>
                    </a:p>
                  </a:txBody>
                  <a:tcPr anchor="ctr" marL="91440" marR="91440" marT="0" marB="0">
                    <a:solidFill>
                      <a:srgbClr val="2A3B52"/>
                    </a:solidFill>
                  </a:tcPr>
                </a:tc>
              </a:tr>
              <a:tr h="411480">
                <a:tc>
                  <a:txBody>
                    <a:bodyPr/>
                    <a:lstStyle/>
                    <a:p>
                      <a:pPr algn="l"/>
                      <a:r>
                        <a:rPr sz="1300" b="0">
                          <a:solidFill>
                            <a:srgbClr val="CFDEEB"/>
                          </a:solidFill>
                        </a:rPr>
                        <a:t>1,000원, 10%</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0%</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100%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0원, 50%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1,010원  가격이 오름</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1,000원, 101%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-10원  돈을 돌려줌</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-1원, 10%</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-1원  그대로 계산</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bl>
          </a:graphicData>
        </a:graphic>
      </p:graphicFrame>
      <p:sp>
        <p:nvSpPr>
          <p:cNvPr id="13" name="Rounded Rectangle 12"/>
          <p:cNvSpPr/>
          <p:nvPr/>
        </p:nvSpPr>
        <p:spPr>
          <a:xfrm>
            <a:off x="868680" y="5440680"/>
            <a:ext cx="10515600" cy="685800"/>
          </a:xfrm>
          <a:prstGeom prst="roundRect">
            <a:avLst>
              <a:gd name="adj" fmla="val 5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149840" cy="685800"/>
          </a:xfrm>
          <a:prstGeom prst="rect">
            <a:avLst/>
          </a:prstGeom>
          <a:noFill/>
        </p:spPr>
        <p:txBody>
          <a:bodyPr wrap="square" anchor="ctr">
            <a:spAutoFit/>
          </a:bodyPr>
          <a:lstStyle/>
          <a:p>
            <a:r>
              <a:rPr sz="1800" b="1">
                <a:solidFill>
                  <a:srgbClr val="F5F8FD"/>
                </a:solidFill>
              </a:rPr>
              <a:t>미션: 테스트는 그대로 두고 코드만 고쳐서 FAIL 3개를 PASS로 → QA Gate 통과</a:t>
            </a:r>
          </a:p>
        </p:txBody>
      </p:sp>
      <p:sp>
        <p:nvSpPr>
          <p:cNvPr id="15" name="TextBox 1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09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제어 루프의 각 칸에 데모 구성 요소를 대응시키면</a:t>
            </a:r>
          </a:p>
        </p:txBody>
      </p:sp>
      <p:graphicFrame>
        <p:nvGraphicFramePr>
          <p:cNvPr id="6" name="Table 5"/>
          <p:cNvGraphicFramePr>
            <a:graphicFrameLocks noGrp="1"/>
          </p:cNvGraphicFramePr>
          <p:nvPr/>
        </p:nvGraphicFramePr>
        <p:xfrm>
          <a:off x="868680" y="1828800"/>
          <a:ext cx="10515600" cy="3200400"/>
        </p:xfrm>
        <a:graphic>
          <a:graphicData uri="http://schemas.openxmlformats.org/drawingml/2006/table">
            <a:tbl>
              <a:tblPr firstRow="0" bandRow="0">
                <a:tableStyleId>{5C22544A-7EE6-4342-B048-85BDC9FD1C3A}</a:tableStyleId>
              </a:tblPr>
              <a:tblGrid>
                <a:gridCol w="2651760"/>
                <a:gridCol w="2011680"/>
                <a:gridCol w="5852160"/>
              </a:tblGrid>
              <a:tr h="457200">
                <a:tc>
                  <a:txBody>
                    <a:bodyPr/>
                    <a:lstStyle/>
                    <a:p>
                      <a:r>
                        <a:rPr sz="1300" b="1">
                          <a:solidFill>
                            <a:srgbClr val="F5F8FD"/>
                          </a:solidFill>
                        </a:rPr>
                        <a:t>제어 루프 요소</a:t>
                      </a:r>
                    </a:p>
                  </a:txBody>
                  <a:tcPr anchor="ctr" marL="137160" marR="137160" marT="0" marB="0">
                    <a:solidFill>
                      <a:srgbClr val="2A3B52"/>
                    </a:solidFill>
                  </a:tcPr>
                </a:tc>
                <a:tc>
                  <a:txBody>
                    <a:bodyPr/>
                    <a:lstStyle/>
                    <a:p>
                      <a:r>
                        <a:rPr sz="1300" b="1">
                          <a:solidFill>
                            <a:srgbClr val="F5F8FD"/>
                          </a:solidFill>
                        </a:rPr>
                        <a:t>온도조절기</a:t>
                      </a:r>
                    </a:p>
                  </a:txBody>
                  <a:tcPr anchor="ctr" marL="137160" marR="137160" marT="0" marB="0">
                    <a:solidFill>
                      <a:srgbClr val="2A3B52"/>
                    </a:solidFill>
                  </a:tcPr>
                </a:tc>
                <a:tc>
                  <a:txBody>
                    <a:bodyPr/>
                    <a:lstStyle/>
                    <a:p>
                      <a:r>
                        <a:rPr sz="1300" b="1">
                          <a:solidFill>
                            <a:srgbClr val="F5F8FD"/>
                          </a:solidFill>
                        </a:rPr>
                        <a:t>우리 데모 (Kiro Outer Loop)</a:t>
                      </a:r>
                    </a:p>
                  </a:txBody>
                  <a:tcPr anchor="ctr" marL="137160" marR="137160" marT="0" marB="0">
                    <a:solidFill>
                      <a:srgbClr val="2A3B52"/>
                    </a:solidFill>
                  </a:tcPr>
                </a:tc>
              </a:tr>
              <a:tr h="457200">
                <a:tc>
                  <a:txBody>
                    <a:bodyPr/>
                    <a:lstStyle/>
                    <a:p>
                      <a:r>
                        <a:rPr sz="1500" b="1">
                          <a:solidFill>
                            <a:srgbClr val="CFDEEB"/>
                          </a:solidFill>
                        </a:rPr>
                        <a:t>목표값  Set point</a:t>
                      </a:r>
                    </a:p>
                  </a:txBody>
                  <a:tcPr anchor="ctr" marL="137160" marR="137160" marT="0" marB="0">
                    <a:solidFill>
                      <a:srgbClr val="162236"/>
                    </a:solidFill>
                  </a:tcPr>
                </a:tc>
                <a:tc>
                  <a:txBody>
                    <a:bodyPr/>
                    <a:lstStyle/>
                    <a:p>
                      <a:r>
                        <a:rPr sz="1500" b="0">
                          <a:solidFill>
                            <a:srgbClr val="8397AB"/>
                          </a:solidFill>
                        </a:rPr>
                        <a:t>24°C</a:t>
                      </a:r>
                    </a:p>
                  </a:txBody>
                  <a:tcPr anchor="ctr" marL="137160" marR="137160" marT="0" marB="0">
                    <a:solidFill>
                      <a:srgbClr val="162236"/>
                    </a:solidFill>
                  </a:tcPr>
                </a:tc>
                <a:tc>
                  <a:txBody>
                    <a:bodyPr/>
                    <a:lstStyle/>
                    <a:p>
                      <a:r>
                        <a:rPr sz="1500" b="0">
                          <a:solidFill>
                            <a:srgbClr val="CFDEEB"/>
                          </a:solidFill>
                        </a:rPr>
                        <a:t>테스트 7개 모두 PASS</a:t>
                      </a:r>
                    </a:p>
                  </a:txBody>
                  <a:tcPr anchor="ctr" marL="137160" marR="137160" marT="0" marB="0">
                    <a:solidFill>
                      <a:srgbClr val="162236"/>
                    </a:solidFill>
                  </a:tcPr>
                </a:tc>
              </a:tr>
              <a:tr h="457200">
                <a:tc>
                  <a:txBody>
                    <a:bodyPr/>
                    <a:lstStyle/>
                    <a:p>
                      <a:r>
                        <a:rPr sz="1500" b="1">
                          <a:solidFill>
                            <a:srgbClr val="CFDEEB"/>
                          </a:solidFill>
                        </a:rPr>
                        <a:t>센서  Sensor</a:t>
                      </a:r>
                    </a:p>
                  </a:txBody>
                  <a:tcPr anchor="ctr" marL="137160" marR="137160" marT="0" marB="0">
                    <a:solidFill>
                      <a:srgbClr val="162236"/>
                    </a:solidFill>
                  </a:tcPr>
                </a:tc>
                <a:tc>
                  <a:txBody>
                    <a:bodyPr/>
                    <a:lstStyle/>
                    <a:p>
                      <a:r>
                        <a:rPr sz="1500" b="0">
                          <a:solidFill>
                            <a:srgbClr val="8397AB"/>
                          </a:solidFill>
                        </a:rPr>
                        <a:t>온도계</a:t>
                      </a:r>
                    </a:p>
                  </a:txBody>
                  <a:tcPr anchor="ctr" marL="137160" marR="137160" marT="0" marB="0">
                    <a:solidFill>
                      <a:srgbClr val="162236"/>
                    </a:solidFill>
                  </a:tcPr>
                </a:tc>
                <a:tc>
                  <a:txBody>
                    <a:bodyPr/>
                    <a:lstStyle/>
                    <a:p>
                      <a:r>
                        <a:rPr sz="1500" b="0">
                          <a:solidFill>
                            <a:srgbClr val="CFDEEB"/>
                          </a:solidFill>
                        </a:rPr>
                        <a:t>verify.py — Java 컴파일 + 테스트 실행</a:t>
                      </a:r>
                    </a:p>
                  </a:txBody>
                  <a:tcPr anchor="ctr" marL="137160" marR="137160" marT="0" marB="0">
                    <a:solidFill>
                      <a:srgbClr val="162236"/>
                    </a:solidFill>
                  </a:tcPr>
                </a:tc>
              </a:tr>
              <a:tr h="457200">
                <a:tc>
                  <a:txBody>
                    <a:bodyPr/>
                    <a:lstStyle/>
                    <a:p>
                      <a:r>
                        <a:rPr sz="1500" b="1">
                          <a:solidFill>
                            <a:srgbClr val="CFDEEB"/>
                          </a:solidFill>
                        </a:rPr>
                        <a:t>컨트롤러  Controller</a:t>
                      </a:r>
                    </a:p>
                  </a:txBody>
                  <a:tcPr anchor="ctr" marL="137160" marR="137160" marT="0" marB="0">
                    <a:solidFill>
                      <a:srgbClr val="162236"/>
                    </a:solidFill>
                  </a:tcPr>
                </a:tc>
                <a:tc>
                  <a:txBody>
                    <a:bodyPr/>
                    <a:lstStyle/>
                    <a:p>
                      <a:r>
                        <a:rPr sz="1500" b="0">
                          <a:solidFill>
                            <a:srgbClr val="8397AB"/>
                          </a:solidFill>
                        </a:rPr>
                        <a:t>판단 회로</a:t>
                      </a:r>
                    </a:p>
                  </a:txBody>
                  <a:tcPr anchor="ctr" marL="137160" marR="137160" marT="0" marB="0">
                    <a:solidFill>
                      <a:srgbClr val="162236"/>
                    </a:solidFill>
                  </a:tcPr>
                </a:tc>
                <a:tc>
                  <a:txBody>
                    <a:bodyPr/>
                    <a:lstStyle/>
                    <a:p>
                      <a:r>
                        <a:rPr sz="1500" b="0">
                          <a:solidFill>
                            <a:srgbClr val="31D3B1"/>
                          </a:solidFill>
                        </a:rPr>
                        <a:t>loop.py — 일반 if문 (AI 아님)</a:t>
                      </a:r>
                    </a:p>
                  </a:txBody>
                  <a:tcPr anchor="ctr" marL="137160" marR="137160" marT="0" marB="0">
                    <a:solidFill>
                      <a:srgbClr val="162236"/>
                    </a:solidFill>
                  </a:tcPr>
                </a:tc>
              </a:tr>
              <a:tr h="457200">
                <a:tc>
                  <a:txBody>
                    <a:bodyPr/>
                    <a:lstStyle/>
                    <a:p>
                      <a:r>
                        <a:rPr sz="1500" b="1">
                          <a:solidFill>
                            <a:srgbClr val="CFDEEB"/>
                          </a:solidFill>
                        </a:rPr>
                        <a:t>실행기  Actuator</a:t>
                      </a:r>
                    </a:p>
                  </a:txBody>
                  <a:tcPr anchor="ctr" marL="137160" marR="137160" marT="0" marB="0">
                    <a:solidFill>
                      <a:srgbClr val="162236"/>
                    </a:solidFill>
                  </a:tcPr>
                </a:tc>
                <a:tc>
                  <a:txBody>
                    <a:bodyPr/>
                    <a:lstStyle/>
                    <a:p>
                      <a:r>
                        <a:rPr sz="1500" b="0">
                          <a:solidFill>
                            <a:srgbClr val="8397AB"/>
                          </a:solidFill>
                        </a:rPr>
                        <a:t>에어컨</a:t>
                      </a:r>
                    </a:p>
                  </a:txBody>
                  <a:tcPr anchor="ctr" marL="137160" marR="137160" marT="0" marB="0">
                    <a:solidFill>
                      <a:srgbClr val="162236"/>
                    </a:solidFill>
                  </a:tcPr>
                </a:tc>
                <a:tc>
                  <a:txBody>
                    <a:bodyPr/>
                    <a:lstStyle/>
                    <a:p>
                      <a:r>
                        <a:rPr sz="1500" b="0">
                          <a:solidFill>
                            <a:srgbClr val="7C5CFF"/>
                          </a:solidFill>
                        </a:rPr>
                        <a:t>Kiro CLI — 코드 수정 (파일 읽기/쓰기만 허용)</a:t>
                      </a:r>
                    </a:p>
                  </a:txBody>
                  <a:tcPr anchor="ctr" marL="137160" marR="137160" marT="0" marB="0">
                    <a:solidFill>
                      <a:srgbClr val="162236"/>
                    </a:solidFill>
                  </a:tcPr>
                </a:tc>
              </a:tr>
              <a:tr h="457200">
                <a:tc>
                  <a:txBody>
                    <a:bodyPr/>
                    <a:lstStyle/>
                    <a:p>
                      <a:r>
                        <a:rPr sz="1500" b="1">
                          <a:solidFill>
                            <a:srgbClr val="CFDEEB"/>
                          </a:solidFill>
                        </a:rPr>
                        <a:t>시스템  System</a:t>
                      </a:r>
                    </a:p>
                  </a:txBody>
                  <a:tcPr anchor="ctr" marL="137160" marR="137160" marT="0" marB="0">
                    <a:solidFill>
                      <a:srgbClr val="162236"/>
                    </a:solidFill>
                  </a:tcPr>
                </a:tc>
                <a:tc>
                  <a:txBody>
                    <a:bodyPr/>
                    <a:lstStyle/>
                    <a:p>
                      <a:r>
                        <a:rPr sz="1500" b="0">
                          <a:solidFill>
                            <a:srgbClr val="8397AB"/>
                          </a:solidFill>
                        </a:rPr>
                        <a:t>방</a:t>
                      </a:r>
                    </a:p>
                  </a:txBody>
                  <a:tcPr anchor="ctr" marL="137160" marR="137160" marT="0" marB="0">
                    <a:solidFill>
                      <a:srgbClr val="162236"/>
                    </a:solidFill>
                  </a:tcPr>
                </a:tc>
                <a:tc>
                  <a:txBody>
                    <a:bodyPr/>
                    <a:lstStyle/>
                    <a:p>
                      <a:r>
                        <a:rPr sz="1500" b="0">
                          <a:solidFill>
                            <a:srgbClr val="CFDEEB"/>
                          </a:solidFill>
                        </a:rPr>
                        <a:t>src/DiscountCalculator.java</a:t>
                      </a:r>
                    </a:p>
                  </a:txBody>
                  <a:tcPr anchor="ctr" marL="137160" marR="137160" marT="0" marB="0">
                    <a:solidFill>
                      <a:srgbClr val="162236"/>
                    </a:solidFill>
                  </a:tcPr>
                </a:tc>
              </a:tr>
              <a:tr h="457200">
                <a:tc>
                  <a:txBody>
                    <a:bodyPr/>
                    <a:lstStyle/>
                    <a:p>
                      <a:r>
                        <a:rPr sz="1500" b="1">
                          <a:solidFill>
                            <a:srgbClr val="CFDEEB"/>
                          </a:solidFill>
                        </a:rPr>
                        <a:t>안전장치</a:t>
                      </a:r>
                    </a:p>
                  </a:txBody>
                  <a:tcPr anchor="ctr" marL="137160" marR="137160" marT="0" marB="0">
                    <a:solidFill>
                      <a:srgbClr val="162236"/>
                    </a:solidFill>
                  </a:tcPr>
                </a:tc>
                <a:tc>
                  <a:txBody>
                    <a:bodyPr/>
                    <a:lstStyle/>
                    <a:p>
                      <a:r>
                        <a:rPr sz="1500" b="0">
                          <a:solidFill>
                            <a:srgbClr val="8397AB"/>
                          </a:solidFill>
                        </a:rPr>
                        <a:t>과열 차단</a:t>
                      </a:r>
                    </a:p>
                  </a:txBody>
                  <a:tcPr anchor="ctr" marL="137160" marR="137160" marT="0" marB="0">
                    <a:solidFill>
                      <a:srgbClr val="162236"/>
                    </a:solidFill>
                  </a:tcPr>
                </a:tc>
                <a:tc>
                  <a:txBody>
                    <a:bodyPr/>
                    <a:lstStyle/>
                    <a:p>
                      <a:r>
                        <a:rPr sz="1500" b="0">
                          <a:solidFill>
                            <a:srgbClr val="CFDEEB"/>
                          </a:solidFill>
                        </a:rPr>
                        <a:t>최대 5회 · 세션 300초 · 보호 파일 검사</a:t>
                      </a:r>
                    </a:p>
                  </a:txBody>
                  <a:tcPr anchor="ctr" marL="137160" marR="137160" marT="0" marB="0">
                    <a:solidFill>
                      <a:srgbClr val="162236"/>
                    </a:solidFill>
                  </a:tcPr>
                </a:tc>
              </a:tr>
            </a:tbl>
          </a:graphicData>
        </a:graphic>
      </p:graphicFrame>
      <p:sp>
        <p:nvSpPr>
          <p:cNvPr id="7" name="Rounded Rectangle 6"/>
          <p:cNvSpPr/>
          <p:nvPr/>
        </p:nvSpPr>
        <p:spPr>
          <a:xfrm>
            <a:off x="868680" y="5257800"/>
            <a:ext cx="10515600" cy="73152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800" b="1">
                <a:solidFill>
                  <a:srgbClr val="F5F8FD"/>
                </a:solidFill>
              </a:rPr>
              <a:t>AI(Kiro)는 ‘실행기’ 한 칸일 뿐 — 판정은 센서와 컨트롤러가 한다</a:t>
            </a:r>
          </a:p>
          <a:p>
            <a:pPr algn="ctr">
              <a:spcAft>
                <a:spcPts val="200"/>
              </a:spcAft>
            </a:pPr>
            <a:r>
              <a:rPr sz="1300" b="0">
                <a:solidFill>
                  <a:srgbClr val="8397AB"/>
                </a:solidFill>
              </a:rPr>
              <a:t>Goal Loop 하나를 외부 Controller로 구현한 사례이며, Software Factory 전체는 아니다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
        <p:nvSpPr>
          <p:cNvPr id="9" name="TextBox 8"/>
          <p:cNvSpPr txBox="1"/>
          <p:nvPr/>
        </p:nvSpPr>
        <p:spPr>
          <a:xfrm>
            <a:off x="868680" y="6080760"/>
            <a:ext cx="10515600" cy="256032"/>
          </a:xfrm>
          <a:prstGeom prst="rect">
            <a:avLst/>
          </a:prstGeom>
          <a:noFill/>
        </p:spPr>
        <p:txBody>
          <a:bodyPr wrap="square">
            <a:spAutoFit/>
          </a:bodyPr>
          <a:lstStyle/>
          <a:p>
            <a:r>
              <a:rPr sz="1000" b="0">
                <a:solidFill>
                  <a:srgbClr val="8397AB"/>
                </a:solidFill>
              </a:rPr>
              <a:t>제어 루프 요소와 온도조절기 예시: Kyle Mistele 발표 · 각 칸의 구체적 대응은 발표자 해석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Controller(loop.py)는 무엇을 하나?</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10 / 19</a:t>
            </a:r>
          </a:p>
        </p:txBody>
      </p:sp>
      <p:sp>
        <p:nvSpPr>
          <p:cNvPr id="5" name="TextBox 4"/>
          <p:cNvSpPr txBox="1"/>
          <p:nvPr/>
        </p:nvSpPr>
        <p:spPr>
          <a:xfrm>
            <a:off x="868680" y="1325880"/>
            <a:ext cx="10515600" cy="320040"/>
          </a:xfrm>
          <a:prstGeom prst="rect">
            <a:avLst/>
          </a:prstGeom>
          <a:noFill/>
        </p:spPr>
        <p:txBody>
          <a:bodyPr wrap="square">
            <a:spAutoFit/>
          </a:bodyPr>
          <a:lstStyle/>
          <a:p>
            <a:r>
              <a:rPr sz="1400" b="0">
                <a:solidFill>
                  <a:srgbClr val="8397AB"/>
                </a:solidFill>
              </a:rPr>
              <a:t>감독관 = loop.py (AI 아님, if문)       작업자 = Kiro CLI (AI)</a:t>
            </a:r>
          </a:p>
        </p:txBody>
      </p:sp>
      <p:sp>
        <p:nvSpPr>
          <p:cNvPr id="6" name="Rounded Rectangle 5"/>
          <p:cNvSpPr/>
          <p:nvPr/>
        </p:nvSpPr>
        <p:spPr>
          <a:xfrm>
            <a:off x="8686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① 검사</a:t>
            </a:r>
          </a:p>
          <a:p>
            <a:pPr algn="ctr"/>
            <a:r>
              <a:rPr sz="1400" b="0">
                <a:solidFill>
                  <a:srgbClr val="CFDEEB"/>
                </a:solidFill>
              </a:rPr>
              <a:t>verify.py 실행</a:t>
            </a:r>
          </a:p>
          <a:p>
            <a:pPr algn="ctr"/>
            <a:r>
              <a:rPr sz="1200" b="0">
                <a:solidFill>
                  <a:srgbClr val="8397AB"/>
                </a:solidFill>
              </a:rPr>
              <a:t>Java 컴파일+테스트</a:t>
            </a:r>
          </a:p>
        </p:txBody>
      </p:sp>
      <p:sp>
        <p:nvSpPr>
          <p:cNvPr id="7" name="Rounded Rectangle 6"/>
          <p:cNvSpPr/>
          <p:nvPr/>
        </p:nvSpPr>
        <p:spPr>
          <a:xfrm>
            <a:off x="3040380" y="1783080"/>
            <a:ext cx="1828800" cy="1188720"/>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② 작업 지시</a:t>
            </a:r>
          </a:p>
          <a:p>
            <a:pPr algn="ctr"/>
            <a:r>
              <a:rPr sz="1400" b="0">
                <a:solidFill>
                  <a:srgbClr val="CFDEEB"/>
                </a:solidFill>
              </a:rPr>
              <a:t>새 Kiro 세션 실행</a:t>
            </a:r>
          </a:p>
          <a:p>
            <a:pPr algn="ctr"/>
            <a:r>
              <a:rPr sz="1200" b="0">
                <a:solidFill>
                  <a:srgbClr val="8397AB"/>
                </a:solidFill>
              </a:rPr>
              <a:t>요구사항 + 실패 로그</a:t>
            </a:r>
          </a:p>
        </p:txBody>
      </p:sp>
      <p:sp>
        <p:nvSpPr>
          <p:cNvPr id="8" name="Rounded Rectangle 7"/>
          <p:cNvSpPr/>
          <p:nvPr/>
        </p:nvSpPr>
        <p:spPr>
          <a:xfrm>
            <a:off x="52120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③ 변조 검사</a:t>
            </a:r>
          </a:p>
          <a:p>
            <a:pPr algn="ctr"/>
            <a:r>
              <a:rPr sz="1400" b="0">
                <a:solidFill>
                  <a:srgbClr val="CFDEEB"/>
                </a:solidFill>
              </a:rPr>
              <a:t>테스트·검증기</a:t>
            </a:r>
          </a:p>
          <a:p>
            <a:pPr algn="ctr"/>
            <a:r>
              <a:rPr sz="1200" b="0">
                <a:solidFill>
                  <a:srgbClr val="8397AB"/>
                </a:solidFill>
              </a:rPr>
              <a:t>바뀌었으면 복원·중단</a:t>
            </a:r>
          </a:p>
        </p:txBody>
      </p:sp>
      <p:sp>
        <p:nvSpPr>
          <p:cNvPr id="9" name="Rounded Rectangle 8"/>
          <p:cNvSpPr/>
          <p:nvPr/>
        </p:nvSpPr>
        <p:spPr>
          <a:xfrm>
            <a:off x="73837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④ 재검사</a:t>
            </a:r>
          </a:p>
          <a:p>
            <a:pPr algn="ctr"/>
            <a:r>
              <a:rPr sz="1400" b="0">
                <a:solidFill>
                  <a:srgbClr val="CFDEEB"/>
                </a:solidFill>
              </a:rPr>
              <a:t>verify.py 직접 실행</a:t>
            </a:r>
          </a:p>
          <a:p>
            <a:pPr algn="ctr"/>
            <a:r>
              <a:rPr sz="1200" b="0">
                <a:solidFill>
                  <a:srgbClr val="8397AB"/>
                </a:solidFill>
              </a:rPr>
              <a:t>Kiro의 "고쳤다"는 무시</a:t>
            </a:r>
          </a:p>
        </p:txBody>
      </p:sp>
      <p:sp>
        <p:nvSpPr>
          <p:cNvPr id="10" name="Rounded Rectangle 9"/>
          <p:cNvSpPr/>
          <p:nvPr/>
        </p:nvSpPr>
        <p:spPr>
          <a:xfrm>
            <a:off x="9555480" y="1783080"/>
            <a:ext cx="1828800" cy="11887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⑤ 판정</a:t>
            </a:r>
          </a:p>
          <a:p>
            <a:pPr algn="ctr"/>
            <a:r>
              <a:rPr sz="1400" b="1">
                <a:solidFill>
                  <a:srgbClr val="4ADE80"/>
                </a:solidFill>
              </a:rPr>
              <a:t>PASS → 종료</a:t>
            </a:r>
          </a:p>
          <a:p>
            <a:pPr algn="ctr"/>
            <a:r>
              <a:rPr sz="1400" b="1">
                <a:solidFill>
                  <a:srgbClr val="FF6B6B"/>
                </a:solidFill>
              </a:rPr>
              <a:t>FAIL → ②로</a:t>
            </a:r>
          </a:p>
        </p:txBody>
      </p:sp>
      <p:cxnSp>
        <p:nvCxnSpPr>
          <p:cNvPr id="11" name="Connector 10"/>
          <p:cNvCxnSpPr/>
          <p:nvPr/>
        </p:nvCxnSpPr>
        <p:spPr>
          <a:xfrm>
            <a:off x="26974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691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0408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125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469880" y="2971800"/>
            <a:ext cx="0" cy="45720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954780" y="3429000"/>
            <a:ext cx="6515100"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954780" y="2971800"/>
            <a:ext cx="0" cy="45720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046220" y="3456432"/>
            <a:ext cx="6515100" cy="320040"/>
          </a:xfrm>
          <a:prstGeom prst="rect">
            <a:avLst/>
          </a:prstGeom>
          <a:noFill/>
        </p:spPr>
        <p:txBody>
          <a:bodyPr wrap="square">
            <a:spAutoFit/>
          </a:bodyPr>
          <a:lstStyle/>
          <a:p>
            <a:r>
              <a:rPr sz="1300" b="1">
                <a:solidFill>
                  <a:srgbClr val="FF6B6B"/>
                </a:solidFill>
              </a:rPr>
              <a:t>FAIL: 실패 로그를 들고 새 Kiro 세션 시작 (사람 입력 없음)</a:t>
            </a:r>
          </a:p>
        </p:txBody>
      </p:sp>
      <p:sp>
        <p:nvSpPr>
          <p:cNvPr id="19" name="Rounded Rectangle 18"/>
          <p:cNvSpPr/>
          <p:nvPr/>
        </p:nvSpPr>
        <p:spPr>
          <a:xfrm>
            <a:off x="868680" y="3886200"/>
            <a:ext cx="4000500" cy="640080"/>
          </a:xfrm>
          <a:prstGeom prst="roundRect">
            <a:avLst>
              <a:gd name="adj" fmla="val 8000"/>
            </a:avLst>
          </a:prstGeom>
          <a:solidFill>
            <a:srgbClr val="0E1625"/>
          </a:solidFill>
          <a:ln w="15875">
            <a:solidFill>
              <a:srgbClr val="7C5CFF"/>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300" b="1">
                <a:solidFill>
                  <a:srgbClr val="7C5CFF"/>
                </a:solidFill>
              </a:rPr>
              <a:t>Kiro 내부 (Inner Loop)</a:t>
            </a:r>
          </a:p>
          <a:p>
            <a:pPr algn="ctr"/>
            <a:r>
              <a:rPr sz="1300" b="0">
                <a:solidFill>
                  <a:srgbClr val="CFDEEB"/>
                </a:solidFill>
              </a:rPr>
              <a:t>파일 읽기 → 수정 → "고쳤습니다" → 종료</a:t>
            </a:r>
          </a:p>
        </p:txBody>
      </p:sp>
      <p:sp>
        <p:nvSpPr>
          <p:cNvPr id="20" name="Rounded Rectangle 19"/>
          <p:cNvSpPr/>
          <p:nvPr/>
        </p:nvSpPr>
        <p:spPr>
          <a:xfrm>
            <a:off x="86868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종료 조건</a:t>
            </a:r>
          </a:p>
          <a:p>
            <a:pPr algn="ctr"/>
            <a:r>
              <a:rPr sz="1300" b="0">
                <a:solidFill>
                  <a:srgbClr val="CFDEEB"/>
                </a:solidFill>
              </a:rPr>
              <a:t>PASS · 최대 5회 · 세션 300초</a:t>
            </a:r>
          </a:p>
          <a:p>
            <a:pPr algn="ctr"/>
            <a:r>
              <a:rPr sz="1300" b="0">
                <a:solidFill>
                  <a:srgbClr val="CFDEEB"/>
                </a:solidFill>
              </a:rPr>
              <a:t>Kiro 오류 · 보호 파일 변조</a:t>
            </a:r>
          </a:p>
        </p:txBody>
      </p:sp>
      <p:sp>
        <p:nvSpPr>
          <p:cNvPr id="21" name="Rounded Rectangle 20"/>
          <p:cNvSpPr/>
          <p:nvPr/>
        </p:nvSpPr>
        <p:spPr>
          <a:xfrm>
            <a:off x="443484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기록 .loop/</a:t>
            </a:r>
          </a:p>
          <a:p>
            <a:pPr algn="ctr"/>
            <a:r>
              <a:rPr sz="1300" b="0">
                <a:solidFill>
                  <a:srgbClr val="CFDEEB"/>
                </a:solidFill>
              </a:rPr>
              <a:t>회차별 결과 · Kiro 로그</a:t>
            </a:r>
          </a:p>
          <a:p>
            <a:pPr algn="ctr"/>
            <a:r>
              <a:rPr sz="1300" b="0">
                <a:solidFill>
                  <a:srgbClr val="CFDEEB"/>
                </a:solidFill>
              </a:rPr>
              <a:t>코드 diff · summary.json</a:t>
            </a:r>
          </a:p>
        </p:txBody>
      </p:sp>
      <p:sp>
        <p:nvSpPr>
          <p:cNvPr id="22" name="Rounded Rectangle 21"/>
          <p:cNvSpPr/>
          <p:nvPr/>
        </p:nvSpPr>
        <p:spPr>
          <a:xfrm>
            <a:off x="800100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기억</a:t>
            </a:r>
          </a:p>
          <a:p>
            <a:pPr algn="ctr"/>
            <a:r>
              <a:rPr sz="1300" b="0">
                <a:solidFill>
                  <a:srgbClr val="CFDEEB"/>
                </a:solidFill>
              </a:rPr>
              <a:t>Kiro는 매번 새 세션(기억 없음)</a:t>
            </a:r>
          </a:p>
          <a:p>
            <a:pPr algn="ctr"/>
            <a:r>
              <a:rPr sz="1300" b="0">
                <a:solidFill>
                  <a:srgbClr val="CFDEEB"/>
                </a:solidFill>
              </a:rPr>
              <a:t>다음 세션에 넘기는 실패 로그가 기억</a:t>
            </a:r>
          </a:p>
        </p:txBody>
      </p:sp>
      <p:cxnSp>
        <p:nvCxnSpPr>
          <p:cNvPr id="23" name="Connector 22"/>
          <p:cNvCxnSpPr/>
          <p:nvPr/>
        </p:nvCxnSpPr>
        <p:spPr>
          <a:xfrm>
            <a:off x="3497580" y="2971800"/>
            <a:ext cx="0" cy="914400"/>
          </a:xfrm>
          <a:prstGeom prst="line">
            <a:avLst/>
          </a:prstGeom>
          <a:ln w="25400">
            <a:solidFill>
              <a:srgbClr val="7C5CFF"/>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loop.py 핵심 로직 (약 15줄)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11 / 19</a:t>
            </a:r>
          </a:p>
        </p:txBody>
      </p:sp>
      <p:sp>
        <p:nvSpPr>
          <p:cNvPr id="5" name="Rounded Rectangle 4"/>
          <p:cNvSpPr/>
          <p:nvPr/>
        </p:nvSpPr>
        <p:spPr>
          <a:xfrm>
            <a:off x="868680" y="1463040"/>
            <a:ext cx="10515600" cy="411480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10058400" cy="3931920"/>
          </a:xfrm>
          <a:prstGeom prst="rect">
            <a:avLst/>
          </a:prstGeom>
          <a:noFill/>
        </p:spPr>
        <p:txBody>
          <a:bodyPr wrap="square">
            <a:spAutoFit/>
          </a:bodyPr>
          <a:lstStyle/>
          <a:p>
            <a:r>
              <a:rPr sz="1500" b="0">
                <a:solidFill>
                  <a:srgbClr val="CFDEEB"/>
                </a:solidFill>
                <a:latin typeface="Menlo"/>
                <a:ea typeface="Apple SD Gothic Neo"/>
              </a:rPr>
              <a:t>ok, log = qa_gate()                        # ① 현재 상태 검사 (verify.py)</a:t>
            </a:r>
          </a:p>
          <a:p>
            <a:r>
              <a:rPr sz="1500" b="0">
                <a:solidFill>
                  <a:srgbClr val="CFDEEB"/>
                </a:solidFill>
                <a:latin typeface="Menlo"/>
                <a:ea typeface="Apple SD Gothic Neo"/>
              </a:rPr>
              <a:t>if ok: return "ALREADY_PASSING"</a:t>
            </a:r>
          </a:p>
          <a:p>
            <a:r>
              <a:rPr sz="1500" b="0">
                <a:solidFill>
                  <a:srgbClr val="CFDEEB"/>
                </a:solidFill>
                <a:latin typeface="Menlo"/>
                <a:ea typeface="Apple SD Gothic Neo"/>
              </a:rPr>
              <a:t/>
            </a:r>
          </a:p>
          <a:p>
            <a:r>
              <a:rPr sz="1500" b="0">
                <a:solidFill>
                  <a:srgbClr val="31D3B1"/>
                </a:solidFill>
                <a:latin typeface="Menlo"/>
                <a:ea typeface="Apple SD Gothic Neo"/>
              </a:rPr>
              <a:t>for i in range(1, 6):                      # 최대 5회</a:t>
            </a:r>
          </a:p>
          <a:p>
            <a:r>
              <a:rPr sz="1500" b="0">
                <a:solidFill>
                  <a:srgbClr val="7C5CFF"/>
                </a:solidFill>
                <a:latin typeface="Menlo"/>
                <a:ea typeface="Apple SD Gothic Neo"/>
              </a:rPr>
              <a:t>    run_kiro(prompt + log, timeout=300)    # ② 새 Kiro 세션 = 작업 지시</a:t>
            </a:r>
          </a:p>
          <a:p>
            <a:r>
              <a:rPr sz="1500" b="0">
                <a:solidFill>
                  <a:srgbClr val="CFDEEB"/>
                </a:solidFill>
                <a:latin typeface="Menlo"/>
                <a:ea typeface="Apple SD Gothic Neo"/>
              </a:rPr>
              <a:t>    if protected_files_changed():          # ③ 테스트·검증기 변조 검사</a:t>
            </a:r>
          </a:p>
          <a:p>
            <a:r>
              <a:rPr sz="1500" b="0">
                <a:solidFill>
                  <a:srgbClr val="FF6B6B"/>
                </a:solidFill>
                <a:latin typeface="Menlo"/>
                <a:ea typeface="Apple SD Gothic Neo"/>
              </a:rPr>
              <a:t>        restore(); return "GUARDRAIL_STOP"</a:t>
            </a:r>
          </a:p>
          <a:p>
            <a:r>
              <a:rPr sz="1500" b="0">
                <a:solidFill>
                  <a:srgbClr val="CFDEEB"/>
                </a:solidFill>
                <a:latin typeface="Menlo"/>
                <a:ea typeface="Apple SD Gothic Neo"/>
              </a:rPr>
              <a:t>    ok, log = qa_gate()                    # ④ AI 말 대신 직접 검사</a:t>
            </a:r>
          </a:p>
          <a:p>
            <a:r>
              <a:rPr sz="1500" b="0">
                <a:solidFill>
                  <a:srgbClr val="CFDEEB"/>
                </a:solidFill>
                <a:latin typeface="Menlo"/>
                <a:ea typeface="Apple SD Gothic Neo"/>
              </a:rPr>
              <a:t>    save_record(i, ok, log, diff)          # .loop/ 에 기록</a:t>
            </a:r>
          </a:p>
          <a:p>
            <a:r>
              <a:rPr sz="1500" b="0">
                <a:solidFill>
                  <a:srgbClr val="4ADE80"/>
                </a:solidFill>
                <a:latin typeface="Menlo"/>
                <a:ea typeface="Apple SD Gothic Neo"/>
              </a:rPr>
              <a:t>    if ok: return "PASS"                   # ⑤ 판정: 성공</a:t>
            </a:r>
          </a:p>
          <a:p>
            <a:r>
              <a:rPr sz="1500" b="0">
                <a:solidFill>
                  <a:srgbClr val="FF6B6B"/>
                </a:solidFill>
                <a:latin typeface="Menlo"/>
                <a:ea typeface="Apple SD Gothic Neo"/>
              </a:rPr>
              <a:t>    if kiro_failed: return "AGENT_ERROR"   #    도구·인증·타임아웃 오류</a:t>
            </a:r>
          </a:p>
          <a:p>
            <a:r>
              <a:rPr sz="1500" b="0">
                <a:solidFill>
                  <a:srgbClr val="8397AB"/>
                </a:solidFill>
                <a:latin typeface="Menlo"/>
                <a:ea typeface="Apple SD Gothic Neo"/>
              </a:rPr>
              <a:t>    # FAIL이면 log를 들고 다음 회차로</a:t>
            </a:r>
          </a:p>
          <a:p>
            <a:r>
              <a:rPr sz="1500" b="0">
                <a:solidFill>
                  <a:srgbClr val="CFDEEB"/>
                </a:solidFill>
                <a:latin typeface="Menlo"/>
                <a:ea typeface="Apple SD Gothic Neo"/>
              </a:rPr>
              <a:t/>
            </a:r>
          </a:p>
          <a:p>
            <a:r>
              <a:rPr sz="1500" b="0">
                <a:solidFill>
                  <a:srgbClr val="FF6B6B"/>
                </a:solidFill>
                <a:latin typeface="Menlo"/>
                <a:ea typeface="Apple SD Gothic Neo"/>
              </a:rPr>
              <a:t>return "MAX_ITERATIONS"                    # 5회 모두 실패</a:t>
            </a:r>
          </a:p>
        </p:txBody>
      </p:sp>
      <p:sp>
        <p:nvSpPr>
          <p:cNvPr id="7" name="TextBox 6"/>
          <p:cNvSpPr txBox="1"/>
          <p:nvPr/>
        </p:nvSpPr>
        <p:spPr>
          <a:xfrm>
            <a:off x="868680" y="5715000"/>
            <a:ext cx="10515600" cy="548640"/>
          </a:xfrm>
          <a:prstGeom prst="rect">
            <a:avLst/>
          </a:prstGeom>
          <a:noFill/>
        </p:spPr>
        <p:txBody>
          <a:bodyPr wrap="square">
            <a:spAutoFit/>
          </a:bodyPr>
          <a:lstStyle/>
          <a:p>
            <a:r>
              <a:rPr sz="1800" b="0">
                <a:solidFill>
                  <a:srgbClr val="CFDEEB"/>
                </a:solidFill>
              </a:rPr>
              <a:t>Controller는 AI가 아니다 — 테스트 결과(PASS/FAIL)만 보고 if문으로 결정한다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①: Kiro가 1회에 해결</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12 / 19</a:t>
            </a:r>
          </a:p>
        </p:txBody>
      </p:sp>
      <p:sp>
        <p:nvSpPr>
          <p:cNvPr id="5" name="Rounded Rectangle 4"/>
          <p:cNvSpPr/>
          <p:nvPr/>
        </p:nvSpPr>
        <p:spPr>
          <a:xfrm>
            <a:off x="868680" y="1463040"/>
            <a:ext cx="1051560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554480"/>
            <a:ext cx="10149840" cy="3657600"/>
          </a:xfrm>
          <a:prstGeom prst="rect">
            <a:avLst/>
          </a:prstGeom>
          <a:noFill/>
        </p:spPr>
        <p:txBody>
          <a:bodyPr wrap="square">
            <a:spAutoFit/>
          </a:bodyPr>
          <a:lstStyle/>
          <a:p>
            <a:r>
              <a:rPr sz="1300" b="0">
                <a:solidFill>
                  <a:srgbClr val="31D3B1"/>
                </a:solidFill>
                <a:latin typeface="Menlo"/>
                <a:ea typeface="Apple SD Gothic Neo"/>
              </a:rPr>
              <a:t>$ python3 loop.py --provider kiro --reset</a:t>
            </a:r>
          </a:p>
          <a:p>
            <a:r>
              <a:rPr sz="1300" b="0">
                <a:solidFill>
                  <a:srgbClr val="FF6B6B"/>
                </a:solidFill>
                <a:latin typeface="Menlo"/>
                <a:ea typeface="Apple SD Gothic Neo"/>
              </a:rPr>
              <a:t>[QA GATE] initial: FAIL</a:t>
            </a:r>
          </a:p>
          <a:p>
            <a:r>
              <a:rPr sz="1300" b="0">
                <a:solidFill>
                  <a:srgbClr val="CFDEEB"/>
                </a:solidFill>
                <a:latin typeface="Menlo"/>
                <a:ea typeface="Apple SD Gothic Neo"/>
              </a:rPr>
              <a:t>  AssertionError: Expected IllegalArgumentException for rate=-1</a:t>
            </a:r>
          </a:p>
          <a:p>
            <a:r>
              <a:rPr sz="1300" b="0">
                <a:solidFill>
                  <a:srgbClr val="31D3B1"/>
                </a:solidFill>
                <a:latin typeface="Menlo"/>
                <a:ea typeface="Apple SD Gothic Neo"/>
              </a:rPr>
              <a:t>[LOOP 1/5] starting NEW kiro session (no human input)</a:t>
            </a:r>
          </a:p>
          <a:p>
            <a:r>
              <a:rPr sz="1300" b="0">
                <a:solidFill>
                  <a:srgbClr val="8397AB"/>
                </a:solidFill>
                <a:latin typeface="Menlo"/>
                <a:ea typeface="Apple SD Gothic Neo"/>
              </a:rPr>
              <a:t>  │ [tool] Reading DiscountCalculator.java, DiscountTest.java</a:t>
            </a:r>
          </a:p>
          <a:p>
            <a:r>
              <a:rPr sz="1300" b="0">
                <a:solidFill>
                  <a:srgbClr val="8397AB"/>
                </a:solidFill>
                <a:latin typeface="Menlo"/>
                <a:ea typeface="Apple SD Gothic Neo"/>
              </a:rPr>
              <a:t>  │ [tool] Editing DiscountCalculator.java</a:t>
            </a:r>
          </a:p>
          <a:p>
            <a:r>
              <a:rPr sz="1300" b="0">
                <a:solidFill>
                  <a:srgbClr val="8397AB"/>
                </a:solidFill>
                <a:latin typeface="Menlo"/>
                <a:ea typeface="Apple SD Gothic Neo"/>
              </a:rPr>
              <a:t>  │ Added guards ... rate outside [0,100] or price is negative</a:t>
            </a:r>
          </a:p>
          <a:p>
            <a:r>
              <a:rPr sz="1300" b="0">
                <a:solidFill>
                  <a:srgbClr val="8397AB"/>
                </a:solidFill>
                <a:latin typeface="Menlo"/>
                <a:ea typeface="Apple SD Gothic Neo"/>
              </a:rPr>
              <a:t>  [AGENT] session ended: exit=0 (17.4s). Agent claim is NOT trusted</a:t>
            </a:r>
          </a:p>
          <a:p>
            <a:r>
              <a:rPr sz="1300" b="0">
                <a:solidFill>
                  <a:srgbClr val="4ADE80"/>
                </a:solidFill>
                <a:latin typeface="Menlo"/>
                <a:ea typeface="Apple SD Gothic Neo"/>
              </a:rPr>
              <a:t>[QA GATE] PASS   ALL TESTS PASSED</a:t>
            </a:r>
          </a:p>
          <a:p>
            <a:r>
              <a:rPr sz="1300" b="0">
                <a:solidFill>
                  <a:srgbClr val="4ADE80"/>
                </a:solidFill>
                <a:latin typeface="Menlo"/>
                <a:ea typeface="Apple SD Gothic Neo"/>
              </a:rPr>
              <a:t>SUCCESS: QA Gate passed on iteration 1. Controller stops the loop.</a:t>
            </a:r>
          </a:p>
        </p:txBody>
      </p:sp>
      <p:sp>
        <p:nvSpPr>
          <p:cNvPr id="7" name="TextBox 6"/>
          <p:cNvSpPr txBox="1"/>
          <p:nvPr/>
        </p:nvSpPr>
        <p:spPr>
          <a:xfrm>
            <a:off x="868680" y="5440680"/>
            <a:ext cx="10515600" cy="822960"/>
          </a:xfrm>
          <a:prstGeom prst="rect">
            <a:avLst/>
          </a:prstGeom>
          <a:noFill/>
        </p:spPr>
        <p:txBody>
          <a:bodyPr wrap="square">
            <a:spAutoFit/>
          </a:bodyPr>
          <a:lstStyle/>
          <a:p>
            <a:r>
              <a:rPr sz="1800" b="0">
                <a:solidFill>
                  <a:srgbClr val="CFDEEB"/>
                </a:solidFill>
              </a:rPr>
              <a:t>쉬운 목표는 1회에 끝나는 게 정상 — 그래도 "완료"는 Kiro가 아니라 QA Gate가 승인했다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②: QA FAIL → 새 세션 자동 실행</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13 / 19</a:t>
            </a:r>
          </a:p>
        </p:txBody>
      </p:sp>
      <p:sp>
        <p:nvSpPr>
          <p:cNvPr id="5" name="Rounded Rectangle 4"/>
          <p:cNvSpPr/>
          <p:nvPr/>
        </p:nvSpPr>
        <p:spPr>
          <a:xfrm>
            <a:off x="868680" y="1371600"/>
            <a:ext cx="10515600" cy="420624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463040"/>
            <a:ext cx="10149840" cy="4023360"/>
          </a:xfrm>
          <a:prstGeom prst="rect">
            <a:avLst/>
          </a:prstGeom>
          <a:noFill/>
        </p:spPr>
        <p:txBody>
          <a:bodyPr wrap="square">
            <a:spAutoFit/>
          </a:bodyPr>
          <a:lstStyle/>
          <a:p>
            <a:r>
              <a:rPr sz="1200" b="0">
                <a:solidFill>
                  <a:srgbClr val="31D3B1"/>
                </a:solidFill>
                <a:latin typeface="Menlo"/>
                <a:ea typeface="Apple SD Gothic Neo"/>
              </a:rPr>
              <a:t>$ python3 loop.py --provider kiro --reset --inject-fault</a:t>
            </a:r>
          </a:p>
          <a:p>
            <a:r>
              <a:rPr sz="1200" b="0">
                <a:solidFill>
                  <a:srgbClr val="31D3B1"/>
                </a:solidFill>
                <a:latin typeface="Menlo"/>
                <a:ea typeface="Apple SD Gothic Neo"/>
              </a:rPr>
              <a:t>[LOOP 1/5] starting NEW kiro session (no human input)</a:t>
            </a:r>
          </a:p>
          <a:p>
            <a:r>
              <a:rPr sz="1200" b="0">
                <a:solidFill>
                  <a:srgbClr val="8397AB"/>
                </a:solidFill>
                <a:latin typeface="Menlo"/>
                <a:ea typeface="Apple SD Gothic Neo"/>
              </a:rPr>
              <a:t>  │ [tool] Editing DiscountCalculator.java     (16.5s, exit=0)</a:t>
            </a:r>
          </a:p>
          <a:p>
            <a:r>
              <a:rPr sz="1200" b="0">
                <a:solidFill>
                  <a:srgbClr val="FACC15"/>
                </a:solidFill>
                <a:latin typeface="Menlo"/>
                <a:ea typeface="Apple SD Gothic Neo"/>
              </a:rPr>
              <a:t>[FAULT INJECTION] controller removed price validation (NOT the AI's)</a:t>
            </a:r>
          </a:p>
          <a:p>
            <a:r>
              <a:rPr sz="1200" b="0">
                <a:solidFill>
                  <a:srgbClr val="FF6B6B"/>
                </a:solidFill>
                <a:latin typeface="Menlo"/>
                <a:ea typeface="Apple SD Gothic Neo"/>
              </a:rPr>
              <a:t>[QA GATE] FAIL</a:t>
            </a:r>
          </a:p>
          <a:p>
            <a:r>
              <a:rPr sz="1200" b="0">
                <a:solidFill>
                  <a:srgbClr val="CFDEEB"/>
                </a:solidFill>
                <a:latin typeface="Menlo"/>
                <a:ea typeface="Apple SD Gothic Neo"/>
              </a:rPr>
              <a:t>  AssertionError: Expected IllegalArgumentException for price=-1</a:t>
            </a:r>
          </a:p>
          <a:p>
            <a:r>
              <a:rPr sz="1200" b="0">
                <a:solidFill>
                  <a:srgbClr val="31D3B1"/>
                </a:solidFill>
                <a:latin typeface="Menlo"/>
                <a:ea typeface="Apple SD Gothic Neo"/>
              </a:rPr>
              <a:t>[LOOP] QA failed -&gt; feeding failure log into a NEW session</a:t>
            </a:r>
          </a:p>
          <a:p>
            <a:r>
              <a:rPr sz="1200" b="0">
                <a:solidFill>
                  <a:srgbClr val="31D3B1"/>
                </a:solidFill>
                <a:latin typeface="Menlo"/>
                <a:ea typeface="Apple SD Gothic Neo"/>
              </a:rPr>
              <a:t>[LOOP 2/5] starting NEW kiro session (no human input)</a:t>
            </a:r>
          </a:p>
          <a:p>
            <a:r>
              <a:rPr sz="1200" b="0">
                <a:solidFill>
                  <a:srgbClr val="8397AB"/>
                </a:solidFill>
                <a:latin typeface="Menlo"/>
                <a:ea typeface="Apple SD Gothic Neo"/>
              </a:rPr>
              <a:t>  │ The fix is to add price validation. I'll add a check for price &lt; 0</a:t>
            </a:r>
          </a:p>
          <a:p>
            <a:r>
              <a:rPr sz="1200" b="0">
                <a:solidFill>
                  <a:srgbClr val="8397AB"/>
                </a:solidFill>
                <a:latin typeface="Menlo"/>
                <a:ea typeface="Apple SD Gothic Neo"/>
              </a:rPr>
              <a:t>  │ [tool] Editing DiscountCalculator.java     (17.2s, exit=0)</a:t>
            </a:r>
          </a:p>
          <a:p>
            <a:r>
              <a:rPr sz="1200" b="0">
                <a:solidFill>
                  <a:srgbClr val="4ADE80"/>
                </a:solidFill>
                <a:latin typeface="Menlo"/>
                <a:ea typeface="Apple SD Gothic Neo"/>
              </a:rPr>
              <a:t>[QA GATE] PASS   ALL TESTS PASSED</a:t>
            </a:r>
          </a:p>
          <a:p>
            <a:r>
              <a:rPr sz="1200" b="0">
                <a:solidFill>
                  <a:srgbClr val="4ADE80"/>
                </a:solidFill>
                <a:latin typeface="Menlo"/>
                <a:ea typeface="Apple SD Gothic Neo"/>
              </a:rPr>
              <a:t>RESULT=PASS  iterations=2   loop 1: FAIL (fault injected) / loop 2: PASS</a:t>
            </a:r>
          </a:p>
        </p:txBody>
      </p:sp>
      <p:sp>
        <p:nvSpPr>
          <p:cNvPr id="7" name="TextBox 6"/>
          <p:cNvSpPr txBox="1"/>
          <p:nvPr/>
        </p:nvSpPr>
        <p:spPr>
          <a:xfrm>
            <a:off x="868680" y="5669280"/>
            <a:ext cx="10515600" cy="640080"/>
          </a:xfrm>
          <a:prstGeom prst="rect">
            <a:avLst/>
          </a:prstGeom>
          <a:noFill/>
        </p:spPr>
        <p:txBody>
          <a:bodyPr wrap="square">
            <a:spAutoFit/>
          </a:bodyPr>
          <a:lstStyle/>
          <a:p>
            <a:r>
              <a:rPr sz="1600" b="0">
                <a:solidFill>
                  <a:srgbClr val="FACC15"/>
                </a:solidFill>
              </a:rPr>
              <a:t>※ 1회차 실패는 Controller가 의도적으로 주입한 것 (AI 실패 아님)</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증거: Controller가 남긴 기록</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14 / 19</a:t>
            </a:r>
          </a:p>
        </p:txBody>
      </p:sp>
      <p:sp>
        <p:nvSpPr>
          <p:cNvPr id="5" name="TextBox 4"/>
          <p:cNvSpPr txBox="1"/>
          <p:nvPr/>
        </p:nvSpPr>
        <p:spPr>
          <a:xfrm>
            <a:off x="868680" y="1463040"/>
            <a:ext cx="4754880" cy="3840480"/>
          </a:xfrm>
          <a:prstGeom prst="rect">
            <a:avLst/>
          </a:prstGeom>
          <a:noFill/>
        </p:spPr>
        <p:txBody>
          <a:bodyPr wrap="square">
            <a:spAutoFit/>
          </a:bodyPr>
          <a:lstStyle/>
          <a:p>
            <a:r>
              <a:rPr sz="1800" b="0">
                <a:solidFill>
                  <a:srgbClr val="CFDEEB"/>
                </a:solidFill>
              </a:rPr>
              <a:t>.loop/summary.json — 결과·반복 횟수</a:t>
            </a:r>
          </a:p>
          <a:p>
            <a:r>
              <a:rPr sz="1800" b="0">
                <a:solidFill>
                  <a:srgbClr val="CFDEEB"/>
                </a:solidFill>
              </a:rPr>
              <a:t>iteration-NN.json — 회차별 QA 출력</a:t>
            </a:r>
          </a:p>
          <a:p>
            <a:r>
              <a:rPr sz="1800" b="0">
                <a:solidFill>
                  <a:srgbClr val="CFDEEB"/>
                </a:solidFill>
              </a:rPr>
              <a:t>agent-NN.log — Kiro 세션 전체 로그</a:t>
            </a:r>
          </a:p>
          <a:p>
            <a:r>
              <a:rPr sz="1800" b="0">
                <a:solidFill>
                  <a:srgbClr val="CFDEEB"/>
                </a:solidFill>
              </a:rPr>
              <a:t>diff-NN.patch — AI가 바꾼 코드</a:t>
            </a:r>
          </a:p>
          <a:p>
            <a:r>
              <a:rPr sz="1800" b="0">
                <a:solidFill>
                  <a:srgbClr val="CFDEEB"/>
                </a:solidFill>
              </a:rPr>
              <a:t/>
            </a:r>
          </a:p>
          <a:p>
            <a:r>
              <a:rPr sz="1800" b="0">
                <a:solidFill>
                  <a:srgbClr val="31D3B1"/>
                </a:solidFill>
              </a:rPr>
              <a:t>보호 파일 변조 시뮬레이션</a:t>
            </a:r>
          </a:p>
          <a:p>
            <a:r>
              <a:rPr sz="1800" b="0">
                <a:solidFill>
                  <a:srgbClr val="CFDEEB"/>
                </a:solidFill>
              </a:rPr>
              <a:t>→ 자동 복원 + GUARDRAIL_STOP</a:t>
            </a:r>
          </a:p>
          <a:p>
            <a:r>
              <a:rPr sz="1800" b="0">
                <a:solidFill>
                  <a:srgbClr val="CFDEEB"/>
                </a:solidFill>
              </a:rPr>
              <a:t>셸 도구 요청 → 비대화형 모드에서 거부</a:t>
            </a:r>
          </a:p>
        </p:txBody>
      </p:sp>
      <p:sp>
        <p:nvSpPr>
          <p:cNvPr id="6" name="Rounded Rectangle 5"/>
          <p:cNvSpPr/>
          <p:nvPr/>
        </p:nvSpPr>
        <p:spPr>
          <a:xfrm>
            <a:off x="6720840" y="1463040"/>
            <a:ext cx="466344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03720" y="1554480"/>
            <a:ext cx="4297680" cy="3657600"/>
          </a:xfrm>
          <a:prstGeom prst="rect">
            <a:avLst/>
          </a:prstGeom>
          <a:noFill/>
        </p:spPr>
        <p:txBody>
          <a:bodyPr wrap="square">
            <a:spAutoFit/>
          </a:bodyPr>
          <a:lstStyle/>
          <a:p>
            <a:r>
              <a:rPr sz="1200" b="0">
                <a:solidFill>
                  <a:srgbClr val="CFDEEB"/>
                </a:solidFill>
                <a:latin typeface="Menlo"/>
                <a:ea typeface="Apple SD Gothic Neo"/>
              </a:rPr>
              <a:t>diff-02.patch  (LOOP 2, Kiro)</a:t>
            </a:r>
          </a:p>
          <a:p>
            <a:r>
              <a:rPr sz="1200" b="0">
                <a:solidFill>
                  <a:srgbClr val="CFDEEB"/>
                </a:solidFill>
                <a:latin typeface="Menlo"/>
                <a:ea typeface="Apple SD Gothic Neo"/>
              </a:rPr>
              <a:t/>
            </a:r>
          </a:p>
          <a:p>
            <a:r>
              <a:rPr sz="1200" b="0">
                <a:solidFill>
                  <a:srgbClr val="CFDEEB"/>
                </a:solidFill>
                <a:latin typeface="Menlo"/>
                <a:ea typeface="Apple SD Gothic Neo"/>
              </a:rPr>
              <a:t>  public static int discount(</a:t>
            </a:r>
          </a:p>
          <a:p>
            <a:r>
              <a:rPr sz="1200" b="0">
                <a:solidFill>
                  <a:srgbClr val="CFDEEB"/>
                </a:solidFill>
                <a:latin typeface="Menlo"/>
                <a:ea typeface="Apple SD Gothic Neo"/>
              </a:rPr>
              <a:t>      int price, int rate) {</a:t>
            </a:r>
          </a:p>
          <a:p>
            <a:r>
              <a:rPr sz="1200" b="0">
                <a:solidFill>
                  <a:srgbClr val="FF6B6B"/>
                </a:solidFill>
                <a:latin typeface="Menlo"/>
                <a:ea typeface="Apple SD Gothic Neo"/>
              </a:rPr>
              <a:t>- // [FAULT INJECTION] price</a:t>
            </a:r>
          </a:p>
          <a:p>
            <a:r>
              <a:rPr sz="1200" b="0">
                <a:solidFill>
                  <a:srgbClr val="FF6B6B"/>
                </a:solidFill>
                <a:latin typeface="Menlo"/>
                <a:ea typeface="Apple SD Gothic Neo"/>
              </a:rPr>
              <a:t>-    validation removed</a:t>
            </a:r>
          </a:p>
          <a:p>
            <a:r>
              <a:rPr sz="1200" b="0">
                <a:solidFill>
                  <a:srgbClr val="4ADE80"/>
                </a:solidFill>
                <a:latin typeface="Menlo"/>
                <a:ea typeface="Apple SD Gothic Neo"/>
              </a:rPr>
              <a:t>+ if (price &lt; 0) throw new</a:t>
            </a:r>
          </a:p>
          <a:p>
            <a:r>
              <a:rPr sz="1200" b="0">
                <a:solidFill>
                  <a:srgbClr val="4ADE80"/>
                </a:solidFill>
                <a:latin typeface="Menlo"/>
                <a:ea typeface="Apple SD Gothic Neo"/>
              </a:rPr>
              <a:t>+   IllegalArgumentException(</a:t>
            </a:r>
          </a:p>
          <a:p>
            <a:r>
              <a:rPr sz="1200" b="0">
                <a:solidFill>
                  <a:srgbClr val="4ADE80"/>
                </a:solidFill>
                <a:latin typeface="Menlo"/>
                <a:ea typeface="Apple SD Gothic Neo"/>
              </a:rPr>
              <a:t>+     "invalid price");</a:t>
            </a:r>
          </a:p>
          <a:p>
            <a:r>
              <a:rPr sz="1200" b="0">
                <a:solidFill>
                  <a:srgbClr val="CFDEEB"/>
                </a:solidFill>
                <a:latin typeface="Menlo"/>
                <a:ea typeface="Apple SD Gothic Neo"/>
              </a:rPr>
              <a:t>  if (rate &lt; 0 || rate &gt; 100)</a:t>
            </a:r>
          </a:p>
          <a:p>
            <a:r>
              <a:rPr sz="1200" b="0">
                <a:solidFill>
                  <a:srgbClr val="CFDEEB"/>
                </a:solidFill>
                <a:latin typeface="Menlo"/>
                <a:ea typeface="Apple SD Gothic Neo"/>
              </a:rPr>
              <a:t>    throw new IllegalArgumentException</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The Great Loops Debate: 아직 논쟁 중</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15 / 19</a:t>
            </a:r>
          </a:p>
        </p:txBody>
      </p:sp>
      <p:sp>
        <p:nvSpPr>
          <p:cNvPr id="5" name="TextBox 4"/>
          <p:cNvSpPr txBox="1"/>
          <p:nvPr/>
        </p:nvSpPr>
        <p:spPr>
          <a:xfrm>
            <a:off x="868680" y="1371600"/>
            <a:ext cx="10515600" cy="365760"/>
          </a:xfrm>
          <a:prstGeom prst="rect">
            <a:avLst/>
          </a:prstGeom>
          <a:noFill/>
        </p:spPr>
        <p:txBody>
          <a:bodyPr wrap="square">
            <a:spAutoFit/>
          </a:bodyPr>
          <a:lstStyle/>
          <a:p>
            <a:r>
              <a:rPr sz="1400" b="0">
                <a:solidFill>
                  <a:srgbClr val="8397AB"/>
                </a:solidFill>
              </a:rPr>
              <a:t>마지막 날 패널 · 사회 Allie Howe: “과대광고와 실제로 되는 것 사이에 차이가 있나?”</a:t>
            </a:r>
          </a:p>
        </p:txBody>
      </p:sp>
      <p:sp>
        <p:nvSpPr>
          <p:cNvPr id="6" name="Rounded Rectangle 5"/>
          <p:cNvSpPr/>
          <p:nvPr/>
        </p:nvSpPr>
        <p:spPr>
          <a:xfrm>
            <a:off x="868680" y="1828800"/>
            <a:ext cx="5120640" cy="178308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t" lIns="201168" rIns="201168" wrap="square"/>
          <a:lstStyle/>
          <a:p>
            <a:pPr algn="l">
              <a:spcAft>
                <a:spcPts val="600"/>
              </a:spcAft>
            </a:pPr>
            <a:r>
              <a:rPr sz="1500" b="1">
                <a:solidFill>
                  <a:srgbClr val="4ADE80"/>
                </a:solidFill>
              </a:rPr>
              <a:t>찬성 — Geoffrey Huntley · Ian Livingstone</a:t>
            </a:r>
          </a:p>
          <a:p>
            <a:pPr algn="l">
              <a:spcAft>
                <a:spcPts val="600"/>
              </a:spcAft>
            </a:pPr>
            <a:r>
              <a:rPr sz="1500" b="1">
                <a:solidFill>
                  <a:srgbClr val="F5F8FD"/>
                </a:solidFill>
              </a:rPr>
              <a:t>“It's inevitable, it's here to stay.”</a:t>
            </a:r>
          </a:p>
          <a:p>
            <a:pPr algn="l">
              <a:spcAft>
                <a:spcPts val="600"/>
              </a:spcAft>
            </a:pPr>
            <a:r>
              <a:rPr sz="1300" b="0">
                <a:solidFill>
                  <a:srgbClr val="CFDEEB"/>
                </a:solidFill>
              </a:rPr>
              <a:t>피할 수 없고, 계속 남는다 (Huntley)</a:t>
            </a:r>
          </a:p>
          <a:p>
            <a:pPr algn="l">
              <a:spcAft>
                <a:spcPts val="600"/>
              </a:spcAft>
            </a:pPr>
            <a:r>
              <a:rPr sz="1300" b="0">
                <a:solidFill>
                  <a:srgbClr val="CFDEEB"/>
                </a:solidFill>
              </a:rPr>
              <a:t>핵심은 검증 가능성 — 코드가 어떻게 만들어졌든 (Livingstone)</a:t>
            </a:r>
          </a:p>
        </p:txBody>
      </p:sp>
      <p:sp>
        <p:nvSpPr>
          <p:cNvPr id="7" name="Rounded Rectangle 6"/>
          <p:cNvSpPr/>
          <p:nvPr/>
        </p:nvSpPr>
        <p:spPr>
          <a:xfrm>
            <a:off x="6263640" y="1828800"/>
            <a:ext cx="5120640" cy="1783080"/>
          </a:xfrm>
          <a:prstGeom prst="roundRect">
            <a:avLst>
              <a:gd name="adj" fmla="val 8000"/>
            </a:avLst>
          </a:prstGeom>
          <a:solidFill>
            <a:srgbClr val="162236"/>
          </a:solidFill>
          <a:ln w="19050">
            <a:solidFill>
              <a:srgbClr val="FACC15"/>
            </a:solidFill>
          </a:ln>
        </p:spPr>
        <p:style>
          <a:lnRef idx="1">
            <a:schemeClr val="accent1"/>
          </a:lnRef>
          <a:fillRef idx="3">
            <a:schemeClr val="accent1"/>
          </a:fillRef>
          <a:effectRef idx="2">
            <a:schemeClr val="accent1"/>
          </a:effectRef>
          <a:fontRef idx="minor">
            <a:schemeClr val="lt1"/>
          </a:fontRef>
        </p:style>
        <p:txBody>
          <a:bodyPr rtlCol="0" anchor="t" lIns="201168" rIns="201168" wrap="square"/>
          <a:lstStyle/>
          <a:p>
            <a:pPr algn="l">
              <a:spcAft>
                <a:spcPts val="600"/>
              </a:spcAft>
            </a:pPr>
            <a:r>
              <a:rPr sz="1500" b="1">
                <a:solidFill>
                  <a:srgbClr val="FACC15"/>
                </a:solidFill>
              </a:rPr>
              <a:t>신중론 — Dex Horthy · Greg Pstrucha</a:t>
            </a:r>
          </a:p>
          <a:p>
            <a:pPr algn="l">
              <a:spcAft>
                <a:spcPts val="600"/>
              </a:spcAft>
            </a:pPr>
            <a:r>
              <a:rPr sz="1500" b="1">
                <a:solidFill>
                  <a:srgbClr val="F5F8FD"/>
                </a:solidFill>
              </a:rPr>
              <a:t>“The hype is outrunning the discipline.”</a:t>
            </a:r>
          </a:p>
          <a:p>
            <a:pPr algn="l">
              <a:spcAft>
                <a:spcPts val="600"/>
              </a:spcAft>
            </a:pPr>
            <a:r>
              <a:rPr sz="1300" b="0">
                <a:solidFill>
                  <a:srgbClr val="CFDEEB"/>
                </a:solidFill>
              </a:rPr>
              <a:t>과대광고가 엔지니어링 규율을 앞지르고 있다 (Horthy)</a:t>
            </a:r>
          </a:p>
          <a:p>
            <a:pPr algn="l">
              <a:spcAft>
                <a:spcPts val="600"/>
              </a:spcAft>
            </a:pPr>
            <a:r>
              <a:rPr sz="1300" b="0">
                <a:solidFill>
                  <a:srgbClr val="CFDEEB"/>
                </a:solidFill>
              </a:rPr>
              <a:t>토큰을 더 사서 문제를 없앨 수는 없다 (Pstrucha)</a:t>
            </a:r>
          </a:p>
          <a:p>
            <a:pPr algn="l">
              <a:spcAft>
                <a:spcPts val="600"/>
              </a:spcAft>
            </a:pPr>
            <a:r>
              <a:rPr sz="1300" b="0">
                <a:solidFill>
                  <a:srgbClr val="FACC15"/>
                </a:solidFill>
              </a:rPr>
              <a:t>→ 작게 시작해서 직관을 쌓아라</a:t>
            </a:r>
          </a:p>
        </p:txBody>
      </p:sp>
      <p:sp>
        <p:nvSpPr>
          <p:cNvPr id="8" name="TextBox 7"/>
          <p:cNvSpPr txBox="1"/>
          <p:nvPr/>
        </p:nvSpPr>
        <p:spPr>
          <a:xfrm>
            <a:off x="868680" y="3840480"/>
            <a:ext cx="10515600" cy="411480"/>
          </a:xfrm>
          <a:prstGeom prst="rect">
            <a:avLst/>
          </a:prstGeom>
          <a:noFill/>
        </p:spPr>
        <p:txBody>
          <a:bodyPr wrap="square">
            <a:spAutoFit/>
          </a:bodyPr>
          <a:lstStyle/>
          <a:p>
            <a:pPr algn="ctr"/>
            <a:r>
              <a:rPr sz="1500" b="0">
                <a:solidFill>
                  <a:srgbClr val="CFDEEB"/>
                </a:solidFill>
              </a:rPr>
              <a:t>“우리는 이제 기관사다. 기차를 레일 위에 유지하는 것이 우리 일이다.” — Geoffrey Huntley</a:t>
            </a:r>
          </a:p>
        </p:txBody>
      </p:sp>
      <p:sp>
        <p:nvSpPr>
          <p:cNvPr id="9" name="Rounded Rectangle 8"/>
          <p:cNvSpPr/>
          <p:nvPr/>
        </p:nvSpPr>
        <p:spPr>
          <a:xfrm>
            <a:off x="86868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95%</a:t>
            </a:r>
          </a:p>
          <a:p>
            <a:pPr algn="ctr"/>
            <a:r>
              <a:rPr sz="1100" b="0">
                <a:solidFill>
                  <a:srgbClr val="CFDEEB"/>
                </a:solidFill>
              </a:rPr>
              <a:t>에이전트 사용 (전년 약 2배)</a:t>
            </a:r>
          </a:p>
        </p:txBody>
      </p:sp>
      <p:sp>
        <p:nvSpPr>
          <p:cNvPr id="10" name="Rounded Rectangle 9"/>
          <p:cNvSpPr/>
          <p:nvPr/>
        </p:nvSpPr>
        <p:spPr>
          <a:xfrm>
            <a:off x="354330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89%</a:t>
            </a:r>
          </a:p>
          <a:p>
            <a:pPr algn="ctr"/>
            <a:r>
              <a:rPr sz="1100" b="0">
                <a:solidFill>
                  <a:srgbClr val="CFDEEB"/>
                </a:solidFill>
              </a:rPr>
              <a:t>에이전트가 데이터 쓰기 가능</a:t>
            </a:r>
          </a:p>
        </p:txBody>
      </p:sp>
      <p:sp>
        <p:nvSpPr>
          <p:cNvPr id="11" name="Rounded Rectangle 10"/>
          <p:cNvSpPr/>
          <p:nvPr/>
        </p:nvSpPr>
        <p:spPr>
          <a:xfrm>
            <a:off x="621792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59%</a:t>
            </a:r>
          </a:p>
          <a:p>
            <a:pPr algn="ctr"/>
            <a:r>
              <a:rPr sz="1100" b="0">
                <a:solidFill>
                  <a:srgbClr val="CFDEEB"/>
                </a:solidFill>
              </a:rPr>
              <a:t>AI 생성 코드의 장기 부채 우려</a:t>
            </a:r>
          </a:p>
        </p:txBody>
      </p:sp>
      <p:sp>
        <p:nvSpPr>
          <p:cNvPr id="12" name="Rounded Rectangle 11"/>
          <p:cNvSpPr/>
          <p:nvPr/>
        </p:nvSpPr>
        <p:spPr>
          <a:xfrm>
            <a:off x="889254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미정</a:t>
            </a:r>
          </a:p>
          <a:p>
            <a:pPr algn="ctr"/>
            <a:r>
              <a:rPr sz="1100" b="0">
                <a:solidFill>
                  <a:srgbClr val="CFDEEB"/>
                </a:solidFill>
              </a:rPr>
              <a:t>에이전트 통제 계층 (아무도 정립 못 함)</a:t>
            </a:r>
          </a:p>
        </p:txBody>
      </p:sp>
      <p:sp>
        <p:nvSpPr>
          <p:cNvPr id="13" name="TextBox 12"/>
          <p:cNvSpPr txBox="1"/>
          <p:nvPr/>
        </p:nvSpPr>
        <p:spPr>
          <a:xfrm>
            <a:off x="868680" y="6053328"/>
            <a:ext cx="10515600" cy="274320"/>
          </a:xfrm>
          <a:prstGeom prst="rect">
            <a:avLst/>
          </a:prstGeom>
          <a:noFill/>
        </p:spPr>
        <p:txBody>
          <a:bodyPr wrap="square">
            <a:spAutoFit/>
          </a:bodyPr>
          <a:lstStyle/>
          <a:p>
            <a:r>
              <a:rPr sz="1000" b="0">
                <a:solidFill>
                  <a:srgbClr val="8397AB"/>
                </a:solidFill>
              </a:rPr>
              <a:t>출처: Latent Space “The great loops debate and the state of AI engineering” (2026-07-03) · 수치: Amplify 2026 AI Engineer Survey (Barr Yaron)</a:t>
            </a:r>
          </a:p>
        </p:txBody>
      </p:sp>
      <p:sp>
        <p:nvSpPr>
          <p:cNvPr id="14" name="TextBox 13"/>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운영 적용 전 꼭 필요한 것</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실행 환경 격리 / 최소 권한 / 비밀정보 제거</a:t>
            </a:r>
          </a:p>
          <a:p>
            <a:pPr>
              <a:spcAft>
                <a:spcPts val="1700"/>
              </a:spcAft>
            </a:pPr>
            <a:r>
              <a:rPr sz="2200">
                <a:solidFill>
                  <a:srgbClr val="CFDEEB"/>
                </a:solidFill>
              </a:rPr>
              <a:t>테스트 및 검증기 변조 방지 (데모 검사는 보안 격리 아님)</a:t>
            </a:r>
          </a:p>
          <a:p>
            <a:pPr>
              <a:spcAft>
                <a:spcPts val="1700"/>
              </a:spcAft>
            </a:pPr>
            <a:r>
              <a:rPr sz="2200">
                <a:solidFill>
                  <a:srgbClr val="CFDEEB"/>
                </a:solidFill>
              </a:rPr>
              <a:t>실행 예산과 타임아웃 / 중복 실행 방지</a:t>
            </a:r>
          </a:p>
          <a:p>
            <a:pPr>
              <a:spcAft>
                <a:spcPts val="1700"/>
              </a:spcAft>
            </a:pPr>
            <a:r>
              <a:rPr sz="2200">
                <a:solidFill>
                  <a:srgbClr val="CFDEEB"/>
                </a:solidFill>
              </a:rPr>
              <a:t>관측성: 실패 원인·변경 diff·비용·횟수</a:t>
            </a:r>
          </a:p>
          <a:p>
            <a:pPr>
              <a:spcAft>
                <a:spcPts val="1700"/>
              </a:spcAft>
            </a:pPr>
            <a:r>
              <a:rPr sz="2200">
                <a:solidFill>
                  <a:srgbClr val="CFDEEB"/>
                </a:solidFill>
              </a:rPr>
              <a:t>Human approval: PR 머지·배포·권한 변경</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16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우리 팀에서 어디에 쓸까?</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API 테스트 자동 생성 및 실패 복구 제안</a:t>
            </a:r>
          </a:p>
          <a:p>
            <a:pPr>
              <a:spcAft>
                <a:spcPts val="1700"/>
              </a:spcAft>
            </a:pPr>
            <a:r>
              <a:rPr sz="2200">
                <a:solidFill>
                  <a:srgbClr val="CFDEEB"/>
                </a:solidFill>
              </a:rPr>
              <a:t>CI 실패 원인 분석 → 수정 PR 초안</a:t>
            </a:r>
          </a:p>
          <a:p>
            <a:pPr>
              <a:spcAft>
                <a:spcPts val="1700"/>
              </a:spcAft>
            </a:pPr>
            <a:r>
              <a:rPr sz="2200">
                <a:solidFill>
                  <a:srgbClr val="CFDEEB"/>
                </a:solidFill>
              </a:rPr>
              <a:t>SonarQube 이슈 수정 → 스캔 → 재검증</a:t>
            </a:r>
          </a:p>
          <a:p>
            <a:pPr>
              <a:spcAft>
                <a:spcPts val="1700"/>
              </a:spcAft>
            </a:pPr>
            <a:r>
              <a:rPr sz="2200">
                <a:solidFill>
                  <a:srgbClr val="CFDEEB"/>
                </a:solidFill>
              </a:rPr>
              <a:t>단, 테스트 기준 변경과 배포는 사람이 승인</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17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핵심 메시지 &amp; Q&amp;A</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18 / 19</a:t>
            </a:r>
          </a:p>
        </p:txBody>
      </p:sp>
      <p:sp>
        <p:nvSpPr>
          <p:cNvPr id="5" name="Rounded Rectangle 4"/>
          <p:cNvSpPr/>
          <p:nvPr/>
        </p:nvSpPr>
        <p:spPr>
          <a:xfrm>
            <a:off x="868680" y="1463040"/>
            <a:ext cx="10515600" cy="1600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2200" b="1">
                <a:solidFill>
                  <a:srgbClr val="F5F8FD"/>
                </a:solidFill>
              </a:rPr>
              <a:t>Loop는 AI를 여러 번 돌리는 기술이 아니라</a:t>
            </a:r>
          </a:p>
          <a:p>
            <a:pPr algn="ctr">
              <a:spcAft>
                <a:spcPts val="200"/>
              </a:spcAft>
            </a:pPr>
            <a:r>
              <a:rPr sz="2200" b="1">
                <a:solidFill>
                  <a:srgbClr val="31D3B1"/>
                </a:solidFill>
              </a:rPr>
              <a:t>실행 · 검증 · 피드백 · 종료 조건을 설계해</a:t>
            </a:r>
          </a:p>
          <a:p>
            <a:pPr algn="ctr">
              <a:spcAft>
                <a:spcPts val="200"/>
              </a:spcAft>
            </a:pPr>
            <a:r>
              <a:rPr sz="2200" b="1">
                <a:solidFill>
                  <a:srgbClr val="F5F8FD"/>
                </a:solidFill>
              </a:rPr>
              <a:t>목표 달성을 관리하는 방식이다</a:t>
            </a:r>
          </a:p>
        </p:txBody>
      </p:sp>
      <p:sp>
        <p:nvSpPr>
          <p:cNvPr id="6" name="Rounded Rectangle 5"/>
          <p:cNvSpPr/>
          <p:nvPr/>
        </p:nvSpPr>
        <p:spPr>
          <a:xfrm>
            <a:off x="8686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① Inner ≠ Outer</a:t>
            </a:r>
          </a:p>
          <a:p>
            <a:pPr algn="ctr">
              <a:spcAft>
                <a:spcPts val="400"/>
              </a:spcAft>
            </a:pPr>
            <a:r>
              <a:rPr sz="1300" b="0">
                <a:solidFill>
                  <a:srgbClr val="CFDEEB"/>
                </a:solidFill>
              </a:rPr>
              <a:t>세션 안의 반복과 세션 바깥의 반복은 다르다</a:t>
            </a:r>
          </a:p>
        </p:txBody>
      </p:sp>
      <p:sp>
        <p:nvSpPr>
          <p:cNvPr id="7" name="Rounded Rectangle 6"/>
          <p:cNvSpPr/>
          <p:nvPr/>
        </p:nvSpPr>
        <p:spPr>
          <a:xfrm>
            <a:off x="44500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② 테스트가 끝을 정한다</a:t>
            </a:r>
          </a:p>
          <a:p>
            <a:pPr algn="ctr">
              <a:spcAft>
                <a:spcPts val="400"/>
              </a:spcAft>
            </a:pPr>
            <a:r>
              <a:rPr sz="1300" b="0">
                <a:solidFill>
                  <a:srgbClr val="CFDEEB"/>
                </a:solidFill>
              </a:rPr>
              <a:t>AI의 완료 선언이 아니라 독립된 검증</a:t>
            </a:r>
          </a:p>
        </p:txBody>
      </p:sp>
      <p:sp>
        <p:nvSpPr>
          <p:cNvPr id="8" name="Rounded Rectangle 7"/>
          <p:cNvSpPr/>
          <p:nvPr/>
        </p:nvSpPr>
        <p:spPr>
          <a:xfrm>
            <a:off x="80314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③ 한도와 기록은 필수</a:t>
            </a:r>
          </a:p>
          <a:p>
            <a:pPr algn="ctr">
              <a:spcAft>
                <a:spcPts val="400"/>
              </a:spcAft>
            </a:pPr>
            <a:r>
              <a:rPr sz="1300" b="0">
                <a:solidFill>
                  <a:srgbClr val="CFDEEB"/>
                </a:solidFill>
              </a:rPr>
              <a:t>반복 횟수 · 타임아웃 · 권한 · 로그</a:t>
            </a:r>
          </a:p>
        </p:txBody>
      </p:sp>
      <p:sp>
        <p:nvSpPr>
          <p:cNvPr id="9" name="TextBox 8"/>
          <p:cNvSpPr txBox="1"/>
          <p:nvPr/>
        </p:nvSpPr>
        <p:spPr>
          <a:xfrm>
            <a:off x="868680" y="4663440"/>
            <a:ext cx="10515600" cy="365760"/>
          </a:xfrm>
          <a:prstGeom prst="rect">
            <a:avLst/>
          </a:prstGeom>
          <a:noFill/>
        </p:spPr>
        <p:txBody>
          <a:bodyPr wrap="square">
            <a:spAutoFit/>
          </a:bodyPr>
          <a:lstStyle/>
          <a:p>
            <a:pPr algn="ctr"/>
            <a:r>
              <a:rPr sz="1400" b="0">
                <a:solidFill>
                  <a:srgbClr val="8397AB"/>
                </a:solidFill>
              </a:rPr>
              <a:t>오늘 데모 = Goal Loop의 한 구현 사례 (Software Factory 전체가 아님)</a:t>
            </a:r>
          </a:p>
        </p:txBody>
      </p:sp>
      <p:sp>
        <p:nvSpPr>
          <p:cNvPr id="10" name="Rounded Rectangle 9"/>
          <p:cNvSpPr/>
          <p:nvPr/>
        </p:nvSpPr>
        <p:spPr>
          <a:xfrm>
            <a:off x="868680" y="5166360"/>
            <a:ext cx="10515600" cy="731520"/>
          </a:xfrm>
          <a:prstGeom prst="roundRect">
            <a:avLst>
              <a:gd name="adj" fmla="val 8000"/>
            </a:avLst>
          </a:prstGeom>
          <a:solidFill>
            <a:srgbClr val="162236"/>
          </a:solidFill>
          <a:ln w="1905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F5F8FD"/>
                </a:solidFill>
              </a:rPr>
              <a:t>Q&amp;A — 우리 팀의 어떤 작업을 먼저 Loop로 만들어 볼까?</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참고 자료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19 / 19</a:t>
            </a:r>
          </a:p>
        </p:txBody>
      </p:sp>
      <p:sp>
        <p:nvSpPr>
          <p:cNvPr id="5" name="TextBox 4"/>
          <p:cNvSpPr txBox="1"/>
          <p:nvPr/>
        </p:nvSpPr>
        <p:spPr>
          <a:xfrm>
            <a:off x="868680" y="1417320"/>
            <a:ext cx="10515600" cy="4572000"/>
          </a:xfrm>
          <a:prstGeom prst="rect">
            <a:avLst/>
          </a:prstGeom>
          <a:noFill/>
        </p:spPr>
        <p:txBody>
          <a:bodyPr wrap="square">
            <a:spAutoFit/>
          </a:bodyPr>
          <a:lstStyle/>
          <a:p>
            <a:pPr>
              <a:spcAft>
                <a:spcPts val="0"/>
              </a:spcAft>
            </a:pPr>
            <a:r>
              <a:rPr sz="1300" b="1">
                <a:solidFill>
                  <a:srgbClr val="F5F8FD"/>
                </a:solidFill>
              </a:rPr>
              <a:t>swyx — The Highest Loop (AI Engineer World's Fair 2026 오프닝 키노트)</a:t>
            </a:r>
          </a:p>
          <a:p>
            <a:pPr>
              <a:spcAft>
                <a:spcPts val="700"/>
              </a:spcAft>
            </a:pPr>
            <a:r>
              <a:rPr sz="1000" b="0">
                <a:solidFill>
                  <a:srgbClr val="31D3B1"/>
                </a:solidFill>
                <a:hlinkClick r:id="rId3"/>
              </a:rPr>
              <a:t>https://github-main-preview.ai.engineer/talks/Fva8hFosqyQ-highest-loop-swyx</a:t>
            </a:r>
          </a:p>
          <a:p>
            <a:pPr>
              <a:spcAft>
                <a:spcPts val="0"/>
              </a:spcAft>
            </a:pPr>
            <a:r>
              <a:rPr sz="1300" b="1">
                <a:solidFill>
                  <a:srgbClr val="F5F8FD"/>
                </a:solidFill>
              </a:rPr>
              <a:t>Kyle Mistele — Loop Engineering from First Principles</a:t>
            </a:r>
          </a:p>
          <a:p>
            <a:pPr>
              <a:spcAft>
                <a:spcPts val="700"/>
              </a:spcAft>
            </a:pPr>
            <a:r>
              <a:rPr sz="1000" b="0">
                <a:solidFill>
                  <a:srgbClr val="31D3B1"/>
                </a:solidFill>
                <a:hlinkClick r:id="rId4"/>
              </a:rPr>
              <a:t>https://github-main-preview.ai.engineer/talks/xIt_mTQp6mY-loop-engineering-from-first-principles</a:t>
            </a:r>
          </a:p>
          <a:p>
            <a:pPr>
              <a:spcAft>
                <a:spcPts val="0"/>
              </a:spcAft>
            </a:pPr>
            <a:r>
              <a:rPr sz="1300" b="1">
                <a:solidFill>
                  <a:srgbClr val="F5F8FD"/>
                </a:solidFill>
              </a:rPr>
              <a:t>Latent Space — AIEWF Daily Dispatch: Loops, Software Factories &amp; FDEs (2026-07-01)</a:t>
            </a:r>
          </a:p>
          <a:p>
            <a:pPr>
              <a:spcAft>
                <a:spcPts val="700"/>
              </a:spcAft>
            </a:pPr>
            <a:r>
              <a:rPr sz="1000" b="0">
                <a:solidFill>
                  <a:srgbClr val="31D3B1"/>
                </a:solidFill>
                <a:hlinkClick r:id="rId5"/>
              </a:rPr>
              <a:t>https://www.latent.space/p/aiewf-daily-dispatch-loops</a:t>
            </a:r>
          </a:p>
          <a:p>
            <a:pPr>
              <a:spcAft>
                <a:spcPts val="0"/>
              </a:spcAft>
            </a:pPr>
            <a:r>
              <a:rPr sz="1300" b="1">
                <a:solidFill>
                  <a:srgbClr val="F5F8FD"/>
                </a:solidFill>
              </a:rPr>
              <a:t>Latent Space — The great loops debate and the state of AI engineering (2026-07-03)</a:t>
            </a:r>
          </a:p>
          <a:p>
            <a:pPr>
              <a:spcAft>
                <a:spcPts val="700"/>
              </a:spcAft>
            </a:pPr>
            <a:r>
              <a:rPr sz="1000" b="0">
                <a:solidFill>
                  <a:srgbClr val="31D3B1"/>
                </a:solidFill>
                <a:hlinkClick r:id="rId6"/>
              </a:rPr>
              <a:t>https://www.latent.space/p/aiewf-daily-dispatch-locomotives</a:t>
            </a:r>
          </a:p>
          <a:p>
            <a:pPr>
              <a:spcAft>
                <a:spcPts val="0"/>
              </a:spcAft>
            </a:pPr>
            <a:r>
              <a:rPr sz="1300" b="1">
                <a:solidFill>
                  <a:srgbClr val="F5F8FD"/>
                </a:solidFill>
              </a:rPr>
              <a:t>Business Insider — Forget prompt engineering: ‘Loop engineering’ is all the rage now (2026-06-20)</a:t>
            </a:r>
          </a:p>
          <a:p>
            <a:pPr>
              <a:spcAft>
                <a:spcPts val="700"/>
              </a:spcAft>
            </a:pPr>
            <a:r>
              <a:rPr sz="1000" b="0">
                <a:solidFill>
                  <a:srgbClr val="31D3B1"/>
                </a:solidFill>
                <a:hlinkClick r:id="rId7"/>
              </a:rPr>
              <a:t>https://www.businessinsider.com/what-are-loops-ai-engineering-tips-2026-6</a:t>
            </a:r>
          </a:p>
          <a:p>
            <a:pPr>
              <a:spcAft>
                <a:spcPts val="0"/>
              </a:spcAft>
            </a:pPr>
            <a:r>
              <a:rPr sz="1300" b="1">
                <a:solidFill>
                  <a:srgbClr val="F5F8FD"/>
                </a:solidFill>
              </a:rPr>
              <a:t>Philipp Schmid — Agents: Inner Loop vs Outer Loop (2026-02-20)</a:t>
            </a:r>
          </a:p>
          <a:p>
            <a:pPr>
              <a:spcAft>
                <a:spcPts val="700"/>
              </a:spcAft>
            </a:pPr>
            <a:r>
              <a:rPr sz="1000" b="0">
                <a:solidFill>
                  <a:srgbClr val="31D3B1"/>
                </a:solidFill>
                <a:hlinkClick r:id="rId10"/>
              </a:rPr>
              <a:t>https://www.philschmid.de/inner-loop-vs-outer-loop</a:t>
            </a:r>
          </a:p>
          <a:p>
            <a:pPr>
              <a:spcAft>
                <a:spcPts val="0"/>
              </a:spcAft>
            </a:pPr>
            <a:r>
              <a:rPr sz="1300" b="1">
                <a:solidFill>
                  <a:srgbClr val="F5F8FD"/>
                </a:solidFill>
              </a:rPr>
              <a:t>The AI Automators — The 4 Levels of Loop Engineering (2026-07)</a:t>
            </a:r>
          </a:p>
          <a:p>
            <a:pPr>
              <a:spcAft>
                <a:spcPts val="700"/>
              </a:spcAft>
            </a:pPr>
            <a:r>
              <a:rPr sz="1000" b="0">
                <a:solidFill>
                  <a:srgbClr val="31D3B1"/>
                </a:solidFill>
                <a:hlinkClick r:id="rId11"/>
              </a:rPr>
              <a:t>https://www.theaiautomators.com/levels-of-loop-engineering/</a:t>
            </a:r>
          </a:p>
          <a:p>
            <a:pPr>
              <a:spcAft>
                <a:spcPts val="0"/>
              </a:spcAft>
            </a:pPr>
            <a:r>
              <a:rPr sz="1300" b="1">
                <a:solidFill>
                  <a:srgbClr val="F5F8FD"/>
                </a:solidFill>
              </a:rPr>
              <a:t>Kiro CLI — headless / non-interactive 실행</a:t>
            </a:r>
          </a:p>
          <a:p>
            <a:pPr>
              <a:spcAft>
                <a:spcPts val="700"/>
              </a:spcAft>
            </a:pPr>
            <a:r>
              <a:rPr sz="1000" b="0">
                <a:solidFill>
                  <a:srgbClr val="31D3B1"/>
                </a:solidFill>
                <a:hlinkClick r:id="rId8"/>
              </a:rPr>
              <a:t>https://kiro.dev/docs/cli/headless/</a:t>
            </a:r>
          </a:p>
          <a:p>
            <a:pPr>
              <a:spcAft>
                <a:spcPts val="0"/>
              </a:spcAft>
            </a:pPr>
            <a:r>
              <a:rPr sz="1300" b="1">
                <a:solidFill>
                  <a:srgbClr val="F5F8FD"/>
                </a:solidFill>
              </a:rPr>
              <a:t>데모 저장소 — Java + Kiro CLI Outer Loop</a:t>
            </a:r>
          </a:p>
          <a:p>
            <a:pPr>
              <a:spcAft>
                <a:spcPts val="700"/>
              </a:spcAft>
            </a:pPr>
            <a:r>
              <a:rPr sz="1000" b="0">
                <a:solidFill>
                  <a:srgbClr val="31D3B1"/>
                </a:solidFill>
                <a:hlinkClick r:id="rId9"/>
              </a:rPr>
              <a:t>https://github.com/jaewon-i/kiro-agent-loop-demo</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참고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