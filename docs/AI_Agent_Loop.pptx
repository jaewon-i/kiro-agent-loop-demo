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7" r:id="rId18"/>
    <p:sldId id="268" r:id="rId20"/>
    <p:sldId id="269" r:id="rId21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2026-10-20 Mac, kiro-cli 2.32.0 실제 실행 결과 (docs/captures/run-kiro-real.txt). 쉬운 목표는 1회에 끝나는 것이 정상이다. 그래도 완료 판정은 Kiro가 아니라 Controller의 QA Gate가 내렸다는 점을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--inject-fault는 명시적 데모 모드다. 1회차에 Kiro는 올바르게 고쳤지만 Controller가 일부러 가격 검증을 지웠다. 이 실패는 AI의 실패가 아니라고 반드시 말할 것. 보여줄 핵심: 사람 입력 없이 실패 로그가 새 Kiro 세션에 전달되고 2회차에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모든 판정과 변경은 .loop/에 남는다 (docs/captures/loop-inject-fault/). 가드레일 검증: 에이전트가 테스트 파일을 바꾸는 상황을 시뮬레이션하자 Controller가 복원하고 GUARDRAIL_STOP(exit 3)으로 종료했다. 단, 이 검사는 보안 샌드박스가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AI Agent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700">
                <a:solidFill>
                  <a:srgbClr val="CFDEEB"/>
                </a:solidFill>
              </a:rPr>
              <a:t>프롬프트 한 번에서 자율 개발 시스템까지</a:t>
            </a:r>
          </a:p>
          <a:p>
            <a:pPr>
              <a:spcAft>
                <a:spcPts val="1700"/>
              </a:spcAft>
            </a:pPr>
            <a:r>
              <a:rPr sz="2700">
                <a:solidFill>
                  <a:srgbClr val="CFDEEB"/>
                </a:solidFill>
              </a:rPr>
              <a:t>2026.10.21 · 개발자 대상 30분 데모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오늘 가져갈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1. Agent 내부의 도구 호출 반복과 외부 Loop는 다르다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2. AI의 완료 선언이 아니라 독립적인 테스트가 종료를 결정한다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3. 반복 횟수·타임아웃·권한·로그는 필수다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기존 방식 vs 자율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기존: 사람 요청 → AI 작성 → 사람 검증 → 사람 재요청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자율: 목표 → AI 실행 → 테스트 → 실패 피드백 → 새 AI 세션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성공 또는 중단 조건까지 외부 Controller가 반복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두 종류의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Inner Loop: 하나의 AI 세션 안에서 모델↔도구 실행 반복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Outer Loop: 외부 프로그램이 세션 실행↔독립 검증 반복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이번 데모는 Outer Loop에 초점을 맞춘다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구성 요소 5개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Goal: 요구사항 / Acceptance: verify.py (Java 테스트)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Worker: Kiro CLI 2.32.0 (비대화형, 매 회 새 세션)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Controller: Python loop.py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Memory: QA 실패 출력 + .loop/ 실행 기록·diff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Guardrails: 최대 5회, 세션 타임아웃, 보호 파일 검사,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   fs_read/fs_write 도구만 허용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데모 시나리오: 할인 계산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정상: 1,000원에 10% 할인 → 900원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경계: 0% → 1,000원, 100% → 0원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예외: 할인율 -1%, 101%, 금액 -1원 → IllegalArgumentException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초기 구현은 잘못된 입력을 모두 허용한다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목표: 테스트를 건드리지 않고 코드를 고쳐 모두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데모 실행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1. python3 verify.py → FAIL 확인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2. python3 loop.py --provider mock --reset (리허설)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3. python3 loop.py --provider kiro --reset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4. ... --provider kiro --reset --inject-fault (데모 모드)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5. .loop/summary.json · iteration-NN.json · diff-NN.patch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왜 단순 프롬프트와 다른가?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AI 세션이 끝나도 Controller가 결과를 판정한다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실패 로그를 다음 새 세션에 전달한다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모델이 “성공”이라고 해도 테스트가 실패하면 반복한다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최대 반복 횟수에 도달하면 실패로 종료한다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11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운영 적용 전 꼭 필요한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실행 환경 격리 / 최소 권한 / 비밀정보 제거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테스트 및 검증기 변조 방지 (데모 검사는 보안 격리 아님)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실행 예산과 타임아웃 / 중복 실행 방지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관측성: 실패 원인·변경 diff·비용·횟수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Human approval: PR 머지·배포·권한 변경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12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우리 팀에서 어디에 쓸까?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API 테스트 자동 생성 및 실패 복구 제안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CI 실패 원인 분석 → 수정 PR 초안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SonarQube 이슈 수정 → 스캔 → 재검증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단, 테스트 기준 변경과 배포는 사람이 승인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13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핵심 메시지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Loop = AI를 계속 돌리는 기술이 아니라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“목표 → 실행 → 독립 검증 → 피드백”을</a:t>
            </a: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통제 가능한 시스템으로 만드는 방법</a:t>
            </a:r>
          </a:p>
          <a:p>
            <a:pPr>
              <a:spcAft>
                <a:spcPts val="1700"/>
              </a:spcAft>
            </a:pPr>
          </a:p>
          <a:p>
            <a:pPr>
              <a:spcAft>
                <a:spcPts val="1700"/>
              </a:spcAft>
            </a:pPr>
            <a:r>
              <a:rPr sz="2200">
                <a:solidFill>
                  <a:srgbClr val="CFDEEB"/>
                </a:solidFill>
              </a:rPr>
              <a:t>질문: 우리 팀의 어떤 작업을 먼저 Loop로 만들까?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8397AB"/>
                </a:solidFill>
              </a:rPr>
              <a:t>AI Agent Loop · 2026.10.21                                     14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실제 실행 ①: Kiro가 1회에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397AB"/>
                </a:solidFill>
              </a:rPr>
              <a:t>AI Agent Loop · 2026.10.21                                     08 /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463040"/>
            <a:ext cx="10515600" cy="3840480"/>
          </a:xfrm>
          <a:prstGeom prst="roundRect">
            <a:avLst>
              <a:gd name="adj" fmla="val 3000"/>
            </a:avLst>
          </a:prstGeom>
          <a:solidFill>
            <a:srgbClr val="050A12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1554480"/>
            <a:ext cx="10149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1D3B1"/>
                </a:solidFill>
                <a:latin typeface="Menlo"/>
              </a:rPr>
              <a:t>$ python3 loop.py --provider kiro --reset</a:t>
            </a:r>
          </a:p>
          <a:p>
            <a:r>
              <a:rPr sz="1300" b="0">
                <a:solidFill>
                  <a:srgbClr val="FF6B6B"/>
                </a:solidFill>
                <a:latin typeface="Menlo"/>
              </a:rPr>
              <a:t>[QA GATE] initial: FAIL</a:t>
            </a:r>
          </a:p>
          <a:p>
            <a:r>
              <a:rPr sz="1300" b="0">
                <a:solidFill>
                  <a:srgbClr val="CFDEEB"/>
                </a:solidFill>
                <a:latin typeface="Menlo"/>
              </a:rPr>
              <a:t>  AssertionError: Expected IllegalArgumentException for rate=-1</a:t>
            </a:r>
          </a:p>
          <a:p>
            <a:r>
              <a:rPr sz="1300" b="0">
                <a:solidFill>
                  <a:srgbClr val="31D3B1"/>
                </a:solidFill>
                <a:latin typeface="Menlo"/>
              </a:rPr>
              <a:t>[LOOP 1/5] starting NEW kiro session (no human input)</a:t>
            </a:r>
          </a:p>
          <a:p>
            <a:r>
              <a:rPr sz="1300" b="0">
                <a:solidFill>
                  <a:srgbClr val="8397AB"/>
                </a:solidFill>
                <a:latin typeface="Menlo"/>
              </a:rPr>
              <a:t>  │ [tool] Reading DiscountCalculator.java, DiscountTest.java</a:t>
            </a:r>
          </a:p>
          <a:p>
            <a:r>
              <a:rPr sz="1300" b="0">
                <a:solidFill>
                  <a:srgbClr val="8397AB"/>
                </a:solidFill>
                <a:latin typeface="Menlo"/>
              </a:rPr>
              <a:t>  │ [tool] Editing DiscountCalculator.java</a:t>
            </a:r>
          </a:p>
          <a:p>
            <a:r>
              <a:rPr sz="1300" b="0">
                <a:solidFill>
                  <a:srgbClr val="8397AB"/>
                </a:solidFill>
                <a:latin typeface="Menlo"/>
              </a:rPr>
              <a:t>  │ Added guards ... rate outside [0,100] or price is negative</a:t>
            </a:r>
          </a:p>
          <a:p>
            <a:r>
              <a:rPr sz="1300" b="0">
                <a:solidFill>
                  <a:srgbClr val="8397AB"/>
                </a:solidFill>
                <a:latin typeface="Menlo"/>
              </a:rPr>
              <a:t>  [AGENT] session ended: exit=0 (17.4s). Agent claim is NOT trusted</a:t>
            </a:r>
          </a:p>
          <a:p>
            <a:r>
              <a:rPr sz="1300" b="0">
                <a:solidFill>
                  <a:srgbClr val="4ADE80"/>
                </a:solidFill>
                <a:latin typeface="Menlo"/>
              </a:rPr>
              <a:t>[QA GATE] PASS   ALL TESTS PASSED</a:t>
            </a:r>
          </a:p>
          <a:p>
            <a:r>
              <a:rPr sz="1300" b="0">
                <a:solidFill>
                  <a:srgbClr val="4ADE80"/>
                </a:solidFill>
                <a:latin typeface="Menlo"/>
              </a:rPr>
              <a:t>SUCCESS: QA Gate passed on iteration 1. Controller stops the 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440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DEEB"/>
                </a:solidFill>
              </a:rPr>
              <a:t>쉬운 목표는 1회에 끝나는 게 정상 — 그래도 "완료"는 Kiro가 아니라 QA Gate가 승인했다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실제 실행 ②: QA FAIL → 새 세션 자동 실행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397AB"/>
                </a:solidFill>
              </a:rPr>
              <a:t>AI Agent Loop · 2026.10.21                                     09 /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371600"/>
            <a:ext cx="10515600" cy="4206240"/>
          </a:xfrm>
          <a:prstGeom prst="roundRect">
            <a:avLst>
              <a:gd name="adj" fmla="val 3000"/>
            </a:avLst>
          </a:prstGeom>
          <a:solidFill>
            <a:srgbClr val="050A12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1463040"/>
            <a:ext cx="10149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1D3B1"/>
                </a:solidFill>
                <a:latin typeface="Menlo"/>
              </a:rPr>
              <a:t>$ python3 loop.py --provider kiro --reset --inject-fault</a:t>
            </a:r>
          </a:p>
          <a:p>
            <a:r>
              <a:rPr sz="1200" b="0">
                <a:solidFill>
                  <a:srgbClr val="31D3B1"/>
                </a:solidFill>
                <a:latin typeface="Menlo"/>
              </a:rPr>
              <a:t>[LOOP 1/5] starting NEW kiro session (no human input)</a:t>
            </a:r>
          </a:p>
          <a:p>
            <a:r>
              <a:rPr sz="1200" b="0">
                <a:solidFill>
                  <a:srgbClr val="8397AB"/>
                </a:solidFill>
                <a:latin typeface="Menlo"/>
              </a:rPr>
              <a:t>  │ [tool] Editing DiscountCalculator.java     (16.5s, exit=0)</a:t>
            </a:r>
          </a:p>
          <a:p>
            <a:r>
              <a:rPr sz="1200" b="0">
                <a:solidFill>
                  <a:srgbClr val="FACC15"/>
                </a:solidFill>
                <a:latin typeface="Menlo"/>
              </a:rPr>
              <a:t>[FAULT INJECTION] controller removed price validation (NOT the AI's)</a:t>
            </a:r>
          </a:p>
          <a:p>
            <a:r>
              <a:rPr sz="1200" b="0">
                <a:solidFill>
                  <a:srgbClr val="FF6B6B"/>
                </a:solidFill>
                <a:latin typeface="Menlo"/>
              </a:rPr>
              <a:t>[QA GATE] FAIL</a:t>
            </a:r>
          </a:p>
          <a:p>
            <a:r>
              <a:rPr sz="1200" b="0">
                <a:solidFill>
                  <a:srgbClr val="CFDEEB"/>
                </a:solidFill>
                <a:latin typeface="Menlo"/>
              </a:rPr>
              <a:t>  AssertionError: Expected IllegalArgumentException for price=-1</a:t>
            </a:r>
          </a:p>
          <a:p>
            <a:r>
              <a:rPr sz="1200" b="0">
                <a:solidFill>
                  <a:srgbClr val="31D3B1"/>
                </a:solidFill>
                <a:latin typeface="Menlo"/>
              </a:rPr>
              <a:t>[LOOP] QA failed -&gt; feeding failure log into a NEW session</a:t>
            </a:r>
          </a:p>
          <a:p>
            <a:r>
              <a:rPr sz="1200" b="0">
                <a:solidFill>
                  <a:srgbClr val="31D3B1"/>
                </a:solidFill>
                <a:latin typeface="Menlo"/>
              </a:rPr>
              <a:t>[LOOP 2/5] starting NEW kiro session (no human input)</a:t>
            </a:r>
          </a:p>
          <a:p>
            <a:r>
              <a:rPr sz="1200" b="0">
                <a:solidFill>
                  <a:srgbClr val="8397AB"/>
                </a:solidFill>
                <a:latin typeface="Menlo"/>
              </a:rPr>
              <a:t>  │ The fix is to add price validation. I'll add a check for price &lt; 0</a:t>
            </a:r>
          </a:p>
          <a:p>
            <a:r>
              <a:rPr sz="1200" b="0">
                <a:solidFill>
                  <a:srgbClr val="8397AB"/>
                </a:solidFill>
                <a:latin typeface="Menlo"/>
              </a:rPr>
              <a:t>  │ [tool] Editing DiscountCalculator.java     (17.2s, exit=0)</a:t>
            </a:r>
          </a:p>
          <a:p>
            <a:r>
              <a:rPr sz="1200" b="0">
                <a:solidFill>
                  <a:srgbClr val="4ADE80"/>
                </a:solidFill>
                <a:latin typeface="Menlo"/>
              </a:rPr>
              <a:t>[QA GATE] PASS   ALL TESTS PASSED</a:t>
            </a:r>
          </a:p>
          <a:p>
            <a:r>
              <a:rPr sz="1200" b="0">
                <a:solidFill>
                  <a:srgbClr val="FF6B6B"/>
                </a:solidFill>
                <a:latin typeface="Menlo"/>
              </a:rPr>
              <a:t>RESULT=PASS  iterations=2   loop 1: FAIL (fault injected) / loop 2: PASS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669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FACC15"/>
                </a:solidFill>
              </a:rPr>
              <a:t>※ 1회차 실패는 Controller가 의도적으로 주입한 것 (AI 실패 아님)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658368"/>
            <a:ext cx="82296" cy="585216"/>
          </a:xfrm>
          <a:prstGeom prst="rect">
            <a:avLst/>
          </a:prstGeom>
          <a:solidFill>
            <a:srgbClr val="31D3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5F8FD"/>
                </a:solidFill>
              </a:rPr>
              <a:t>증거: Controller가 남긴 기록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6492240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8397AB"/>
                </a:solidFill>
              </a:rPr>
              <a:t>AI Agent Loop · 2026.10.21                                     10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DEEB"/>
                </a:solidFill>
              </a:rPr>
              <a:t>.loop/summary.json — 결과·반복 횟수</a:t>
            </a:r>
          </a:p>
          <a:p>
            <a:r>
              <a:rPr sz="1800" b="0">
                <a:solidFill>
                  <a:srgbClr val="CFDEEB"/>
                </a:solidFill>
              </a:rPr>
              <a:t>iteration-NN.json — 회차별 QA 출력</a:t>
            </a:r>
          </a:p>
          <a:p>
            <a:r>
              <a:rPr sz="1800" b="0">
                <a:solidFill>
                  <a:srgbClr val="CFDEEB"/>
                </a:solidFill>
              </a:rPr>
              <a:t>agent-NN.log — Kiro 세션 전체 로그</a:t>
            </a:r>
          </a:p>
          <a:p>
            <a:r>
              <a:rPr sz="1800" b="0">
                <a:solidFill>
                  <a:srgbClr val="CFDEEB"/>
                </a:solidFill>
              </a:rPr>
              <a:t>diff-NN.patch — AI가 바꾼 코드</a:t>
            </a:r>
          </a:p>
          <a:p>
            <a:r>
              <a:rPr sz="1800" b="0">
                <a:solidFill>
                  <a:srgbClr val="CFDEEB"/>
                </a:solidFill>
              </a:rPr>
              <a:t/>
            </a:r>
          </a:p>
          <a:p>
            <a:r>
              <a:rPr sz="1800" b="0">
                <a:solidFill>
                  <a:srgbClr val="31D3B1"/>
                </a:solidFill>
              </a:rPr>
              <a:t>보호 파일 변조 시뮬레이션</a:t>
            </a:r>
          </a:p>
          <a:p>
            <a:r>
              <a:rPr sz="1800" b="0">
                <a:solidFill>
                  <a:srgbClr val="CFDEEB"/>
                </a:solidFill>
              </a:rPr>
              <a:t>→ 자동 복원 + GUARDRAIL_STOP</a:t>
            </a:r>
          </a:p>
          <a:p>
            <a:r>
              <a:rPr sz="1800" b="0">
                <a:solidFill>
                  <a:srgbClr val="CFDEEB"/>
                </a:solidFill>
              </a:rPr>
              <a:t>셸 도구 요청 → 비대화형 모드에서 거부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0840" y="1463040"/>
            <a:ext cx="4663440" cy="3840480"/>
          </a:xfrm>
          <a:prstGeom prst="roundRect">
            <a:avLst>
              <a:gd name="adj" fmla="val 3000"/>
            </a:avLst>
          </a:prstGeom>
          <a:solidFill>
            <a:srgbClr val="050A12"/>
          </a:solidFill>
          <a:ln>
            <a:solidFill>
              <a:srgbClr val="2A3B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903720" y="1554480"/>
            <a:ext cx="4297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FDEEB"/>
                </a:solidFill>
                <a:latin typeface="Menlo"/>
              </a:rPr>
              <a:t>diff-02.patch  (LOOP 2, Kiro)</a:t>
            </a:r>
          </a:p>
          <a:p>
            <a:r>
              <a:rPr sz="1200" b="0">
                <a:solidFill>
                  <a:srgbClr val="CFDEEB"/>
                </a:solidFill>
                <a:latin typeface="Menlo"/>
              </a:rPr>
              <a:t/>
            </a:r>
          </a:p>
          <a:p>
            <a:r>
              <a:rPr sz="1200" b="0">
                <a:solidFill>
                  <a:srgbClr val="CFDEEB"/>
                </a:solidFill>
                <a:latin typeface="Menlo"/>
              </a:rPr>
              <a:t>  public static int discount(</a:t>
            </a:r>
          </a:p>
          <a:p>
            <a:r>
              <a:rPr sz="1200" b="0">
                <a:solidFill>
                  <a:srgbClr val="CFDEEB"/>
                </a:solidFill>
                <a:latin typeface="Menlo"/>
              </a:rPr>
              <a:t>      int price, int rate) {</a:t>
            </a:r>
          </a:p>
          <a:p>
            <a:r>
              <a:rPr sz="1200" b="0">
                <a:solidFill>
                  <a:srgbClr val="FF6B6B"/>
                </a:solidFill>
                <a:latin typeface="Menlo"/>
              </a:rPr>
              <a:t>- // [FAULT INJECTION] price</a:t>
            </a:r>
          </a:p>
          <a:p>
            <a:r>
              <a:rPr sz="1200" b="0">
                <a:solidFill>
                  <a:srgbClr val="FF6B6B"/>
                </a:solidFill>
                <a:latin typeface="Menlo"/>
              </a:rPr>
              <a:t>-    validation removed</a:t>
            </a:r>
          </a:p>
          <a:p>
            <a:r>
              <a:rPr sz="1200" b="0">
                <a:solidFill>
                  <a:srgbClr val="4ADE80"/>
                </a:solidFill>
                <a:latin typeface="Menlo"/>
              </a:rPr>
              <a:t>+ if (price &lt; 0) throw new</a:t>
            </a:r>
          </a:p>
          <a:p>
            <a:r>
              <a:rPr sz="1200" b="0">
                <a:solidFill>
                  <a:srgbClr val="4ADE80"/>
                </a:solidFill>
                <a:latin typeface="Menlo"/>
              </a:rPr>
              <a:t>+   IllegalArgumentException(</a:t>
            </a:r>
          </a:p>
          <a:p>
            <a:r>
              <a:rPr sz="1200" b="0">
                <a:solidFill>
                  <a:srgbClr val="4ADE80"/>
                </a:solidFill>
                <a:latin typeface="Menlo"/>
              </a:rPr>
              <a:t>+     "invalid price");</a:t>
            </a:r>
          </a:p>
          <a:p>
            <a:r>
              <a:rPr sz="1200" b="0">
                <a:solidFill>
                  <a:srgbClr val="CFDEEB"/>
                </a:solidFill>
                <a:latin typeface="Menlo"/>
              </a:rPr>
              <a:t>  if (rate &lt; 0 || rate &gt; 100)</a:t>
            </a:r>
          </a:p>
          <a:p>
            <a:r>
              <a:rPr sz="1200" b="0">
                <a:solidFill>
                  <a:srgbClr val="CFDEEB"/>
                </a:solidFill>
                <a:latin typeface="Menlo"/>
              </a:rPr>
              <a:t>    throw new IllegalArgumentException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