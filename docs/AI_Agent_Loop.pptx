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 평소 쓰는 Kiro나 Claude Code도 이미 루프를 돈다. 한 세션 안에서 모델이 도구를 호출하고 결과를 보고 다시 판단하는 반복이 Inner Loop. 그래서 한 번의 프롬프트로 개발·테스트·수정이 다 끝날 수도 있고, 그게 정상이다. "기존 Kiro는 반복을 못 한다"는 사실이 아니다. 차이는 누가 끝을 정하느냐. Inner Loop는 AI가 스스로 완료라고 판단하면 끝난다. Outer Loop는 세션 바깥의 프로그램이 독립적으로 검증하고, 실패하면 사람 개입 없이 새 세션을 시작한다. 오늘 데모는 Outer Loop.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1031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2402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1031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1031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1031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a:off x="233172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6047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1991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a:off x="6240779"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1991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a:off x="872109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1991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2918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테스트 · 린트 · 지표로 측정</a:t>
            </a:r>
          </a:p>
        </p:txBody>
      </p:sp>
      <p:cxnSp>
        <p:nvCxnSpPr>
          <p:cNvPr id="19" name="Connector 18"/>
          <p:cNvCxnSpPr/>
          <p:nvPr/>
        </p:nvCxnSpPr>
        <p:spPr>
          <a:xfrm>
            <a:off x="10424160" y="30632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772400" y="36576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417570" y="36576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29260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2918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(17:57)</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852160"/>
            <a:ext cx="10515600" cy="320040"/>
          </a:xfrm>
          <a:prstGeom prst="rect">
            <a:avLst/>
          </a:prstGeom>
          <a:noFill/>
        </p:spPr>
        <p:txBody>
          <a:bodyPr wrap="square">
            <a:spAutoFit/>
          </a:bodyPr>
          <a:lstStyle/>
          <a:p>
            <a:r>
              <a:rPr sz="1300" b="0">
                <a:solidFill>
                  <a:srgbClr val="8397AB"/>
                </a:solidFill>
              </a:rPr>
              <a:t>한 프롬프트로 끝날 수도 있다(정상). 오늘 보여줄 것은 그 바깥, Outer Loop</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480560"/>
          </a:xfrm>
          <a:prstGeom prst="rect">
            <a:avLst/>
          </a:prstGeom>
          <a:noFill/>
        </p:spPr>
        <p:txBody>
          <a:bodyPr wrap="square">
            <a:spAutoFit/>
          </a:bodyPr>
          <a:lstStyle/>
          <a:p>
            <a:pPr>
              <a:spcAft>
                <a:spcPts val="100"/>
              </a:spcAft>
            </a:pPr>
            <a:r>
              <a:rPr sz="1400" b="1">
                <a:solidFill>
                  <a:srgbClr val="F5F8FD"/>
                </a:solidFill>
              </a:rPr>
              <a:t>swyx — The Highest Loop (AI Engineer World's Fair 2026 오프닝 키노트)</a:t>
            </a:r>
          </a:p>
          <a:p>
            <a:pPr>
              <a:spcAft>
                <a:spcPts val="1000"/>
              </a:spcAft>
            </a:pPr>
            <a:r>
              <a:rPr sz="1100" b="0">
                <a:solidFill>
                  <a:srgbClr val="31D3B1"/>
                </a:solidFill>
                <a:hlinkClick r:id="rId3"/>
              </a:rPr>
              <a:t>https://github-main-preview.ai.engineer/talks/Fva8hFosqyQ-highest-loop-swyx</a:t>
            </a:r>
          </a:p>
          <a:p>
            <a:pPr>
              <a:spcAft>
                <a:spcPts val="100"/>
              </a:spcAft>
            </a:pPr>
            <a:r>
              <a:rPr sz="1400" b="1">
                <a:solidFill>
                  <a:srgbClr val="F5F8FD"/>
                </a:solidFill>
              </a:rPr>
              <a:t>Kyle Mistele — Loop Engineering from First Principles</a:t>
            </a:r>
          </a:p>
          <a:p>
            <a:pPr>
              <a:spcAft>
                <a:spcPts val="1000"/>
              </a:spcAft>
            </a:pPr>
            <a:r>
              <a:rPr sz="1100" b="0">
                <a:solidFill>
                  <a:srgbClr val="31D3B1"/>
                </a:solidFill>
                <a:hlinkClick r:id="rId4"/>
              </a:rPr>
              <a:t>https://github-main-preview.ai.engineer/talks/xIt_mTQp6mY-loop-engineering-from-first-principles</a:t>
            </a:r>
          </a:p>
          <a:p>
            <a:pPr>
              <a:spcAft>
                <a:spcPts val="100"/>
              </a:spcAft>
            </a:pPr>
            <a:r>
              <a:rPr sz="1400" b="1">
                <a:solidFill>
                  <a:srgbClr val="F5F8FD"/>
                </a:solidFill>
              </a:rPr>
              <a:t>Latent Space — AIEWF Daily Dispatch: Loops, Software Factories &amp; FDEs (2026-07-01)</a:t>
            </a:r>
          </a:p>
          <a:p>
            <a:pPr>
              <a:spcAft>
                <a:spcPts val="1000"/>
              </a:spcAft>
            </a:pPr>
            <a:r>
              <a:rPr sz="1100" b="0">
                <a:solidFill>
                  <a:srgbClr val="31D3B1"/>
                </a:solidFill>
                <a:hlinkClick r:id="rId5"/>
              </a:rPr>
              <a:t>https://www.latent.space/p/aiewf-daily-dispatch-loops</a:t>
            </a:r>
          </a:p>
          <a:p>
            <a:pPr>
              <a:spcAft>
                <a:spcPts val="100"/>
              </a:spcAft>
            </a:pPr>
            <a:r>
              <a:rPr sz="1400" b="1">
                <a:solidFill>
                  <a:srgbClr val="F5F8FD"/>
                </a:solidFill>
              </a:rPr>
              <a:t>Latent Space — The great loops debate and the state of AI engineering (2026-07-03)</a:t>
            </a:r>
          </a:p>
          <a:p>
            <a:pPr>
              <a:spcAft>
                <a:spcPts val="1000"/>
              </a:spcAft>
            </a:pPr>
            <a:r>
              <a:rPr sz="1100" b="0">
                <a:solidFill>
                  <a:srgbClr val="31D3B1"/>
                </a:solidFill>
                <a:hlinkClick r:id="rId6"/>
              </a:rPr>
              <a:t>https://www.latent.space/p/aiewf-daily-dispatch-locomotives</a:t>
            </a:r>
          </a:p>
          <a:p>
            <a:pPr>
              <a:spcAft>
                <a:spcPts val="100"/>
              </a:spcAft>
            </a:pPr>
            <a:r>
              <a:rPr sz="1400" b="1">
                <a:solidFill>
                  <a:srgbClr val="F5F8FD"/>
                </a:solidFill>
              </a:rPr>
              <a:t>Business Insider — Forget prompt engineering: ‘Loop engineering’ is all the rage now (2026-06-20)</a:t>
            </a:r>
          </a:p>
          <a:p>
            <a:pPr>
              <a:spcAft>
                <a:spcPts val="1000"/>
              </a:spcAft>
            </a:pPr>
            <a:r>
              <a:rPr sz="1100" b="0">
                <a:solidFill>
                  <a:srgbClr val="31D3B1"/>
                </a:solidFill>
                <a:hlinkClick r:id="rId7"/>
              </a:rPr>
              <a:t>https://www.businessinsider.com/what-are-loops-ai-engineering-tips-2026-6</a:t>
            </a:r>
          </a:p>
          <a:p>
            <a:pPr>
              <a:spcAft>
                <a:spcPts val="100"/>
              </a:spcAft>
            </a:pPr>
            <a:r>
              <a:rPr sz="1400" b="1">
                <a:solidFill>
                  <a:srgbClr val="F5F8FD"/>
                </a:solidFill>
              </a:rPr>
              <a:t>Kiro CLI — headless / non-interactive 실행</a:t>
            </a:r>
          </a:p>
          <a:p>
            <a:pPr>
              <a:spcAft>
                <a:spcPts val="1000"/>
              </a:spcAft>
            </a:pPr>
            <a:r>
              <a:rPr sz="1100" b="0">
                <a:solidFill>
                  <a:srgbClr val="31D3B1"/>
                </a:solidFill>
                <a:hlinkClick r:id="rId8"/>
              </a:rPr>
              <a:t>https://kiro.dev/docs/cli/headless/</a:t>
            </a:r>
          </a:p>
          <a:p>
            <a:pPr>
              <a:spcAft>
                <a:spcPts val="100"/>
              </a:spcAft>
            </a:pPr>
            <a:r>
              <a:rPr sz="1400" b="1">
                <a:solidFill>
                  <a:srgbClr val="F5F8FD"/>
                </a:solidFill>
              </a:rPr>
              <a:t>데모 저장소 — Java + Kiro CLI Outer Loop</a:t>
            </a:r>
          </a:p>
          <a:p>
            <a:pPr>
              <a:spcAft>
                <a:spcPts val="1000"/>
              </a:spcAft>
            </a:pPr>
            <a:r>
              <a:rPr sz="11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