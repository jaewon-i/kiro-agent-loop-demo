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72" r:id="rId24"/>
    <p:sldId id="273" r:id="rId25"/>
    <p:sldId id="274" r:id="rId26"/>
    <p:sldId id="275" r:id="rId27"/>
    <p:sldId id="276" r:id="rId28"/>
    <p:sldId id="277" r:id="rId29"/>
    <p:sldId id="261" r:id="rId12"/>
    <p:sldId id="278" r:id="rId30"/>
    <p:sldId id="271" r:id="rId23"/>
    <p:sldId id="267" r:id="rId18"/>
    <p:sldId id="268" r:id="rId20"/>
    <p:sldId id="269" r:id="rId21"/>
    <p:sldId id="282" r:id="rId22"/>
    <p:sldId id="283" r:id="rId17"/>
    <p:sldId id="284" r:id="rId14"/>
    <p:sldId id="279" r:id="rId31"/>
    <p:sldId id="265" r:id="rId16"/>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8.xml"/><Relationship Id="rId14" Type="http://schemas.openxmlformats.org/officeDocument/2006/relationships/slide" Target="slides/slide16.xml"/><Relationship Id="rId16" Type="http://schemas.openxmlformats.org/officeDocument/2006/relationships/slide" Target="slides/slide19.xml"/><Relationship Id="rId17" Type="http://schemas.openxmlformats.org/officeDocument/2006/relationships/slide" Target="slides/slide15.xml"/><Relationship Id="rId18" Type="http://schemas.openxmlformats.org/officeDocument/2006/relationships/slide" Target="slides/slide11.xml"/><Relationship Id="rId19" Type="http://schemas.openxmlformats.org/officeDocument/2006/relationships/notesMaster" Target="notesMasters/notesMaster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0.xml"/><Relationship Id="rId24" Type="http://schemas.openxmlformats.org/officeDocument/2006/relationships/slide" Target="slides/slide2.xml"/><Relationship Id="rId25" Type="http://schemas.openxmlformats.org/officeDocument/2006/relationships/slide" Target="slides/slide3.xml"/><Relationship Id="rId26" Type="http://schemas.openxmlformats.org/officeDocument/2006/relationships/slide" Target="slides/slide4.xml"/><Relationship Id="rId27" Type="http://schemas.openxmlformats.org/officeDocument/2006/relationships/slide" Target="slides/slide5.xml"/><Relationship Id="rId28" Type="http://schemas.openxmlformats.org/officeDocument/2006/relationships/slide" Target="slides/slide6.xml"/><Relationship Id="rId29" Type="http://schemas.openxmlformats.org/officeDocument/2006/relationships/slide" Target="slides/slide7.xml"/><Relationship Id="rId30" Type="http://schemas.openxmlformats.org/officeDocument/2006/relationships/slide" Target="slides/slide9.xml"/><Relationship Id="rId31" Type="http://schemas.openxmlformats.org/officeDocument/2006/relationships/slide" Target="slides/slide17.xml"/><Relationship Id="rId32" Type="http://schemas.openxmlformats.org/officeDocument/2006/relationships/slide" Target="slides/slide20.xml"/><Relationship Id="rId33"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2026-10-20 Mac, kiro-cli 2.32.0 실제 실행 결과 (docs/captures/run-kiro-real.txt). 쉬운 목표는 1회에 끝나는 것이 정상이다. 그래도 완료 판정은 Kiro가 아니라 Controller의 QA Gate가 내렸다는 점을 강조.</a:t>
            </a:r>
          </a:p>
          <a:p/>
          <a:p>
            <a:r>
              <a:t>[실행 순서] 1) python3 verify.py → FAIL 확인  2) python3 loop.py --provider mock --reset (리허설, AI 아님)  3) python3 loop.py --provider kiro --reset  4) ... --inject-fault (데모 모드)  5) .loop/summary.json · iteration-NN.json · diff-NN.patch 확인</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--inject-fault는 명시적 데모 모드다. 1회차에 Kiro는 올바르게 고쳤지만 Controller가 일부러 가격 검증을 지웠다. 이 실패는 AI의 실패가 아니라고 반드시 말할 것. 보여줄 핵심: 사람 입력 없이 실패 로그가 새 Kiro 세션에 전달되고 2회차에 PASS.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판정과 변경은 .loop/에 남는다 (docs/captures/loop-inject-fault/). 가드레일 검증: 에이전트가 테스트 파일을 바꾸는 상황을 시뮬레이션하자 Controller가 복원하고 GUARDRAIL_STOP(exit 3)으로 종료했다. 단, 이 검사는 보안 샌드박스가 아니다.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 · 약 1분 30초]</a:t>
            </a:r>
          </a:p>
          <a:p/>
          <a:p>
            <a:r>
              <a:t>데모 1은 버그 하나였습니다. 그래서 Kiro가 한 번에 끝냈죠. 그런데 실제 일은 대부분 그렇게 작지 않습니다. 그래서 두 번째 데모는 한 번에 끝낼 수 없는 일을 맡겨 봤습니다.</a:t>
            </a:r>
          </a:p>
          <a:p/>
          <a:p>
            <a:r>
              <a:t>(왼쪽) 과제는 마이그레이션입니다. Java 클래스 6개가 옛 날짜 API, Date나 Calendar, SimpleDateFormat을 쓰고 있는데, 이걸 Java 8부터 표준이 된 java.time으로 바꾸는 겁니다. 파일을 옮기는 게 아니라 파일 안의 코드를 바꾸는 거예요. 옛 API는 삭제 예정은 아니지만, SimpleDateFormat은 여러 스레드에서 같이 쓰면 깨지고 Date는 값이 바뀔 수 있어서 실수가 잦습니다. 그래서 많은 팀이 교체합니다. 조건은 하나, 동작이 하나도 바뀌면 안 됩니다. 그리고 규칙은 loop 한 번에 파일 하나만입니다. Kyle Mistele가 발표에서 말한 '작게 고치고 다시 잰다'를 그대로 적용한 겁니다.</a:t>
            </a:r>
          </a:p>
          <a:p/>
          <a:p>
            <a:r>
              <a:t>(오른쪽) 날짜 코드는 쉬워 보여도 함정이 많습니다. 서울 날짜를 UTC로 계산하면 하루가 틀리고, 밀리초가 붙으면 로그 형식이 깨지고, 서머타임 경계나 2월 29일생 나이, 1월 31일에 한 달을 더하는 경우 같은 것들이죠.</a:t>
            </a:r>
          </a:p>
          <a:p/>
          <a:p>
            <a:r>
              <a:t>(하단) 그래서 '바뀌면 안 되는 것'을 동작 테스트 28개로 고정했습니다. 미리 정답 코드로 돌려 보니 28개 모두 통과했고, 흔한 실수 네 가지는 각각 테스트가 잡아냈습니다. 시험지가 공정한지부터 확인한 거죠.</a:t>
            </a:r>
          </a:p>
          <a:p/>
          <a:p>
            <a:r>
              <a:t>[예상 질문]</a:t>
            </a:r>
          </a:p>
          <a:p>
            <a:r>
              <a:t>Q. 이것도 결국 테스트를 통과시키는 것 아닌가요?</a:t>
            </a:r>
          </a:p>
          <a:p>
            <a:r>
              <a:t>A. 맞습니다. 다른 점은 '얼마나 남았는지'를 숫자로 재는 센서가 하나 더 있다는 겁니다. 다음 장에서 보겠습니다.</a:t>
            </a:r>
          </a:p>
          <a:p/>
          <a:p>
            <a:r>
              <a:t>[배경: 이 데모의 원본 사례 — Kyle Mistele, AIEWF 2026 "Loop Engineering from First Principles"]</a:t>
            </a:r>
          </a:p>
          <a:p>
            <a:r>
              <a:t>- Kyle이 실제로 보여준 예는 TypeScript 코드베이스의 RPC 프로시저를 Effect 라이브러리 방식으로 하나씩 바꾸는 점진 마이그레이션이다.</a:t>
            </a:r>
          </a:p>
          <a:p>
            <a:r>
              <a:t>- 센서: "아직 안 바꾼 프로시저를 찾는 간단한 규칙"(발표 10:05 부근). 우리 데모의 measure.py가 같은 역할.</a:t>
            </a:r>
          </a:p>
          <a:p>
            <a:r>
              <a:t>- 실행기: 에이전트가 한 번에 하나씩, 저장소 안의 기존 패턴을 따라 바꾼다(12:26 "Give the actuator local patterns to follow").</a:t>
            </a:r>
          </a:p>
          <a:p>
            <a:r>
              <a:t>- 검증: 새 인프라 대신 기존 CI를 쓴다(13:22). 우리 데모의 verify.py.</a:t>
            </a:r>
          </a:p>
          <a:p>
            <a:r>
              <a:t>- 그가 강조한 점: 작고 쓸모 있는 변경을 고를 것(11:21), 리뷰 코멘트를 다음 루프의 지시로 남길 것(14:13), 사람의 리뷰가 막히면 변경 생산을 멈출 것(15:10), 신뢰와 리뷰 여력이 늘면 처리량을 올릴 것(16:17).</a:t>
            </a:r>
          </a:p>
          <a:p>
            <a:r>
              <a:t>- 차이: Kyle은 PR 단위로 사람이 리뷰한다. 우리 데모는 리뷰 대신 테스트 + 센서로 반영 여부를 자동 판정하고, 2번 실패하면 사람에게 넘기는 것으로 축소했다.</a:t>
            </a:r>
          </a:p>
          <a:p>
            <a:r>
              <a:t>- 참고: swyx의 예시가 아니다. swyx는 루프의 층(토큰 → … → 소프트웨어 팩토리)을 이야기했고, 이 데모는 그중 Goal 층에 해당한다.</a:t>
            </a:r>
          </a:p>
          <a:p/>
          <a:p>
            <a:r>
              <a:t>Q. 옛 날짜 API는 곧 삭제되나요?</a:t>
            </a:r>
          </a:p>
          <a:p>
            <a:r>
              <a:t>A. 아니요. 지금도 쓸 수 있고 일부 오래된 메서드만 deprecated입니다. 삭제가 아니라 더 안전한 표준(java.time)으로 바꾸는 작업입니다. 테스트도 지우지 않고, 오히려 테스트가 동작이 안 바뀌었는지 지켜봅니다.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 · 약 1분 30초]</a:t>
            </a:r>
          </a:p>
          <a:p/>
          <a:p>
            <a:r>
              <a:t>방금 본 그림에서 컨트롤러 칸, loop.py가 실제로 무슨 일을 하는지 코드로 보겠습니다. 길어 보이지만 뼈대는 이 15줄이 전부입니다. (실제 파일은 로그·기록 코드까지 약 250줄)</a:t>
            </a:r>
          </a:p>
          <a:p/>
          <a:p>
            <a:r>
              <a:t>① 먼저 verify.py로 현재 상태를 잽니다. 이미 PASS면 할 일이 없으니 끝냅니다.</a:t>
            </a:r>
          </a:p>
          <a:p>
            <a:r>
              <a:t>그리고 최대 5번까지 반복합니다.</a:t>
            </a:r>
          </a:p>
          <a:p>
            <a:r>
              <a:t>② 새 Kiro 세션을 실행합니다. 프롬프트에는 요구사항과 방금 본 실패 로그를 넣습니다. 매번 새 세션이라 Kiro는 이전 대화를 기억하지 못합니다. Controller가 넘겨주는 실패 로그가 유일한 기억입니다. 세션 하나는 300초가 넘으면 강제로 끝냅니다.</a:t>
            </a:r>
          </a:p>
          <a:p>
            <a:r>
              <a:t>③ Kiro가 끝나면, 먼저 테스트 파일이나 verify.py, loop.py를 건드렸는지 확인합니다. 시험지를 고치는 부정행위죠. 건드렸으면 원래대로 되돌리고 바로 멈춥니다.</a:t>
            </a:r>
          </a:p>
          <a:p>
            <a:r>
              <a:t>④ 그다음 Kiro가 "고쳤습니다"라고 한 말은 무시하고, verify.py를 직접 다시 돌립니다. 결과와 코드 변경은 .loop/ 폴더에 기록합니다.</a:t>
            </a:r>
          </a:p>
          <a:p>
            <a:r>
              <a:t>⑤ PASS면 성공으로 끝. Kiro가 오류나 시간 초과로 실패했으면 멈춥니다. FAIL이면 그 로그를 들고 다음 회차로 갑니다.</a:t>
            </a:r>
          </a:p>
          <a:p>
            <a:r>
              <a:t>5번 다 실패하면 실패로 끝냅니다.</a:t>
            </a:r>
          </a:p>
          <a:p/>
          <a:p>
            <a:r>
              <a:t>정리하면 끝나는 길은 네 가지입니다. PASS, 보호 파일 변조, Kiro 오류, 최대 횟수 초과. 모두 AI가 아니라 Controller가 정합니다.</a:t>
            </a:r>
          </a:p>
          <a:p/>
          <a:p>
            <a:r>
              <a:t>(하단) Controller는 AI가 아닙니다. 테스트 결과 PASS/FAIL만 보고 if문으로 결정합니다. 그래서 믿을 수 있습니다.</a:t>
            </a:r>
          </a:p>
          <a:p/>
          <a:p>
            <a:r>
              <a:t>[예상 질문]</a:t>
            </a:r>
          </a:p>
          <a:p>
            <a:r>
              <a:t>Q. 왜 같은 세션을 이어가지 않고 매번 새 세션을 여나요?</a:t>
            </a:r>
          </a:p>
          <a:p>
            <a:r>
              <a:t>A. 긴 세션은 실패한 시도와 오래된 추론이 쌓여 점점 흐려집니다. 매번 깨끗한 세션에서 시작하고, 필요한 정보(실패 로그)만 넘기는 게 더 안정적입니다. Geoffrey Huntley의 Ralph Loop도 같은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할인 계산기: 금액과 할인율을 받아 할인된 가격을 돌려준다. 정상 입력 4개는 이미 맞다. 문제는 잘못된 입력을 거르지 않는 것: -1% 할인이면 1,010원으로 가격이 오르고, 101%면 -10원, 즉 손님에게 돈을 준다. 실제 서비스라면 결제 버그. 이 7개 테스트가 QA Gate이고, Kiro는 테스트를 건드리지 못하고 코드 한 파일만 고칠 수 있다. 정답은 if문 두 줄(잘못된 값이면 IllegalArgumentException)이라 Kiro는 대개 1회에 해결한다.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6월 29일~7월 2일 샌프란시스코 AI Engineer World's Fair. 둘째 날 현장 기사 첫 문장이 "Loops, loops and more loops"였다. swyx 키노트에서 참가자가 7,000명을 넘었다고 발표(목표 6,000). 둘째 날 메인 스테이지 트랙 이름이 Software Factories. 오늘은 이 Loop가 무엇인지, 실제로 Kiro로 하나 만들어 보고, 우리 팀이 어디에 쓸 수 있을지 이야기한다.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행사 직전 Business Insider 기사 제목이 "프롬프트 엔지니어링은 잊어라, 루프 엔지니어링이 대세". 핵심 변화: 반복의 엔진이 사람에서 프로그램으로 바뀐다. 예전엔 결과를 보고 사람이 "다시 해"라고 했다면, 지금은 루프가 결과를 확인하고 다음 프롬프트를 만든다. Steinberger(OpenClaw 제작자, OpenAI)와 Boris Cherny(Claude Code 제작자) 발언이 대표적. 주의: 이 기사는 행사 전 보도다.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swyx 오프닝 키노트 "The Highest Loop". AI 작업 단위가 토큰 → 채팅 → 도구 호출 → 목표 → 자동화(cron) → 소프트웨어 팩토리로 넓어지고, 이를 loop stacking이라 부른다(“while 루프의 스택”). 가로축은 AI에게 한 번에 맡기는 작업 단위, 세로축은 추상화 수준. 핵심은 무조건 높이 쌓는 것이 아니다. "지금 어느 루프에서 일하고 있나?"를 알고, 목적에 맞는 층을 고르는 것이 AI 엔지니어링 역량이다. 생산성·규모가 필요하고 준비됐으면 한 층 위로, 무언가 깨지면 한 층 아래로 내려가 신뢰성을 잡는다. 오늘 데모는 Goal 층: 테스트 통과라는 목표가 달성될 때까지 반복한다. (축 표현은 발표 내용을 시각화하기 위한 해석이며 원본 슬라이드에 있는 그림은 아니다.) (발음: swyx = "스윅스". 본명 Shawn Wang, AI Engineer 행사 공동 창립자.)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Kyle Mistele "Loop Engineering from First Principles". 루프를 제어 이론으로 설명한다. 목표값(set point)과 센서가 잰 현재 상태의 차이가 오차, 컨트롤러가 오차를 보고 작은 보정을 정하고, 실행기(actuator)가 그 보정을 시스템에 적용한다. 그리고 다시 잰다. 온도조절기, Kubernetes 오토스케일링, IaC reconcile이 같은 구조. 코딩 루프에서는 시스템이 코드베이스다. 그의 핵심 주장: 한 번에 최종 상태로 가려 하지 말고 작게 고치고 다시 측정하라(과하게 꺾는 것 방지). 측정 없는 반복은 눈먼 루프다. 또한 리뷰가 막히면 변경 생산을 멈추라고 했다 — 사람이 읽을 수 있는 작은 변경이 중요. 외부 변화(disturbance): 루프가 고치는 동안에도 다른 사람의 변경 등이 시스템을 계속 흔든다 — 그래서 한 번 고치고 끝이 아니라 계속 다시 측정한다. (그림은 발표 다이어그램을 재구성한 것)</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 · 약 2분]</a:t>
            </a:r>
          </a:p>
          <a:p/>
          <a:p>
            <a:r>
              <a:t>(도입)</a:t>
            </a:r>
          </a:p>
          <a:p>
            <a:r>
              <a:t>평소 Kiro나 Claude Code에 "이 버그 고쳐줘"라고 하면, AI가 혼자 파일을 읽고, 고치고, 테스트를 돌려 보고, 실패하면 다시 고칩니다. 사실 이미 반복을 하고 있는 거죠. 이게 Inner Loop입니다.</a:t>
            </a:r>
          </a:p>
          <a:p/>
          <a:p>
            <a:r>
              <a:t>(왼쪽 보라색 상자)</a:t>
            </a:r>
          </a:p>
          <a:p>
            <a:r>
              <a:t>Inner Loop는 하나의 AI 세션 안에서 돕니다. 모델이 도구를 부르고, 결과를 보고, 다시 판단하는 반복입니다. 여기서 중요한 건, 언제 끝낼지를 AI 자신이 정한다는 점입니다. AI가 "다 됐다"고 판단하면 거기서 끝납니다.</a:t>
            </a:r>
          </a:p>
          <a:p>
            <a:r>
              <a:t>그래서 간단한 작업은 프롬프트 한 번에 개발·테스트·수정이 다 끝날 수도 있고, 그게 정상입니다. 기존 도구가 반복을 못 한다는 얘기가 아닙니다.</a:t>
            </a:r>
          </a:p>
          <a:p/>
          <a:p>
            <a:r>
              <a:t>(초록 점선 상자)</a:t>
            </a:r>
          </a:p>
          <a:p>
            <a:r>
              <a:t>Outer Loop는 그 세션 바깥에 하나를 더 두는 겁니다. 바깥 프로그램, 오늘 데모에서는 Python Controller가 AI 세션 전체를 한 단위로 보고 반복합니다.</a:t>
            </a:r>
          </a:p>
          <a:p>
            <a:r>
              <a:t>세션이 끝나면 Controller가 AI 말을 믿지 않고 테스트를 직접 돌립니다. PASS면 종료하고, FAIL이면 실패 로그를 들고 새 세션을 시작합니다. 이때 사람은 아무것도 입력하지 않습니다(빨간 화살표).</a:t>
            </a:r>
          </a:p>
          <a:p/>
          <a:p>
            <a:r>
              <a:t>(오른쪽 비교)</a:t>
            </a:r>
          </a:p>
          <a:p>
            <a:r>
              <a:t>정리하면 차이는 세 가지입니다. 반복 단위가 "도구 호출"이냐 "세션 전체"냐, 끝내는 주체가 "AI 자신"이냐 "외부 Controller"냐, 종료 기준이 "AI의 판단"이냐 "테스트 PASS와 횟수·시간 한도"냐.</a:t>
            </a:r>
          </a:p>
          <a:p/>
          <a:p>
            <a:r>
              <a:t>(하단 인용)</a:t>
            </a:r>
          </a:p>
          <a:p>
            <a:r>
              <a:t>이 구분은 World's Fair 키노트에서 Addy Osmani도 말했습니다. "에이전트는 inner loop를 돌리고, 엔지니어는 outer loop를 책임진다." 오늘 데모의 Controller는 엔지니어가 설계한 outer loop입니다. 재시도는 자동이지만, 머지나 배포 같은 최종 판단은 여전히 사람이 합니다.</a:t>
            </a:r>
          </a:p>
          <a:p/>
          <a:p>
            <a:r>
              <a:t>(전환)</a:t>
            </a:r>
          </a:p>
          <a:p>
            <a:r>
              <a:t>그럼 왜 굳이 바깥에서 따로 검증해야 할까요? 다음 장에서 보겠습니다.</a:t>
            </a:r>
          </a:p>
          <a:p/>
          <a:p>
            <a:r>
              <a:t>[예상 질문]</a:t>
            </a:r>
          </a:p>
          <a:p>
            <a:r>
              <a:t>Q. Kiro 혼자서도 테스트를 돌리는데, 왜 바깥이 필요한가요?</a:t>
            </a:r>
          </a:p>
          <a:p>
            <a:r>
              <a:t>A. 돌릴 수 있습니다. 차이는 누가 판정하느냐입니다. AI가 테스트를 건너뛰거나 일부만 돌리고 "통과"라고 해도 Inner Loop 안에서는 알 수 없습니다. 바깥에서는 AI가 아닌 일반 코드가 매번 같은 방식으로 다시 검사합니다.</a:t>
            </a:r>
          </a:p>
          <a:p/>
          <a:p>
            <a:r>
              <a:t>Q. Inner/Outer Loop가 공식 용어인가요?</a:t>
            </a:r>
          </a:p>
          <a:p>
            <a:r>
              <a:t>A. 표준 정의는 없지만 통용되는 말입니다. Fair 키노트(Osmani)와 현장 기사(Latent Space)에서 썼고, Shawn Greyling, Philipp Schmid 같은 여러 글에서도 씁니다.</a:t>
            </a:r>
          </a:p>
          <a:p/>
          <a:p>
            <a:r>
              <a:t>Q. 사람마다 Outer Loop 뜻이 다르지 않나요?</a:t>
            </a:r>
          </a:p>
          <a:p>
            <a:r>
              <a:t>A. 맞습니다. Osmani는 사람의 판단과 책임 영역, Greyling은 에이전트를 실행·검사·재실행하는 기계, Schmid는 세션 사이에 배운 것을 기억하는 구조로 씁니다. 오늘 데모는 Greyling의 정의를 구현한 것이고, Osmani 말대로 최종 판단은 사람에게 남겨 둡니다.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Addy Osmani(Google Cloud)의 말: 코드를 쓴 모델은 자기 숙제를 너무 후하게 채점한다. 그래서 흔한 구성이 "쓰는 쪽"과 "확인하는 쪽"을 나누는 것. AI가 "고쳤습니다"라고 하는 것은 주장이고, 테스트가 통과하는 것은 증거다. 디베이트에서 Ian Livingstone도 "결국 핵심은 검증 가능성"이라고 했다. 오늘 데모의 Controller는 AI의 말을 전혀 보지 않고 테스트 종료 코드만 본다.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 · 약 1분 30초]</a:t>
            </a:r>
          </a:p>
          <a:p/>
          <a:p>
            <a:r>
              <a:t>5장에서 본 제어 루프 그림 기억하시죠? 오늘 데모를 그 그림에 그대로 넣어 보겠습니다.</a:t>
            </a:r>
          </a:p>
          <a:p/>
          <a:p>
            <a:r>
              <a:t>(왼쪽부터) 목표값은 테스트 7개가 모두 PASS하는 것입니다.</a:t>
            </a:r>
          </a:p>
          <a:p>
            <a:r>
              <a:t>센서는 verify.py입니다. Java를 컴파일하고 테스트를 돌려서 지금 상태를 잽니다.</a:t>
            </a:r>
          </a:p>
          <a:p>
            <a:r>
              <a:t>비교해서 FAIL이면, 컨트롤러인 loop.py가 다음 행동을 정합니다. loop.py는 AI가 아니라 그냥 if문입니다. 실패 로그를 들고 새 Kiro 세션을 시작합니다.</a:t>
            </a:r>
          </a:p>
          <a:p>
            <a:r>
              <a:t>실행기는 Kiro CLI입니다. 실제로 코드를 고치는 손이죠. 고친 대상, 즉 시스템은 DiscountCalculator.java입니다.</a:t>
            </a:r>
          </a:p>
          <a:p>
            <a:r>
              <a:t>그리고 다시 verify.py가 잽니다. 이게 loop 한 번입니다.</a:t>
            </a:r>
          </a:p>
          <a:p/>
          <a:p>
            <a:r>
              <a:t>(노란 화살표) 위에 있는 '외부 변화'는, 루프가 고치는 동안 다른 변경이 끼어드는 상황입니다. 데모의 --inject-fault 모드가 바로 이걸 일부러 만든 겁니다. Kiro가 고친 뒤에 Controller가 일부러 코드를 망가뜨리면, 센서가 다시 FAIL을 잡고 loop가 한 번 더 돕니다.</a:t>
            </a:r>
          </a:p>
          <a:p/>
          <a:p>
            <a:r>
              <a:t>(하단) 여기서 핵심은 AI가 실행기 한 칸뿐이라는 겁니다. 판정은 AI가 아닌 센서와 컨트롤러가 합니다. 그리고 최대 5회, 세션 300초, 보호 파일 검사 같은 안전장치가 루프가 폭주하지 않게 막습니다.</a:t>
            </a:r>
          </a:p>
          <a:p/>
          <a:p>
            <a:r>
              <a:t>[예상 질문]</a:t>
            </a:r>
          </a:p>
          <a:p>
            <a:r>
              <a:t>Q. 컨트롤러도 AI로 만들면 안 되나요?</a:t>
            </a:r>
          </a:p>
          <a:p>
            <a:r>
              <a:t>A. 할 수 있습니다(예: 별도 모델이 완료 여부를 평가하는 방식). 다만 오늘은 판정을 가장 믿을 수 있게 하려고 결정적인 코드(테스트 종료 코드)로만 판단했습니다.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 · 약 1분 30초]</a:t>
            </a:r>
          </a:p>
          <a:p/>
          <a:p>
            <a:r>
              <a:t>그럼 현장에서는 다들 Loop가 좋다고만 했을까요? 아닙니다. 마지막 날 'The Great Loops Debate'라는 찬반 토론이 있었습니다.</a:t>
            </a:r>
          </a:p>
          <a:p/>
          <a:p>
            <a:r>
              <a:t>(왼쪽 초록) 찬성 쪽은 "이미 왔다"는 입장입니다. Ralph Loop를 만든 Geoffrey Huntley는 "피할 수 없고, 계속 남는다. 손으로 코드 짜던 때로는 안 돌아간다"고 했습니다. 같은 편의 Ian Livingstone은 "코드를 누가 어떻게 만들었든, 결국 핵심은 검증할 수 있느냐"라고 했습니다.</a:t>
            </a:r>
          </a:p>
          <a:p/>
          <a:p>
            <a:r>
              <a:t>(오른쪽 노랑) 신중한 쪽은 "아직 이르다"입니다. Dex Horthy는 "기대(hype)가 실제 엔지니어링 실력보다 앞서 있다"고 했고, Greg Pstrucha는 "토큰을 더 산다고 문제가 해결되진 않는다"며 비용을 걱정했습니다. 재미있는 건 Horthy도 루프 자체를 반대한 게 아니라, 작게 시작해서 감을 쌓으라고 조언했다는 점입니다.</a:t>
            </a:r>
          </a:p>
          <a:p/>
          <a:p>
            <a:r>
              <a:t>(가운데 숫자) 같은 날 발표된 설문을 보면 이 분위기가 그대로 드러납니다. 개발자 95%가 이미 에이전트를 쓰는데, 59%는 AI가 만든 코드가 나중에 짐이 될까 걱정합니다. 다들 쓰고는 있지만, 불안해하고 있다는 거죠.</a:t>
            </a:r>
          </a:p>
          <a:p/>
          <a:p>
            <a:r>
              <a:t>(하단) 그래서 우리 결론은 간단합니다. 거창하게 시작하지 말고, 작게 시작해서 검증과 한도를 붙여 써 보자. 오늘 데모가 바로 그 최소 단위입니다. 테스트로 검증하고, 횟수·시간·권한에 한도를 뒀죠.</a:t>
            </a:r>
          </a:p>
          <a:p/>
          <a:p>
            <a:r>
              <a:t>(참고: 토론 끝에 청중 투표를 했는데, 무대 조명이 너무 밝아서 손든 사람 수를 셀 수 없었다는 웃긴 일화가 있습니다.)</a:t>
            </a:r>
          </a:p>
          <a:p/>
          <a:p>
            <a:r>
              <a:t>[예상 질문]</a:t>
            </a:r>
          </a:p>
          <a:p>
            <a:r>
              <a:t>Q. 그럼 결국 써야 하나요, 말아야 하나요?</a:t>
            </a:r>
          </a:p>
          <a:p>
            <a:r>
              <a:t>A. 양쪽 모두 "검증"을 강조했습니다. 테스트처럼 결과를 자동으로 확인할 수 있는 작업부터, 작게 써 보는 게 안전한 출발점입니다.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가지만 기억하자. 1) 세션 안의 반복(Inner)과 세션 바깥의 반복(Outer)은 다르다. 2) AI의 완료 선언이 아니라 독립된 테스트가 끝을 정한다. 3) 반복 횟수·타임아웃·권한·로그는 필수. 오늘 데모는 Goal Loop 하나를 구현한 사례이고 Software Factory가 아니다. 질문으로 마무리: 우리 팀의 어떤 작업을 먼저 Loop로 만들어 볼까?</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후 공유용 링크 모음.</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Engineer World's Fair 2026에서 가장 많이 나온 단어 Loop를 소개하고, Kiro CLI와 Python Controller로 만든 Outer Loop 데모를 실제 실행 결과로 보여준다. 약 30분 + Q&amp;A.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 · 약 1분 30초]</a:t>
            </a:r>
          </a:p>
          <a:p/>
          <a:p>
            <a:r>
              <a:t>같은 제어 루프 그림입니다. 데모 1과 다른 점은 센서가 '얼마나 남았는지'를 숫자로 잰다는 겁니다.</a:t>
            </a:r>
          </a:p>
          <a:p/>
          <a:p>
            <a:r>
              <a:t>(왼쪽부터) 목표값은 옛 날짜 API를 쓰는 파일 0개, 그리고 테스트 PASS입니다.</a:t>
            </a:r>
          </a:p>
          <a:p>
            <a:r>
              <a:t>센서는 두 개입니다. measure.py가 옛 날짜 API를 쓰는 파일이 몇 개 남았는지 세고, verify.py가 동작 테스트 28개를 돌립니다.</a:t>
            </a:r>
          </a:p>
          <a:p>
            <a:r>
              <a:t>남은 게 있으면 컨트롤러 migrate_loop.py가 파일 하나를 고르고, 새 Kiro 세션에 '이 파일의 날짜 코드만 java.time으로 바꿔라'라고 지시합니다.</a:t>
            </a:r>
          </a:p>
          <a:p>
            <a:r>
              <a:t>Kiro는 그 파일만 고칩니다. 그러면 컨트롤러가 그 파일 하나만 반영하고 다시 잽니다.</a:t>
            </a:r>
          </a:p>
          <a:p/>
          <a:p>
            <a:r>
              <a:t>(하단 규칙) 테스트가 통과하고 그 파일에 옛 날짜 API가 없으면 반영합니다. 아니면 되돌리고, 실패 내용을 들고 같은 파일을 새 세션으로 다시 시킵니다. 두 번 실패하면 억지로 밀어붙이지 않고 사람에게 넘깁니다.</a:t>
            </a:r>
          </a:p>
          <a:p/>
          <a:p>
            <a:r>
              <a:t>(노란 화살표) 대상이 아닌 파일을 건드리면 무시하고, 테스트나 센서를 건드리면 바로 멈춥니다.</a:t>
            </a:r>
          </a:p>
          <a:p/>
          <a:p>
            <a:r>
              <a:t>이게 Kyle이 말한 '측정하고, 작게 보정하고, 다시 측정한다'입니다. 오차가 6에서 0으로 줄어드는 루프죠.</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 · 약 2분]</a:t>
            </a:r>
          </a:p>
          <a:p/>
          <a:p>
            <a:r>
              <a:t>실제로 돌린 결과입니다. 오늘 아침, Mac에서 Kiro CLI로 실행했습니다.</a:t>
            </a:r>
          </a:p>
          <a:p/>
          <a:p>
            <a:r>
              <a:t>(큰 숫자) 옛 날짜 API를 쓰는 파일이 6개에서 시작해서, loop 한 번마다 하나씩 줄어 0이 됐습니다. Kiro 세션 6개, 약 2분 반 걸렸고, 끝나고 나서 테스트 28개가 모두 통과했습니다.</a:t>
            </a:r>
          </a:p>
          <a:p/>
          <a:p>
            <a:r>
              <a:t>(터미널) loop마다 같은 패턴입니다. 새 Kiro 세션을 열고, Kiro가 끝나면 컨트롤러가 Kiro 말을 믿지 않고 직접 잽니다. 테스트 PASS, 그 파일에서 옛 날짜 API 사라짐, 그래서 반영. 6에서 5로.</a:t>
            </a:r>
          </a:p>
          <a:p/>
          <a:p>
            <a:r>
              <a:t>(왼쪽 아래) 솔직하게 말씀드리면, 이번 실행에서는 6개 모두 첫 시도에 통과해서 재시도가 없었습니다. 되돌리고 다시 시키는 흐름은 리허설 모드로 확인했는데, 그건 AI가 아니라 스크립트입니다.</a:t>
            </a:r>
          </a:p>
          <a:p/>
          <a:p>
            <a:r>
              <a:t>(오른쪽 아래) 오히려 재미있는 건 만드는 과정에서 생긴 일입니다. 처음에 Kiro 작업 폴더를 저장소 안에 뒀더니, Kiro가 파일 검색으로 진짜 소스를 찾아서 거기를 고쳤습니다. 지시는 '작업 폴더 안에서만'이었는데요. 그래서 작업 폴더를 저장소 밖으로 옮기고, 진짜 소스가 바뀌면 되돌리는 안전장치를 추가했습니다.</a:t>
            </a:r>
          </a:p>
          <a:p>
            <a:r>
              <a:t>교훈은 이겁니다. AI는 지시한 범위가 아니라, 도구가 허락하는 범위 안에서 움직입니다. 그래서 경계는 프롬프트가 아니라 시스템으로 지켜야 합니다.</a:t>
            </a:r>
          </a:p>
          <a:p/>
          <a:p>
            <a:r>
              <a:t>[예상 질문]</a:t>
            </a:r>
          </a:p>
          <a:p>
            <a:r>
              <a:t>Q. 재시도가 없었으면 루프가 의미 있나요?</a:t>
            </a:r>
          </a:p>
          <a:p>
            <a:r>
              <a:t>A. 네. 이 일은 애초에 6번 돌아야 끝나는 일이고, loop마다 반영할지를 테스트와 센서가 정했습니다. 재시도는 실패했을 때를 위한 장치입니다.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hyperlink" Target="https://github-main-preview.ai.engineer/talks/Fva8hFosqyQ-highest-loop-swyx" TargetMode="External"/><Relationship Id="rId4" Type="http://schemas.openxmlformats.org/officeDocument/2006/relationships/hyperlink" Target="https://github-main-preview.ai.engineer/talks/xIt_mTQp6mY-loop-engineering-from-first-principles" TargetMode="External"/><Relationship Id="rId5" Type="http://schemas.openxmlformats.org/officeDocument/2006/relationships/hyperlink" Target="https://www.latent.space/p/aiewf-daily-dispatch-loops" TargetMode="External"/><Relationship Id="rId6" Type="http://schemas.openxmlformats.org/officeDocument/2006/relationships/hyperlink" Target="https://www.latent.space/p/aiewf-daily-dispatch-locomotives" TargetMode="External"/><Relationship Id="rId7" Type="http://schemas.openxmlformats.org/officeDocument/2006/relationships/hyperlink" Target="https://www.businessinsider.com/what-are-loops-ai-engineering-tips-2026-6" TargetMode="External"/><Relationship Id="rId8" Type="http://schemas.openxmlformats.org/officeDocument/2006/relationships/hyperlink" Target="https://kiro.dev/docs/cli/headless/" TargetMode="External"/><Relationship Id="rId9" Type="http://schemas.openxmlformats.org/officeDocument/2006/relationships/hyperlink" Target="https://github.com/jaewon-i/kiro-agent-loop-demo" TargetMode="External"/><Relationship Id="rId10" Type="http://schemas.openxmlformats.org/officeDocument/2006/relationships/hyperlink" Target="https://www.philschmid.de/inner-loop-vs-outer-loop" TargetMode="External"/><Relationship Id="rId11" Type="http://schemas.openxmlformats.org/officeDocument/2006/relationships/hyperlink" Target="https://www.theaiautomators.com/levels-of-loop-engineering/" TargetMode="External"/><Relationship Id="rId12" Type="http://schemas.openxmlformats.org/officeDocument/2006/relationships/hyperlink" Target="https://www.shawngreyling.com/blog/loop-engineering" TargetMode="External"/><Relationship Id="rId13" Type="http://schemas.openxmlformats.org/officeDocument/2006/relationships/hyperlink" Target="https://addyosmani.com/blog/own-the-outer-loop/" TargetMode="External"/><Relationship Id="rId14" Type="http://schemas.openxmlformats.org/officeDocument/2006/relationships/hyperlink" Target="https://www.latent.space/p/aiewf-daily-dispatch-agenc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none">
            <a:spAutoFit/>
          </a:bodyPr>
          <a:lstStyle/>
          <a:p>
            <a:r>
              <a:rPr sz="3200" b="1">
                <a:solidFill>
                  <a:srgbClr val="F5F8FD"/>
                </a:solidFill>
              </a:rPr>
              <a:t>AI Agent Loop</a:t>
            </a:r>
          </a:p>
        </p:txBody>
      </p:sp>
      <p:sp>
        <p:nvSpPr>
          <p:cNvPr id="4" name="TextBox 3"/>
          <p:cNvSpPr txBox="1"/>
          <p:nvPr/>
        </p:nvSpPr>
        <p:spPr>
          <a:xfrm>
            <a:off x="868680" y="1691640"/>
            <a:ext cx="10515600" cy="4480560"/>
          </a:xfrm>
          <a:prstGeom prst="rect">
            <a:avLst/>
          </a:prstGeom>
          <a:noFill/>
        </p:spPr>
        <p:txBody>
          <a:bodyPr wrap="square">
            <a:spAutoFit/>
          </a:bodyPr>
          <a:lstStyle/>
          <a:p>
            <a:pPr>
              <a:spcAft>
                <a:spcPts val="1700"/>
              </a:spcAft>
            </a:pPr>
            <a:r>
              <a:rPr sz="2700">
                <a:solidFill>
                  <a:srgbClr val="CFDEEB"/>
                </a:solidFill>
              </a:rPr>
              <a:t>World's Fair 2026의 화두 Loop, Kiro CLI로 직접 돌려보기</a:t>
            </a:r>
          </a:p>
          <a:p>
            <a:pPr>
              <a:spcAft>
                <a:spcPts val="1700"/>
              </a:spcAft>
            </a:pPr>
            <a:r>
              <a:rPr sz="2700">
                <a:solidFill>
                  <a:srgbClr val="CFDEEB"/>
                </a:solidFill>
              </a:rPr>
              <a:t>2026.10.21 · 개발자 대상 30분 데모</a:t>
            </a:r>
          </a:p>
        </p:txBody>
      </p:sp>
      <p:sp>
        <p:nvSpPr>
          <p:cNvPr id="5" name="TextBox 4"/>
          <p:cNvSpPr txBox="1"/>
          <p:nvPr/>
        </p:nvSpPr>
        <p:spPr>
          <a:xfrm>
            <a:off x="868680" y="6492240"/>
            <a:ext cx="10515600" cy="201168"/>
          </a:xfrm>
          <a:prstGeom prst="rect">
            <a:avLst/>
          </a:prstGeom>
          <a:noFill/>
        </p:spPr>
        <p:txBody>
          <a:bodyPr wrap="none">
            <a:spAutoFit/>
          </a:bodyPr>
          <a:lstStyle/>
          <a:p>
            <a:r>
              <a:rPr sz="1000">
                <a:solidFill>
                  <a:srgbClr val="8397AB"/>
                </a:solidFill>
              </a:rPr>
              <a:t>AI Agent Loop · 2026.10.21                                     01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World's Fair 2026의 키워드: Loop</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02 / 20</a:t>
            </a:r>
          </a:p>
        </p:txBody>
      </p:sp>
      <p:sp>
        <p:nvSpPr>
          <p:cNvPr id="5" name="TextBox 4"/>
          <p:cNvSpPr txBox="1"/>
          <p:nvPr/>
        </p:nvSpPr>
        <p:spPr>
          <a:xfrm>
            <a:off x="868680" y="1463040"/>
            <a:ext cx="10515600" cy="868680"/>
          </a:xfrm>
          <a:prstGeom prst="rect">
            <a:avLst/>
          </a:prstGeom>
          <a:noFill/>
        </p:spPr>
        <p:txBody>
          <a:bodyPr wrap="square">
            <a:spAutoFit/>
          </a:bodyPr>
          <a:lstStyle/>
          <a:p>
            <a:r>
              <a:rPr sz="4000" b="1">
                <a:solidFill>
                  <a:srgbClr val="31D3B1"/>
                </a:solidFill>
              </a:rPr>
              <a:t>“Loops, loops and more loops.”</a:t>
            </a:r>
          </a:p>
        </p:txBody>
      </p:sp>
      <p:sp>
        <p:nvSpPr>
          <p:cNvPr id="6" name="TextBox 5"/>
          <p:cNvSpPr txBox="1"/>
          <p:nvPr/>
        </p:nvSpPr>
        <p:spPr>
          <a:xfrm>
            <a:off x="868680" y="2331720"/>
            <a:ext cx="10515600" cy="411480"/>
          </a:xfrm>
          <a:prstGeom prst="rect">
            <a:avLst/>
          </a:prstGeom>
          <a:noFill/>
        </p:spPr>
        <p:txBody>
          <a:bodyPr wrap="square">
            <a:spAutoFit/>
          </a:bodyPr>
          <a:lstStyle/>
          <a:p>
            <a:r>
              <a:rPr sz="2000" b="0">
                <a:solidFill>
                  <a:srgbClr val="F5F8FD"/>
                </a:solidFill>
              </a:rPr>
              <a:t>행사 둘째 날, 모든 대화를 지배한 단어는 ‘loop’였다</a:t>
            </a:r>
          </a:p>
        </p:txBody>
      </p:sp>
      <p:sp>
        <p:nvSpPr>
          <p:cNvPr id="7" name="TextBox 6"/>
          <p:cNvSpPr txBox="1"/>
          <p:nvPr/>
        </p:nvSpPr>
        <p:spPr>
          <a:xfrm>
            <a:off x="868680" y="2743200"/>
            <a:ext cx="10515600" cy="320040"/>
          </a:xfrm>
          <a:prstGeom prst="rect">
            <a:avLst/>
          </a:prstGeom>
          <a:noFill/>
        </p:spPr>
        <p:txBody>
          <a:bodyPr wrap="square">
            <a:spAutoFit/>
          </a:bodyPr>
          <a:lstStyle/>
          <a:p>
            <a:r>
              <a:rPr sz="1200" b="0">
                <a:solidFill>
                  <a:srgbClr val="8397AB"/>
                </a:solidFill>
              </a:rPr>
              <a:t>— Richard MacManus, Latent Space “AIEWF Daily Dispatch” (2026-07-01)</a:t>
            </a:r>
          </a:p>
        </p:txBody>
      </p:sp>
      <p:sp>
        <p:nvSpPr>
          <p:cNvPr id="8" name="Rounded Rectangle 7"/>
          <p:cNvSpPr/>
          <p:nvPr/>
        </p:nvSpPr>
        <p:spPr>
          <a:xfrm>
            <a:off x="868680" y="3429000"/>
            <a:ext cx="3352800" cy="132588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400"/>
              </a:spcAft>
            </a:pPr>
            <a:r>
              <a:rPr sz="1600" b="1">
                <a:solidFill>
                  <a:srgbClr val="31D3B1"/>
                </a:solidFill>
              </a:rPr>
              <a:t>AI Engineer World's Fair 2026</a:t>
            </a:r>
          </a:p>
          <a:p>
            <a:pPr algn="ctr">
              <a:spcAft>
                <a:spcPts val="400"/>
              </a:spcAft>
            </a:pPr>
            <a:r>
              <a:rPr sz="1400" b="0">
                <a:solidFill>
                  <a:srgbClr val="CFDEEB"/>
                </a:solidFill>
              </a:rPr>
              <a:t>2026.6.29 – 7.2 · 샌프란시스코</a:t>
            </a:r>
          </a:p>
        </p:txBody>
      </p:sp>
      <p:sp>
        <p:nvSpPr>
          <p:cNvPr id="9" name="Rounded Rectangle 8"/>
          <p:cNvSpPr/>
          <p:nvPr/>
        </p:nvSpPr>
        <p:spPr>
          <a:xfrm>
            <a:off x="4450080" y="3429000"/>
            <a:ext cx="3352800" cy="132588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400"/>
              </a:spcAft>
            </a:pPr>
            <a:r>
              <a:rPr sz="2600" b="1">
                <a:solidFill>
                  <a:srgbClr val="31D3B1"/>
                </a:solidFill>
              </a:rPr>
              <a:t>7,000명+</a:t>
            </a:r>
          </a:p>
          <a:p>
            <a:pPr algn="ctr">
              <a:spcAft>
                <a:spcPts val="400"/>
              </a:spcAft>
            </a:pPr>
            <a:r>
              <a:rPr sz="1400" b="0">
                <a:solidFill>
                  <a:srgbClr val="CFDEEB"/>
                </a:solidFill>
              </a:rPr>
              <a:t>참가자 (swyx 오프닝 키노트 발표)</a:t>
            </a:r>
          </a:p>
        </p:txBody>
      </p:sp>
      <p:sp>
        <p:nvSpPr>
          <p:cNvPr id="10" name="Rounded Rectangle 9"/>
          <p:cNvSpPr/>
          <p:nvPr/>
        </p:nvSpPr>
        <p:spPr>
          <a:xfrm>
            <a:off x="8031480" y="3429000"/>
            <a:ext cx="3352800" cy="132588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400"/>
              </a:spcAft>
            </a:pPr>
            <a:r>
              <a:rPr sz="1800" b="1">
                <a:solidFill>
                  <a:srgbClr val="31D3B1"/>
                </a:solidFill>
              </a:rPr>
              <a:t>Software Factories</a:t>
            </a:r>
          </a:p>
          <a:p>
            <a:pPr algn="ctr">
              <a:spcAft>
                <a:spcPts val="400"/>
              </a:spcAft>
            </a:pPr>
            <a:r>
              <a:rPr sz="1400" b="0">
                <a:solidFill>
                  <a:srgbClr val="CFDEEB"/>
                </a:solidFill>
              </a:rPr>
              <a:t>둘째 날 메인 스테이지 트랙 주제</a:t>
            </a:r>
          </a:p>
        </p:txBody>
      </p:sp>
      <p:sp>
        <p:nvSpPr>
          <p:cNvPr id="11" name="Rounded Rectangle 10"/>
          <p:cNvSpPr/>
          <p:nvPr/>
        </p:nvSpPr>
        <p:spPr>
          <a:xfrm>
            <a:off x="868680" y="5074920"/>
            <a:ext cx="10515600" cy="685800"/>
          </a:xfrm>
          <a:prstGeom prst="roundRect">
            <a:avLst>
              <a:gd name="adj" fmla="val 8000"/>
            </a:avLst>
          </a:prstGeom>
          <a:solidFill>
            <a:srgbClr val="0F2A2A"/>
          </a:solidFill>
          <a:ln w="25400">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900" b="1">
                <a:solidFill>
                  <a:srgbClr val="F5F8FD"/>
                </a:solidFill>
              </a:rPr>
              <a:t>오늘의 질문: Loop는 무엇이고, 우리 팀은 어떻게 써볼 수 있을까?</a:t>
            </a:r>
          </a:p>
        </p:txBody>
      </p:sp>
      <p:sp>
        <p:nvSpPr>
          <p:cNvPr id="12" name="TextBox 11"/>
          <p:cNvSpPr txBox="1"/>
          <p:nvPr/>
        </p:nvSpPr>
        <p:spPr>
          <a:xfrm>
            <a:off x="868680" y="329184"/>
            <a:ext cx="10515600" cy="274320"/>
          </a:xfrm>
          <a:prstGeom prst="rect">
            <a:avLst/>
          </a:prstGeom>
          <a:noFill/>
        </p:spPr>
        <p:txBody>
          <a:bodyPr wrap="square">
            <a:spAutoFit/>
          </a:bodyPr>
          <a:lstStyle/>
          <a:p>
            <a:r>
              <a:rPr sz="1100" b="1">
                <a:solidFill>
                  <a:srgbClr val="31D3B1"/>
                </a:solidFill>
              </a:rPr>
              <a:t>PART 1 · 왜 지금 Loop인가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프롬프트 엔지니어링 → 루프 엔지니어링</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03 / 20</a:t>
            </a:r>
          </a:p>
        </p:txBody>
      </p:sp>
      <p:sp>
        <p:nvSpPr>
          <p:cNvPr id="5" name="Rounded Rectangle 4"/>
          <p:cNvSpPr/>
          <p:nvPr/>
        </p:nvSpPr>
        <p:spPr>
          <a:xfrm>
            <a:off x="868680" y="1463040"/>
            <a:ext cx="5120640" cy="160020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800"/>
              </a:spcAft>
            </a:pPr>
            <a:r>
              <a:rPr sz="1700" b="1">
                <a:solidFill>
                  <a:srgbClr val="8397AB"/>
                </a:solidFill>
              </a:rPr>
              <a:t>이전: 사람이 프롬프트를 쓴다</a:t>
            </a:r>
          </a:p>
          <a:p>
            <a:pPr algn="ctr">
              <a:spcAft>
                <a:spcPts val="800"/>
              </a:spcAft>
            </a:pPr>
            <a:r>
              <a:rPr sz="1600" b="0">
                <a:solidFill>
                  <a:srgbClr val="CFDEEB"/>
                </a:solidFill>
              </a:rPr>
              <a:t>사람 요청 → AI 작성 → 사람 검증 → 사람 재요청</a:t>
            </a:r>
          </a:p>
          <a:p>
            <a:pPr algn="ctr">
              <a:spcAft>
                <a:spcPts val="800"/>
              </a:spcAft>
            </a:pPr>
            <a:r>
              <a:rPr sz="1400" b="0">
                <a:solidFill>
                  <a:srgbClr val="8397AB"/>
                </a:solidFill>
              </a:rPr>
              <a:t>반복을 돌리는 엔진 = 사람</a:t>
            </a:r>
          </a:p>
        </p:txBody>
      </p:sp>
      <p:sp>
        <p:nvSpPr>
          <p:cNvPr id="6" name="Rounded Rectangle 5"/>
          <p:cNvSpPr/>
          <p:nvPr/>
        </p:nvSpPr>
        <p:spPr>
          <a:xfrm>
            <a:off x="6263640" y="1463040"/>
            <a:ext cx="5120640" cy="1600200"/>
          </a:xfrm>
          <a:prstGeom prst="roundRect">
            <a:avLst>
              <a:gd name="adj" fmla="val 8000"/>
            </a:avLst>
          </a:prstGeom>
          <a:solidFill>
            <a:srgbClr val="162236"/>
          </a:solidFill>
          <a:ln w="25400">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800"/>
              </a:spcAft>
            </a:pPr>
            <a:r>
              <a:rPr sz="1700" b="1">
                <a:solidFill>
                  <a:srgbClr val="31D3B1"/>
                </a:solidFill>
              </a:rPr>
              <a:t>지금: 루프가 프롬프트를 쓴다</a:t>
            </a:r>
          </a:p>
          <a:p>
            <a:pPr algn="ctr">
              <a:spcAft>
                <a:spcPts val="800"/>
              </a:spcAft>
            </a:pPr>
            <a:r>
              <a:rPr sz="1600" b="0">
                <a:solidFill>
                  <a:srgbClr val="CFDEEB"/>
                </a:solidFill>
              </a:rPr>
              <a:t>목표 → AI 실행 → 자동 검증 → 실패 피드백 → 새 AI 실행</a:t>
            </a:r>
          </a:p>
          <a:p>
            <a:pPr algn="ctr">
              <a:spcAft>
                <a:spcPts val="800"/>
              </a:spcAft>
            </a:pPr>
            <a:r>
              <a:rPr sz="1400" b="0">
                <a:solidFill>
                  <a:srgbClr val="31D3B1"/>
                </a:solidFill>
              </a:rPr>
              <a:t>반복을 돌리는 엔진 = 프로그램 (Loop)</a:t>
            </a:r>
          </a:p>
        </p:txBody>
      </p:sp>
      <p:sp>
        <p:nvSpPr>
          <p:cNvPr id="7" name="Rounded Rectangle 6"/>
          <p:cNvSpPr/>
          <p:nvPr/>
        </p:nvSpPr>
        <p:spPr>
          <a:xfrm>
            <a:off x="868680" y="3337560"/>
            <a:ext cx="5120640" cy="182880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82880" rIns="182880" wrap="square"/>
          <a:lstStyle/>
          <a:p>
            <a:pPr algn="l">
              <a:spcAft>
                <a:spcPts val="600"/>
              </a:spcAft>
            </a:pPr>
            <a:r>
              <a:rPr sz="1500" b="1">
                <a:solidFill>
                  <a:srgbClr val="F5F8FD"/>
                </a:solidFill>
              </a:rPr>
              <a:t>“You should be designing loops that prompt your agents.”</a:t>
            </a:r>
          </a:p>
          <a:p>
            <a:pPr algn="l">
              <a:spcAft>
                <a:spcPts val="600"/>
              </a:spcAft>
            </a:pPr>
            <a:r>
              <a:rPr sz="1400" b="0">
                <a:solidFill>
                  <a:srgbClr val="CFDEEB"/>
                </a:solidFill>
              </a:rPr>
              <a:t>에이전트에게 직접 프롬프트를 쓰지 말고, 에이전트에게 프롬프트를 주는 루프를 설계하라</a:t>
            </a:r>
          </a:p>
          <a:p>
            <a:pPr algn="l">
              <a:spcAft>
                <a:spcPts val="600"/>
              </a:spcAft>
            </a:pPr>
            <a:r>
              <a:rPr sz="1200" b="0">
                <a:solidFill>
                  <a:srgbClr val="8397AB"/>
                </a:solidFill>
              </a:rPr>
              <a:t>— Peter Steinberger (OpenClaw 제작자, OpenAI)</a:t>
            </a:r>
          </a:p>
        </p:txBody>
      </p:sp>
      <p:sp>
        <p:nvSpPr>
          <p:cNvPr id="8" name="Rounded Rectangle 7"/>
          <p:cNvSpPr/>
          <p:nvPr/>
        </p:nvSpPr>
        <p:spPr>
          <a:xfrm>
            <a:off x="6263640" y="3337560"/>
            <a:ext cx="5120640" cy="182880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82880" rIns="182880" wrap="square"/>
          <a:lstStyle/>
          <a:p>
            <a:pPr algn="l">
              <a:spcAft>
                <a:spcPts val="600"/>
              </a:spcAft>
            </a:pPr>
            <a:r>
              <a:rPr sz="1500" b="1">
                <a:solidFill>
                  <a:srgbClr val="F5F8FD"/>
                </a:solidFill>
              </a:rPr>
              <a:t>“I don't write the prompt anymore. Claude writes the prompt.”</a:t>
            </a:r>
          </a:p>
          <a:p>
            <a:pPr algn="l">
              <a:spcAft>
                <a:spcPts val="600"/>
              </a:spcAft>
            </a:pPr>
            <a:r>
              <a:rPr sz="1400" b="0">
                <a:solidFill>
                  <a:srgbClr val="CFDEEB"/>
                </a:solidFill>
              </a:rPr>
              <a:t>이제 프롬프트를 직접 쓰지 않는다. Claude가 프롬프트를 쓴다</a:t>
            </a:r>
          </a:p>
          <a:p>
            <a:pPr algn="l">
              <a:spcAft>
                <a:spcPts val="600"/>
              </a:spcAft>
            </a:pPr>
            <a:r>
              <a:rPr sz="1200" b="0">
                <a:solidFill>
                  <a:srgbClr val="8397AB"/>
                </a:solidFill>
              </a:rPr>
              <a:t>— Boris Cherny (Claude Code 제작자)</a:t>
            </a:r>
          </a:p>
        </p:txBody>
      </p:sp>
      <p:sp>
        <p:nvSpPr>
          <p:cNvPr id="9" name="TextBox 8"/>
          <p:cNvSpPr txBox="1"/>
          <p:nvPr/>
        </p:nvSpPr>
        <p:spPr>
          <a:xfrm>
            <a:off x="868680" y="6053328"/>
            <a:ext cx="10515600" cy="274320"/>
          </a:xfrm>
          <a:prstGeom prst="rect">
            <a:avLst/>
          </a:prstGeom>
          <a:noFill/>
        </p:spPr>
        <p:txBody>
          <a:bodyPr wrap="square">
            <a:spAutoFit/>
          </a:bodyPr>
          <a:lstStyle/>
          <a:p>
            <a:r>
              <a:rPr sz="1000" b="0">
                <a:solidFill>
                  <a:srgbClr val="8397AB"/>
                </a:solidFill>
              </a:rPr>
              <a:t>출처: Business Insider, “Forget prompt engineering: ‘Loop engineering’ is all the rage now” (2026-06-20, 행사 전 보도)</a:t>
            </a:r>
          </a:p>
        </p:txBody>
      </p:sp>
      <p:sp>
        <p:nvSpPr>
          <p:cNvPr id="10" name="TextBox 9"/>
          <p:cNvSpPr txBox="1"/>
          <p:nvPr/>
        </p:nvSpPr>
        <p:spPr>
          <a:xfrm>
            <a:off x="868680" y="329184"/>
            <a:ext cx="10515600" cy="274320"/>
          </a:xfrm>
          <a:prstGeom prst="rect">
            <a:avLst/>
          </a:prstGeom>
          <a:noFill/>
        </p:spPr>
        <p:txBody>
          <a:bodyPr wrap="square">
            <a:spAutoFit/>
          </a:bodyPr>
          <a:lstStyle/>
          <a:p>
            <a:r>
              <a:rPr sz="1100" b="1">
                <a:solidFill>
                  <a:srgbClr val="31D3B1"/>
                </a:solidFill>
              </a:rPr>
              <a:t>PART 1 · 왜 지금 Loop인가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swyx 키노트: 어느 루프에서 일할 것인가</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04 / 20</a:t>
            </a:r>
          </a:p>
        </p:txBody>
      </p:sp>
      <p:sp>
        <p:nvSpPr>
          <p:cNvPr id="17" name="TextBox 16"/>
          <p:cNvSpPr txBox="1"/>
          <p:nvPr/>
        </p:nvSpPr>
        <p:spPr>
          <a:xfrm>
            <a:off x="868680" y="329184"/>
            <a:ext cx="10515600" cy="274320"/>
          </a:xfrm>
          <a:prstGeom prst="rect">
            <a:avLst/>
          </a:prstGeom>
          <a:noFill/>
        </p:spPr>
        <p:txBody>
          <a:bodyPr wrap="square">
            <a:spAutoFit/>
          </a:bodyPr>
          <a:lstStyle/>
          <a:p>
            <a:r>
              <a:rPr sz="1100" b="1">
                <a:solidFill>
                  <a:srgbClr val="31D3B1"/>
                </a:solidFill>
              </a:rPr>
              <a:t>PART 1 · 왜 지금 Loop인가</a:t>
            </a:r>
          </a:p>
        </p:txBody>
      </p:sp>
      <p:sp>
        <p:nvSpPr>
          <p:cNvPr id="18" name="TextBox 17"/>
          <p:cNvSpPr txBox="1"/>
          <p:nvPr/>
        </p:nvSpPr>
        <p:spPr>
          <a:xfrm>
            <a:off x="868680" y="1371600"/>
            <a:ext cx="10515600" cy="365760"/>
          </a:xfrm>
          <a:prstGeom prst="rect">
            <a:avLst/>
          </a:prstGeom>
          <a:noFill/>
        </p:spPr>
        <p:txBody>
          <a:bodyPr wrap="square">
            <a:spAutoFit/>
          </a:bodyPr>
          <a:lstStyle/>
          <a:p>
            <a:r>
              <a:rPr sz="1500" b="0">
                <a:solidFill>
                  <a:srgbClr val="8397AB"/>
                </a:solidFill>
              </a:rPr>
              <a:t>“Which loop are you working in?”  지금 나는 어느 루프에서 일하고 있나?</a:t>
            </a:r>
          </a:p>
        </p:txBody>
      </p:sp>
      <p:cxnSp>
        <p:nvCxnSpPr>
          <p:cNvPr id="19" name="Connector 18"/>
          <p:cNvCxnSpPr/>
          <p:nvPr/>
        </p:nvCxnSpPr>
        <p:spPr>
          <a:xfrm flipV="1">
            <a:off x="1325880" y="1874519"/>
            <a:ext cx="0" cy="3337561"/>
          </a:xfrm>
          <a:prstGeom prst="line">
            <a:avLst/>
          </a:prstGeom>
          <a:ln w="28575">
            <a:solidFill>
              <a:srgbClr val="5B6E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25880" y="5212080"/>
            <a:ext cx="9966960" cy="0"/>
          </a:xfrm>
          <a:prstGeom prst="line">
            <a:avLst/>
          </a:prstGeom>
          <a:ln w="28575">
            <a:solidFill>
              <a:srgbClr val="5B6E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435607" y="1764791"/>
            <a:ext cx="5486400" cy="566928"/>
          </a:xfrm>
          <a:prstGeom prst="rect">
            <a:avLst/>
          </a:prstGeom>
          <a:noFill/>
        </p:spPr>
        <p:txBody>
          <a:bodyPr wrap="square">
            <a:spAutoFit/>
          </a:bodyPr>
          <a:lstStyle/>
          <a:p>
            <a:r>
              <a:rPr sz="1300" b="1">
                <a:solidFill>
                  <a:srgbClr val="31D3B1"/>
                </a:solidFill>
              </a:rPr>
              <a:t>추상화 수준</a:t>
            </a:r>
          </a:p>
          <a:p>
            <a:r>
              <a:rPr sz="1100" b="0">
                <a:solidFill>
                  <a:srgbClr val="8397AB"/>
                </a:solidFill>
              </a:rPr>
              <a:t>↑ 위로 = 규모·생산성 (준비되면 올라간다)</a:t>
            </a:r>
          </a:p>
        </p:txBody>
      </p:sp>
      <p:sp>
        <p:nvSpPr>
          <p:cNvPr id="22" name="TextBox 21"/>
          <p:cNvSpPr txBox="1"/>
          <p:nvPr/>
        </p:nvSpPr>
        <p:spPr>
          <a:xfrm>
            <a:off x="5760720" y="5248656"/>
            <a:ext cx="5532120" cy="274320"/>
          </a:xfrm>
          <a:prstGeom prst="rect">
            <a:avLst/>
          </a:prstGeom>
          <a:noFill/>
        </p:spPr>
        <p:txBody>
          <a:bodyPr wrap="square">
            <a:spAutoFit/>
          </a:bodyPr>
          <a:lstStyle/>
          <a:p>
            <a:pPr algn="r"/>
            <a:r>
              <a:rPr sz="1200" b="1">
                <a:solidFill>
                  <a:srgbClr val="31D3B1"/>
                </a:solidFill>
              </a:rPr>
              <a:t>AI에게 맡기는 작업 단위 →  한 번의 응답 … 개발 전체</a:t>
            </a:r>
          </a:p>
        </p:txBody>
      </p:sp>
      <p:sp>
        <p:nvSpPr>
          <p:cNvPr id="23" name="Rounded Rectangle 22"/>
          <p:cNvSpPr/>
          <p:nvPr/>
        </p:nvSpPr>
        <p:spPr>
          <a:xfrm>
            <a:off x="1554480" y="4343400"/>
            <a:ext cx="1516380" cy="73152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b="1">
                <a:solidFill>
                  <a:srgbClr val="F5F8FD"/>
                </a:solidFill>
              </a:rPr>
              <a:t>Token</a:t>
            </a:r>
          </a:p>
          <a:p>
            <a:pPr algn="ctr"/>
            <a:r>
              <a:rPr sz="1100" b="0">
                <a:solidFill>
                  <a:srgbClr val="8397AB"/>
                </a:solidFill>
              </a:rPr>
              <a:t>토큰 생성</a:t>
            </a:r>
          </a:p>
        </p:txBody>
      </p:sp>
      <p:sp>
        <p:nvSpPr>
          <p:cNvPr id="24" name="Rounded Rectangle 23"/>
          <p:cNvSpPr/>
          <p:nvPr/>
        </p:nvSpPr>
        <p:spPr>
          <a:xfrm>
            <a:off x="3180588" y="3904487"/>
            <a:ext cx="1516380" cy="73152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b="1">
                <a:solidFill>
                  <a:srgbClr val="F5F8FD"/>
                </a:solidFill>
              </a:rPr>
              <a:t>Chat</a:t>
            </a:r>
          </a:p>
          <a:p>
            <a:pPr algn="ctr"/>
            <a:r>
              <a:rPr sz="1100" b="0">
                <a:solidFill>
                  <a:srgbClr val="8397AB"/>
                </a:solidFill>
              </a:rPr>
              <a:t>질문 · 응답</a:t>
            </a:r>
          </a:p>
        </p:txBody>
      </p:sp>
      <p:sp>
        <p:nvSpPr>
          <p:cNvPr id="25" name="Rounded Rectangle 24"/>
          <p:cNvSpPr/>
          <p:nvPr/>
        </p:nvSpPr>
        <p:spPr>
          <a:xfrm>
            <a:off x="4806696" y="3465576"/>
            <a:ext cx="1516380" cy="73152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b="1">
                <a:solidFill>
                  <a:srgbClr val="F5F8FD"/>
                </a:solidFill>
              </a:rPr>
              <a:t>Tool call</a:t>
            </a:r>
          </a:p>
          <a:p>
            <a:pPr algn="ctr"/>
            <a:r>
              <a:rPr sz="1100" b="0">
                <a:solidFill>
                  <a:srgbClr val="8397AB"/>
                </a:solidFill>
              </a:rPr>
              <a:t>도구 호출 (에이전트)</a:t>
            </a:r>
          </a:p>
        </p:txBody>
      </p:sp>
      <p:sp>
        <p:nvSpPr>
          <p:cNvPr id="26" name="Rounded Rectangle 25"/>
          <p:cNvSpPr/>
          <p:nvPr/>
        </p:nvSpPr>
        <p:spPr>
          <a:xfrm>
            <a:off x="6432804" y="3026664"/>
            <a:ext cx="1516380" cy="731520"/>
          </a:xfrm>
          <a:prstGeom prst="roundRect">
            <a:avLst>
              <a:gd name="adj" fmla="val 8000"/>
            </a:avLst>
          </a:prstGeom>
          <a:solidFill>
            <a:srgbClr val="0F2A2A"/>
          </a:solidFill>
          <a:ln w="28575">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b="1">
                <a:solidFill>
                  <a:srgbClr val="31D3B1"/>
                </a:solidFill>
              </a:rPr>
              <a:t>Goal</a:t>
            </a:r>
          </a:p>
          <a:p>
            <a:pPr algn="ctr"/>
            <a:r>
              <a:rPr sz="1100" b="0">
                <a:solidFill>
                  <a:srgbClr val="CFDEEB"/>
                </a:solidFill>
              </a:rPr>
              <a:t>목표 달성까지 반복</a:t>
            </a:r>
          </a:p>
        </p:txBody>
      </p:sp>
      <p:sp>
        <p:nvSpPr>
          <p:cNvPr id="27" name="Rounded Rectangle 26"/>
          <p:cNvSpPr/>
          <p:nvPr/>
        </p:nvSpPr>
        <p:spPr>
          <a:xfrm>
            <a:off x="8058911" y="2587752"/>
            <a:ext cx="1516380" cy="73152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b="1">
                <a:solidFill>
                  <a:srgbClr val="F5F8FD"/>
                </a:solidFill>
              </a:rPr>
              <a:t>Automation</a:t>
            </a:r>
          </a:p>
          <a:p>
            <a:pPr algn="ctr"/>
            <a:r>
              <a:rPr sz="1100" b="0">
                <a:solidFill>
                  <a:srgbClr val="8397AB"/>
                </a:solidFill>
              </a:rPr>
              <a:t>cron · 이벤트 자동 시작</a:t>
            </a:r>
          </a:p>
        </p:txBody>
      </p:sp>
      <p:sp>
        <p:nvSpPr>
          <p:cNvPr id="28" name="Rounded Rectangle 27"/>
          <p:cNvSpPr/>
          <p:nvPr/>
        </p:nvSpPr>
        <p:spPr>
          <a:xfrm>
            <a:off x="9685019" y="2148840"/>
            <a:ext cx="1516380" cy="73152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b="1">
                <a:solidFill>
                  <a:srgbClr val="F5F8FD"/>
                </a:solidFill>
              </a:rPr>
              <a:t>Software Factory</a:t>
            </a:r>
          </a:p>
          <a:p>
            <a:pPr algn="ctr"/>
            <a:r>
              <a:rPr sz="1100" b="0">
                <a:solidFill>
                  <a:srgbClr val="8397AB"/>
                </a:solidFill>
              </a:rPr>
              <a:t>개발 전체를 루프로</a:t>
            </a:r>
          </a:p>
        </p:txBody>
      </p:sp>
      <p:sp>
        <p:nvSpPr>
          <p:cNvPr id="29" name="TextBox 28"/>
          <p:cNvSpPr txBox="1"/>
          <p:nvPr/>
        </p:nvSpPr>
        <p:spPr>
          <a:xfrm>
            <a:off x="6158484" y="3803904"/>
            <a:ext cx="2065020" cy="292608"/>
          </a:xfrm>
          <a:prstGeom prst="rect">
            <a:avLst/>
          </a:prstGeom>
          <a:noFill/>
        </p:spPr>
        <p:txBody>
          <a:bodyPr wrap="square">
            <a:spAutoFit/>
          </a:bodyPr>
          <a:lstStyle/>
          <a:p>
            <a:pPr algn="ctr"/>
            <a:r>
              <a:rPr sz="1300" b="1">
                <a:solidFill>
                  <a:srgbClr val="31D3B1"/>
                </a:solidFill>
              </a:rPr>
              <a:t>↑ 오늘 데모</a:t>
            </a:r>
          </a:p>
        </p:txBody>
      </p:sp>
      <p:sp>
        <p:nvSpPr>
          <p:cNvPr id="30" name="TextBox 29"/>
          <p:cNvSpPr txBox="1"/>
          <p:nvPr/>
        </p:nvSpPr>
        <p:spPr>
          <a:xfrm>
            <a:off x="1435607" y="3703320"/>
            <a:ext cx="2377440" cy="457200"/>
          </a:xfrm>
          <a:prstGeom prst="rect">
            <a:avLst/>
          </a:prstGeom>
          <a:noFill/>
        </p:spPr>
        <p:txBody>
          <a:bodyPr wrap="square">
            <a:spAutoFit/>
          </a:bodyPr>
          <a:lstStyle/>
          <a:p>
            <a:r>
              <a:rPr sz="1100" b="0">
                <a:solidFill>
                  <a:srgbClr val="8397AB"/>
                </a:solidFill>
              </a:rPr>
              <a:t>↓ 아래로 = 신뢰성·통제</a:t>
            </a:r>
          </a:p>
          <a:p>
            <a:r>
              <a:rPr sz="1100" b="0">
                <a:solidFill>
                  <a:srgbClr val="8397AB"/>
                </a:solidFill>
              </a:rPr>
              <a:t>(깨지면 내려간다)</a:t>
            </a:r>
          </a:p>
        </p:txBody>
      </p:sp>
      <p:sp>
        <p:nvSpPr>
          <p:cNvPr id="31" name="Rounded Rectangle 30"/>
          <p:cNvSpPr/>
          <p:nvPr/>
        </p:nvSpPr>
        <p:spPr>
          <a:xfrm>
            <a:off x="868680" y="5577840"/>
            <a:ext cx="10515600" cy="457200"/>
          </a:xfrm>
          <a:prstGeom prst="roundRect">
            <a:avLst>
              <a:gd name="adj" fmla="val 8000"/>
            </a:avLst>
          </a:prstGeom>
          <a:solidFill>
            <a:srgbClr val="0F2A2A"/>
          </a:solidFill>
          <a:ln w="25400">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F5F8FD"/>
                </a:solidFill>
              </a:rPr>
              <a:t>정답 층은 없다 — 목적에 맞는 층에서 루프를 만들고, 준비되면 올라가고 깨지면 내려온다</a:t>
            </a:r>
          </a:p>
        </p:txBody>
      </p:sp>
      <p:sp>
        <p:nvSpPr>
          <p:cNvPr id="32" name="TextBox 31"/>
          <p:cNvSpPr txBox="1"/>
          <p:nvPr/>
        </p:nvSpPr>
        <p:spPr>
          <a:xfrm>
            <a:off x="868680" y="6080760"/>
            <a:ext cx="10515600" cy="256032"/>
          </a:xfrm>
          <a:prstGeom prst="rect">
            <a:avLst/>
          </a:prstGeom>
          <a:noFill/>
        </p:spPr>
        <p:txBody>
          <a:bodyPr wrap="square">
            <a:spAutoFit/>
          </a:bodyPr>
          <a:lstStyle/>
          <a:p>
            <a:r>
              <a:rPr sz="1000" b="0">
                <a:solidFill>
                  <a:srgbClr val="8397AB"/>
                </a:solidFill>
              </a:rPr>
              <a:t>출처: swyx, “The Highest Loop”, AI Engineer World's Fair 2026 · 단계 구분과 축은 발표 내용을 해석한 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Loop의 뼈대: 제어 루프</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05 / 20</a:t>
            </a:r>
          </a:p>
        </p:txBody>
      </p:sp>
      <p:sp>
        <p:nvSpPr>
          <p:cNvPr id="5" name="TextBox 4"/>
          <p:cNvSpPr txBox="1"/>
          <p:nvPr/>
        </p:nvSpPr>
        <p:spPr>
          <a:xfrm>
            <a:off x="868680" y="1371600"/>
            <a:ext cx="10515600" cy="365760"/>
          </a:xfrm>
          <a:prstGeom prst="rect">
            <a:avLst/>
          </a:prstGeom>
          <a:noFill/>
        </p:spPr>
        <p:txBody>
          <a:bodyPr wrap="square">
            <a:spAutoFit/>
          </a:bodyPr>
          <a:lstStyle/>
          <a:p>
            <a:r>
              <a:rPr sz="1500" b="0">
                <a:solidFill>
                  <a:srgbClr val="8397AB"/>
                </a:solidFill>
              </a:rPr>
              <a:t>Kyle Mistele “Loop Engineering from First Principles” — 측정하고, 보정하고, 다시 측정한다</a:t>
            </a:r>
          </a:p>
        </p:txBody>
      </p:sp>
      <p:sp>
        <p:nvSpPr>
          <p:cNvPr id="6" name="Rounded Rectangle 5"/>
          <p:cNvSpPr/>
          <p:nvPr/>
        </p:nvSpPr>
        <p:spPr>
          <a:xfrm>
            <a:off x="868680" y="2331720"/>
            <a:ext cx="1463040" cy="96012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600" b="0">
                <a:solidFill>
                  <a:srgbClr val="CFDEEB"/>
                </a:solidFill>
              </a:rPr>
              <a:t>목표값</a:t>
            </a:r>
          </a:p>
          <a:p>
            <a:pPr algn="ctr"/>
            <a:r>
              <a:rPr sz="1200" b="0">
                <a:solidFill>
                  <a:srgbClr val="8397AB"/>
                </a:solidFill>
              </a:rPr>
              <a:t>Set point</a:t>
            </a:r>
          </a:p>
        </p:txBody>
      </p:sp>
      <p:sp>
        <p:nvSpPr>
          <p:cNvPr id="7" name="Oval 6"/>
          <p:cNvSpPr/>
          <p:nvPr/>
        </p:nvSpPr>
        <p:spPr>
          <a:xfrm>
            <a:off x="3074670" y="2468879"/>
            <a:ext cx="685800" cy="685800"/>
          </a:xfrm>
          <a:prstGeom prst="ellipse">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8288" rIns="18288" wrap="square"/>
          <a:lstStyle/>
          <a:p>
            <a:pPr algn="ctr"/>
            <a:r>
              <a:rPr sz="1300" b="0">
                <a:solidFill>
                  <a:srgbClr val="CFDEEB"/>
                </a:solidFill>
              </a:rPr>
              <a:t>비교</a:t>
            </a:r>
          </a:p>
        </p:txBody>
      </p:sp>
      <p:sp>
        <p:nvSpPr>
          <p:cNvPr id="8" name="Rounded Rectangle 7"/>
          <p:cNvSpPr/>
          <p:nvPr/>
        </p:nvSpPr>
        <p:spPr>
          <a:xfrm>
            <a:off x="4503420" y="2331720"/>
            <a:ext cx="1737360" cy="960120"/>
          </a:xfrm>
          <a:prstGeom prst="roundRect">
            <a:avLst>
              <a:gd name="adj" fmla="val 8000"/>
            </a:avLst>
          </a:prstGeom>
          <a:solidFill>
            <a:srgbClr val="162236"/>
          </a:solidFill>
          <a:ln w="25400">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600" b="1">
                <a:solidFill>
                  <a:srgbClr val="31D3B1"/>
                </a:solidFill>
              </a:rPr>
              <a:t>컨트롤러</a:t>
            </a:r>
          </a:p>
          <a:p>
            <a:pPr algn="ctr"/>
            <a:r>
              <a:rPr sz="1200" b="0">
                <a:solidFill>
                  <a:srgbClr val="8397AB"/>
                </a:solidFill>
              </a:rPr>
              <a:t>Controller</a:t>
            </a:r>
          </a:p>
        </p:txBody>
      </p:sp>
      <p:sp>
        <p:nvSpPr>
          <p:cNvPr id="9" name="Rounded Rectangle 8"/>
          <p:cNvSpPr/>
          <p:nvPr/>
        </p:nvSpPr>
        <p:spPr>
          <a:xfrm>
            <a:off x="6983729" y="2331720"/>
            <a:ext cx="1737360" cy="960120"/>
          </a:xfrm>
          <a:prstGeom prst="roundRect">
            <a:avLst>
              <a:gd name="adj" fmla="val 8000"/>
            </a:avLst>
          </a:prstGeom>
          <a:solidFill>
            <a:srgbClr val="162236"/>
          </a:solidFill>
          <a:ln w="25400">
            <a:solidFill>
              <a:srgbClr val="7C5CFF"/>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600" b="1">
                <a:solidFill>
                  <a:srgbClr val="7C5CFF"/>
                </a:solidFill>
              </a:rPr>
              <a:t>실행기</a:t>
            </a:r>
          </a:p>
          <a:p>
            <a:pPr algn="ctr"/>
            <a:r>
              <a:rPr sz="1200" b="0">
                <a:solidFill>
                  <a:srgbClr val="8397AB"/>
                </a:solidFill>
              </a:rPr>
              <a:t>Actuator</a:t>
            </a:r>
          </a:p>
        </p:txBody>
      </p:sp>
      <p:sp>
        <p:nvSpPr>
          <p:cNvPr id="10" name="Rounded Rectangle 9"/>
          <p:cNvSpPr/>
          <p:nvPr/>
        </p:nvSpPr>
        <p:spPr>
          <a:xfrm>
            <a:off x="9464040" y="2331720"/>
            <a:ext cx="1920240" cy="96012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600" b="0">
                <a:solidFill>
                  <a:srgbClr val="CFDEEB"/>
                </a:solidFill>
              </a:rPr>
              <a:t>시스템</a:t>
            </a:r>
          </a:p>
          <a:p>
            <a:pPr algn="ctr"/>
            <a:r>
              <a:rPr sz="1200" b="0">
                <a:solidFill>
                  <a:srgbClr val="8397AB"/>
                </a:solidFill>
              </a:rPr>
              <a:t>코드베이스</a:t>
            </a:r>
          </a:p>
        </p:txBody>
      </p:sp>
      <p:cxnSp>
        <p:nvCxnSpPr>
          <p:cNvPr id="11" name="Connector 10"/>
          <p:cNvCxnSpPr/>
          <p:nvPr/>
        </p:nvCxnSpPr>
        <p:spPr>
          <a:xfrm flipV="1">
            <a:off x="2331720" y="2811779"/>
            <a:ext cx="74295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760470" y="2811779"/>
            <a:ext cx="74295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669030" y="2427732"/>
            <a:ext cx="925830" cy="274320"/>
          </a:xfrm>
          <a:prstGeom prst="rect">
            <a:avLst/>
          </a:prstGeom>
          <a:noFill/>
        </p:spPr>
        <p:txBody>
          <a:bodyPr wrap="square">
            <a:spAutoFit/>
          </a:bodyPr>
          <a:lstStyle/>
          <a:p>
            <a:pPr algn="ctr"/>
            <a:r>
              <a:rPr sz="1100" b="0">
                <a:solidFill>
                  <a:srgbClr val="8397AB"/>
                </a:solidFill>
              </a:rPr>
              <a:t>오차</a:t>
            </a:r>
          </a:p>
        </p:txBody>
      </p:sp>
      <p:cxnSp>
        <p:nvCxnSpPr>
          <p:cNvPr id="14" name="Connector 13"/>
          <p:cNvCxnSpPr/>
          <p:nvPr/>
        </p:nvCxnSpPr>
        <p:spPr>
          <a:xfrm flipV="1">
            <a:off x="6240779" y="2811779"/>
            <a:ext cx="74295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149340" y="2427732"/>
            <a:ext cx="925830" cy="274320"/>
          </a:xfrm>
          <a:prstGeom prst="rect">
            <a:avLst/>
          </a:prstGeom>
          <a:noFill/>
        </p:spPr>
        <p:txBody>
          <a:bodyPr wrap="square">
            <a:spAutoFit/>
          </a:bodyPr>
          <a:lstStyle/>
          <a:p>
            <a:pPr algn="ctr"/>
            <a:r>
              <a:rPr sz="1100" b="0">
                <a:solidFill>
                  <a:srgbClr val="8397AB"/>
                </a:solidFill>
              </a:rPr>
              <a:t>보정</a:t>
            </a:r>
          </a:p>
        </p:txBody>
      </p:sp>
      <p:cxnSp>
        <p:nvCxnSpPr>
          <p:cNvPr id="16" name="Connector 15"/>
          <p:cNvCxnSpPr/>
          <p:nvPr/>
        </p:nvCxnSpPr>
        <p:spPr>
          <a:xfrm flipV="1">
            <a:off x="8721090" y="2811779"/>
            <a:ext cx="74295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629650" y="2427732"/>
            <a:ext cx="925830" cy="274320"/>
          </a:xfrm>
          <a:prstGeom prst="rect">
            <a:avLst/>
          </a:prstGeom>
          <a:noFill/>
        </p:spPr>
        <p:txBody>
          <a:bodyPr wrap="square">
            <a:spAutoFit/>
          </a:bodyPr>
          <a:lstStyle/>
          <a:p>
            <a:pPr algn="ctr"/>
            <a:r>
              <a:rPr sz="1100" b="0">
                <a:solidFill>
                  <a:srgbClr val="8397AB"/>
                </a:solidFill>
              </a:rPr>
              <a:t>변경</a:t>
            </a:r>
          </a:p>
        </p:txBody>
      </p:sp>
      <p:sp>
        <p:nvSpPr>
          <p:cNvPr id="18" name="Rounded Rectangle 17"/>
          <p:cNvSpPr/>
          <p:nvPr/>
        </p:nvSpPr>
        <p:spPr>
          <a:xfrm>
            <a:off x="5120640" y="3520440"/>
            <a:ext cx="2651760" cy="73152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F5F8FD"/>
                </a:solidFill>
              </a:rPr>
              <a:t>센서  Sensor</a:t>
            </a:r>
          </a:p>
          <a:p>
            <a:pPr algn="ctr"/>
            <a:r>
              <a:rPr sz="1200" b="0">
                <a:solidFill>
                  <a:srgbClr val="8397AB"/>
                </a:solidFill>
              </a:rPr>
              <a:t>현재 상태를 측정</a:t>
            </a:r>
          </a:p>
        </p:txBody>
      </p:sp>
      <p:cxnSp>
        <p:nvCxnSpPr>
          <p:cNvPr id="19" name="Connector 18"/>
          <p:cNvCxnSpPr/>
          <p:nvPr/>
        </p:nvCxnSpPr>
        <p:spPr>
          <a:xfrm>
            <a:off x="10424160" y="3291839"/>
            <a:ext cx="0" cy="594361"/>
          </a:xfrm>
          <a:prstGeom prst="line">
            <a:avLst/>
          </a:prstGeom>
          <a:ln w="25400">
            <a:solidFill>
              <a:srgbClr val="CFDE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7772400" y="3886200"/>
            <a:ext cx="265176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3417570" y="3886200"/>
            <a:ext cx="1703070" cy="0"/>
          </a:xfrm>
          <a:prstGeom prst="line">
            <a:avLst/>
          </a:prstGeom>
          <a:ln w="25400">
            <a:solidFill>
              <a:srgbClr val="CFDEE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417570" y="3154679"/>
            <a:ext cx="0" cy="731521"/>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509010" y="3520440"/>
            <a:ext cx="1463040" cy="274320"/>
          </a:xfrm>
          <a:prstGeom prst="rect">
            <a:avLst/>
          </a:prstGeom>
          <a:noFill/>
        </p:spPr>
        <p:txBody>
          <a:bodyPr wrap="square">
            <a:spAutoFit/>
          </a:bodyPr>
          <a:lstStyle/>
          <a:p>
            <a:r>
              <a:rPr sz="1100" b="0">
                <a:solidFill>
                  <a:srgbClr val="8397AB"/>
                </a:solidFill>
              </a:rPr>
              <a:t>측정값</a:t>
            </a:r>
          </a:p>
        </p:txBody>
      </p:sp>
      <p:sp>
        <p:nvSpPr>
          <p:cNvPr id="24" name="Rounded Rectangle 23"/>
          <p:cNvSpPr/>
          <p:nvPr/>
        </p:nvSpPr>
        <p:spPr>
          <a:xfrm>
            <a:off x="868680" y="4526280"/>
            <a:ext cx="3352800" cy="123444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400"/>
              </a:spcAft>
            </a:pPr>
            <a:r>
              <a:rPr sz="1500" b="1">
                <a:solidFill>
                  <a:srgbClr val="31D3B1"/>
                </a:solidFill>
              </a:rPr>
              <a:t>온도조절기</a:t>
            </a:r>
          </a:p>
          <a:p>
            <a:pPr algn="ctr">
              <a:spcAft>
                <a:spcPts val="400"/>
              </a:spcAft>
            </a:pPr>
            <a:r>
              <a:rPr sz="1300" b="0">
                <a:solidFill>
                  <a:srgbClr val="CFDEEB"/>
                </a:solidFill>
              </a:rPr>
              <a:t>24°C 설정 → 온도 측정 → 차이만큼 냉방 → 다시 측정</a:t>
            </a:r>
          </a:p>
        </p:txBody>
      </p:sp>
      <p:sp>
        <p:nvSpPr>
          <p:cNvPr id="25" name="Rounded Rectangle 24"/>
          <p:cNvSpPr/>
          <p:nvPr/>
        </p:nvSpPr>
        <p:spPr>
          <a:xfrm>
            <a:off x="4450080" y="4526280"/>
            <a:ext cx="3352800" cy="123444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400"/>
              </a:spcAft>
            </a:pPr>
            <a:r>
              <a:rPr sz="1500" b="1">
                <a:solidFill>
                  <a:srgbClr val="31D3B1"/>
                </a:solidFill>
              </a:rPr>
              <a:t>코딩 Loop</a:t>
            </a:r>
          </a:p>
          <a:p>
            <a:pPr algn="ctr">
              <a:spcAft>
                <a:spcPts val="400"/>
              </a:spcAft>
            </a:pPr>
            <a:r>
              <a:rPr sz="1300" b="0">
                <a:solidFill>
                  <a:srgbClr val="CFDEEB"/>
                </a:solidFill>
              </a:rPr>
              <a:t>원하는 상태(테스트 통과) → 측정 → 작은 수정 → 다시 측정</a:t>
            </a:r>
          </a:p>
        </p:txBody>
      </p:sp>
      <p:sp>
        <p:nvSpPr>
          <p:cNvPr id="26" name="Rounded Rectangle 25"/>
          <p:cNvSpPr/>
          <p:nvPr/>
        </p:nvSpPr>
        <p:spPr>
          <a:xfrm>
            <a:off x="8031480" y="4526280"/>
            <a:ext cx="3352800" cy="123444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400"/>
              </a:spcAft>
            </a:pPr>
            <a:r>
              <a:rPr sz="1500" b="1">
                <a:solidFill>
                  <a:srgbClr val="31D3B1"/>
                </a:solidFill>
              </a:rPr>
              <a:t>핵심: 작게 고치고 다시 잰다</a:t>
            </a:r>
          </a:p>
          <a:p>
            <a:pPr algn="ctr">
              <a:spcAft>
                <a:spcPts val="400"/>
              </a:spcAft>
            </a:pPr>
            <a:r>
              <a:rPr sz="1300" b="0">
                <a:solidFill>
                  <a:srgbClr val="CFDEEB"/>
                </a:solidFill>
              </a:rPr>
              <a:t>한 번에 끝내려 하면 과하게 꺾는다. 측정 없는 반복은 ‘눈먼 루프’</a:t>
            </a:r>
          </a:p>
        </p:txBody>
      </p:sp>
      <p:sp>
        <p:nvSpPr>
          <p:cNvPr id="27" name="TextBox 26"/>
          <p:cNvSpPr txBox="1"/>
          <p:nvPr/>
        </p:nvSpPr>
        <p:spPr>
          <a:xfrm>
            <a:off x="868680" y="6053328"/>
            <a:ext cx="10515600" cy="274320"/>
          </a:xfrm>
          <a:prstGeom prst="rect">
            <a:avLst/>
          </a:prstGeom>
          <a:noFill/>
        </p:spPr>
        <p:txBody>
          <a:bodyPr wrap="square">
            <a:spAutoFit/>
          </a:bodyPr>
          <a:lstStyle/>
          <a:p>
            <a:r>
              <a:rPr sz="1000" b="0">
                <a:solidFill>
                  <a:srgbClr val="8397AB"/>
                </a:solidFill>
              </a:rPr>
              <a:t>출처: Kyle Mistele, “Loop Engineering from First Principles”, AI Engineer World's Fair 2026 · 발표의 제어 루프 다이어그램을 한국어로 재구성</a:t>
            </a:r>
          </a:p>
        </p:txBody>
      </p:sp>
      <p:sp>
        <p:nvSpPr>
          <p:cNvPr id="28" name="TextBox 27"/>
          <p:cNvSpPr txBox="1"/>
          <p:nvPr/>
        </p:nvSpPr>
        <p:spPr>
          <a:xfrm>
            <a:off x="868680" y="329184"/>
            <a:ext cx="10515600" cy="274320"/>
          </a:xfrm>
          <a:prstGeom prst="rect">
            <a:avLst/>
          </a:prstGeom>
          <a:noFill/>
        </p:spPr>
        <p:txBody>
          <a:bodyPr wrap="square">
            <a:spAutoFit/>
          </a:bodyPr>
          <a:lstStyle/>
          <a:p>
            <a:r>
              <a:rPr sz="1100" b="1">
                <a:solidFill>
                  <a:srgbClr val="31D3B1"/>
                </a:solidFill>
              </a:rPr>
              <a:t>PART 2 · Loop는 어떻게 생겼나 — ① 루프는 무엇으로 이루어지나?</a:t>
            </a:r>
          </a:p>
        </p:txBody>
      </p:sp>
      <p:sp>
        <p:nvSpPr>
          <p:cNvPr id="29" name="TextBox 28"/>
          <p:cNvSpPr txBox="1"/>
          <p:nvPr/>
        </p:nvSpPr>
        <p:spPr>
          <a:xfrm>
            <a:off x="9098280" y="1764792"/>
            <a:ext cx="2651760" cy="274320"/>
          </a:xfrm>
          <a:prstGeom prst="rect">
            <a:avLst/>
          </a:prstGeom>
          <a:noFill/>
        </p:spPr>
        <p:txBody>
          <a:bodyPr wrap="square">
            <a:spAutoFit/>
          </a:bodyPr>
          <a:lstStyle/>
          <a:p>
            <a:pPr algn="ctr"/>
            <a:r>
              <a:rPr sz="1100" b="1">
                <a:solidFill>
                  <a:srgbClr val="FACC15"/>
                </a:solidFill>
              </a:rPr>
              <a:t>외부 변화  Disturbance</a:t>
            </a:r>
          </a:p>
        </p:txBody>
      </p:sp>
      <p:cxnSp>
        <p:nvCxnSpPr>
          <p:cNvPr id="30" name="Connector 29"/>
          <p:cNvCxnSpPr/>
          <p:nvPr/>
        </p:nvCxnSpPr>
        <p:spPr>
          <a:xfrm>
            <a:off x="10424160" y="2029968"/>
            <a:ext cx="0" cy="301752"/>
          </a:xfrm>
          <a:prstGeom prst="line">
            <a:avLst/>
          </a:prstGeom>
          <a:ln w="22225">
            <a:solidFill>
              <a:srgbClr val="FACC15"/>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Inner Loop vs Outer Loop</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06 / 20</a:t>
            </a:r>
          </a:p>
        </p:txBody>
      </p:sp>
      <p:sp>
        <p:nvSpPr>
          <p:cNvPr id="5" name="TextBox 4"/>
          <p:cNvSpPr txBox="1"/>
          <p:nvPr/>
        </p:nvSpPr>
        <p:spPr>
          <a:xfrm>
            <a:off x="868680" y="1371600"/>
            <a:ext cx="10515600" cy="365760"/>
          </a:xfrm>
          <a:prstGeom prst="rect">
            <a:avLst/>
          </a:prstGeom>
          <a:noFill/>
        </p:spPr>
        <p:txBody>
          <a:bodyPr wrap="square">
            <a:spAutoFit/>
          </a:bodyPr>
          <a:lstStyle/>
          <a:p>
            <a:r>
              <a:rPr sz="1500" b="0">
                <a:solidFill>
                  <a:srgbClr val="8397AB"/>
                </a:solidFill>
              </a:rPr>
              <a:t>평소 Kiro · Claude Code도 이미 루프를 돈다 — 차이는 ‘누가, 무엇을 기준으로 끝내는가’</a:t>
            </a:r>
          </a:p>
        </p:txBody>
      </p:sp>
      <p:sp>
        <p:nvSpPr>
          <p:cNvPr id="6" name="Rounded Rectangle 5"/>
          <p:cNvSpPr/>
          <p:nvPr/>
        </p:nvSpPr>
        <p:spPr>
          <a:xfrm>
            <a:off x="868680" y="1874519"/>
            <a:ext cx="6126480" cy="3886200"/>
          </a:xfrm>
          <a:prstGeom prst="roundRect">
            <a:avLst>
              <a:gd name="adj" fmla="val 4000"/>
            </a:avLst>
          </a:prstGeom>
          <a:noFill/>
          <a:ln w="22225">
            <a:solidFill>
              <a:srgbClr val="31D3B1"/>
            </a:solidFill>
            <a:prstDash val="dash"/>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1005840" y="1938528"/>
            <a:ext cx="5852160" cy="320040"/>
          </a:xfrm>
          <a:prstGeom prst="rect">
            <a:avLst/>
          </a:prstGeom>
          <a:noFill/>
        </p:spPr>
        <p:txBody>
          <a:bodyPr wrap="square">
            <a:spAutoFit/>
          </a:bodyPr>
          <a:lstStyle/>
          <a:p>
            <a:r>
              <a:rPr sz="1300" b="1">
                <a:solidFill>
                  <a:srgbClr val="31D3B1"/>
                </a:solidFill>
              </a:rPr>
              <a:t>Outer Loop — 바깥 프로그램(Controller)이 세션 전체를 반복</a:t>
            </a:r>
          </a:p>
        </p:txBody>
      </p:sp>
      <p:sp>
        <p:nvSpPr>
          <p:cNvPr id="8" name="Rounded Rectangle 7"/>
          <p:cNvSpPr/>
          <p:nvPr/>
        </p:nvSpPr>
        <p:spPr>
          <a:xfrm>
            <a:off x="1143000" y="2468880"/>
            <a:ext cx="3200400" cy="1874519"/>
          </a:xfrm>
          <a:prstGeom prst="roundRect">
            <a:avLst>
              <a:gd name="adj" fmla="val 8000"/>
            </a:avLst>
          </a:prstGeom>
          <a:solidFill>
            <a:srgbClr val="1E183D"/>
          </a:solidFill>
          <a:ln w="25400">
            <a:solidFill>
              <a:srgbClr val="7C5CFF"/>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400"/>
              </a:spcAft>
            </a:pPr>
            <a:r>
              <a:rPr sz="1500" b="1">
                <a:solidFill>
                  <a:srgbClr val="7C5CFF"/>
                </a:solidFill>
              </a:rPr>
              <a:t>Kiro 세션 = Inner Loop</a:t>
            </a:r>
          </a:p>
          <a:p>
            <a:pPr algn="ctr">
              <a:spcAft>
                <a:spcPts val="400"/>
              </a:spcAft>
            </a:pPr>
            <a:r>
              <a:rPr sz="1400" b="0">
                <a:solidFill>
                  <a:srgbClr val="CFDEEB"/>
                </a:solidFill>
              </a:rPr>
              <a:t>모델 → 도구 호출 → 결과 확인</a:t>
            </a:r>
          </a:p>
          <a:p>
            <a:pPr algn="ctr">
              <a:spcAft>
                <a:spcPts val="400"/>
              </a:spcAft>
            </a:pPr>
            <a:r>
              <a:rPr sz="1400" b="0">
                <a:solidFill>
                  <a:srgbClr val="CFDEEB"/>
                </a:solidFill>
              </a:rPr>
              <a:t>→ 모델 → … → “완료”</a:t>
            </a:r>
          </a:p>
        </p:txBody>
      </p:sp>
      <p:sp>
        <p:nvSpPr>
          <p:cNvPr id="9" name="Rounded Rectangle 8"/>
          <p:cNvSpPr/>
          <p:nvPr/>
        </p:nvSpPr>
        <p:spPr>
          <a:xfrm>
            <a:off x="4892040" y="2468880"/>
            <a:ext cx="1783080" cy="1874519"/>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200"/>
              </a:spcAft>
            </a:pPr>
            <a:r>
              <a:rPr sz="1500" b="1">
                <a:solidFill>
                  <a:srgbClr val="F5F8FD"/>
                </a:solidFill>
              </a:rPr>
              <a:t>독립 검증</a:t>
            </a:r>
          </a:p>
          <a:p>
            <a:pPr algn="ctr">
              <a:spcAft>
                <a:spcPts val="200"/>
              </a:spcAft>
            </a:pPr>
            <a:r>
              <a:rPr sz="1200" b="0">
                <a:solidFill>
                  <a:srgbClr val="8397AB"/>
                </a:solidFill>
              </a:rPr>
              <a:t>테스트 실행</a:t>
            </a:r>
          </a:p>
          <a:p>
            <a:pPr algn="ctr">
              <a:spcAft>
                <a:spcPts val="200"/>
              </a:spcAft>
            </a:pPr>
            <a:r>
              <a:rPr sz="1300" b="1">
                <a:solidFill>
                  <a:srgbClr val="4ADE80"/>
                </a:solidFill>
              </a:rPr>
              <a:t>PASS → 종료</a:t>
            </a:r>
          </a:p>
          <a:p>
            <a:pPr algn="ctr">
              <a:spcAft>
                <a:spcPts val="200"/>
              </a:spcAft>
            </a:pPr>
            <a:r>
              <a:rPr sz="1300" b="1">
                <a:solidFill>
                  <a:srgbClr val="FF6B6B"/>
                </a:solidFill>
              </a:rPr>
              <a:t>FAIL ↓</a:t>
            </a:r>
          </a:p>
        </p:txBody>
      </p:sp>
      <p:cxnSp>
        <p:nvCxnSpPr>
          <p:cNvPr id="10" name="Connector 9"/>
          <p:cNvCxnSpPr/>
          <p:nvPr/>
        </p:nvCxnSpPr>
        <p:spPr>
          <a:xfrm>
            <a:off x="4343400" y="3401568"/>
            <a:ext cx="54864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783579" y="4343400"/>
            <a:ext cx="0" cy="548640"/>
          </a:xfrm>
          <a:prstGeom prst="line">
            <a:avLst/>
          </a:prstGeom>
          <a:ln w="25400">
            <a:solidFill>
              <a:srgbClr val="FF6B6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743200" y="4892040"/>
            <a:ext cx="3040379" cy="0"/>
          </a:xfrm>
          <a:prstGeom prst="line">
            <a:avLst/>
          </a:prstGeom>
          <a:ln w="25400">
            <a:solidFill>
              <a:srgbClr val="FF6B6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743200" y="4343400"/>
            <a:ext cx="0" cy="548640"/>
          </a:xfrm>
          <a:prstGeom prst="line">
            <a:avLst/>
          </a:prstGeom>
          <a:ln w="25400">
            <a:solidFill>
              <a:srgbClr val="FF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834640" y="4937759"/>
            <a:ext cx="4114800" cy="320040"/>
          </a:xfrm>
          <a:prstGeom prst="rect">
            <a:avLst/>
          </a:prstGeom>
          <a:noFill/>
        </p:spPr>
        <p:txBody>
          <a:bodyPr wrap="square">
            <a:spAutoFit/>
          </a:bodyPr>
          <a:lstStyle/>
          <a:p>
            <a:r>
              <a:rPr sz="1200" b="1">
                <a:solidFill>
                  <a:srgbClr val="FF6B6B"/>
                </a:solidFill>
              </a:rPr>
              <a:t>실패 로그를 들고 새 세션 시작 (사람 입력 없음)</a:t>
            </a:r>
          </a:p>
        </p:txBody>
      </p:sp>
      <p:sp>
        <p:nvSpPr>
          <p:cNvPr id="15" name="Rounded Rectangle 14"/>
          <p:cNvSpPr/>
          <p:nvPr/>
        </p:nvSpPr>
        <p:spPr>
          <a:xfrm>
            <a:off x="7269480" y="1874519"/>
            <a:ext cx="4114800" cy="1828800"/>
          </a:xfrm>
          <a:prstGeom prst="roundRect">
            <a:avLst>
              <a:gd name="adj" fmla="val 8000"/>
            </a:avLst>
          </a:prstGeom>
          <a:solidFill>
            <a:srgbClr val="162236"/>
          </a:solidFill>
          <a:ln w="25400">
            <a:solidFill>
              <a:srgbClr val="7C5CFF"/>
            </a:solidFill>
          </a:ln>
        </p:spPr>
        <p:style>
          <a:lnRef idx="1">
            <a:schemeClr val="accent1"/>
          </a:lnRef>
          <a:fillRef idx="3">
            <a:schemeClr val="accent1"/>
          </a:fillRef>
          <a:effectRef idx="2">
            <a:schemeClr val="accent1"/>
          </a:effectRef>
          <a:fontRef idx="minor">
            <a:schemeClr val="lt1"/>
          </a:fontRef>
        </p:style>
        <p:txBody>
          <a:bodyPr rtlCol="0" anchor="ctr" lIns="228600" rIns="228600" wrap="square"/>
          <a:lstStyle/>
          <a:p>
            <a:pPr algn="l">
              <a:spcAft>
                <a:spcPts val="400"/>
              </a:spcAft>
            </a:pPr>
            <a:r>
              <a:rPr sz="1700" b="1">
                <a:solidFill>
                  <a:srgbClr val="7C5CFF"/>
                </a:solidFill>
              </a:rPr>
              <a:t>Inner Loop</a:t>
            </a:r>
          </a:p>
          <a:p>
            <a:pPr algn="l">
              <a:spcAft>
                <a:spcPts val="400"/>
              </a:spcAft>
            </a:pPr>
            <a:r>
              <a:rPr sz="1400" b="0">
                <a:solidFill>
                  <a:srgbClr val="CFDEEB"/>
                </a:solidFill>
              </a:rPr>
              <a:t>반복 단위: 모델 ↔ 도구 호출</a:t>
            </a:r>
          </a:p>
          <a:p>
            <a:pPr algn="l">
              <a:spcAft>
                <a:spcPts val="400"/>
              </a:spcAft>
            </a:pPr>
            <a:r>
              <a:rPr sz="1400" b="0">
                <a:solidFill>
                  <a:srgbClr val="CFDEEB"/>
                </a:solidFill>
              </a:rPr>
              <a:t>끝내는 주체: AI 자신</a:t>
            </a:r>
          </a:p>
          <a:p>
            <a:pPr algn="l">
              <a:spcAft>
                <a:spcPts val="400"/>
              </a:spcAft>
            </a:pPr>
            <a:r>
              <a:rPr sz="1400" b="0">
                <a:solidFill>
                  <a:srgbClr val="CFDEEB"/>
                </a:solidFill>
              </a:rPr>
              <a:t>종료 기준: AI가 “다 됐다”고 판단</a:t>
            </a:r>
          </a:p>
        </p:txBody>
      </p:sp>
      <p:sp>
        <p:nvSpPr>
          <p:cNvPr id="16" name="Rounded Rectangle 15"/>
          <p:cNvSpPr/>
          <p:nvPr/>
        </p:nvSpPr>
        <p:spPr>
          <a:xfrm>
            <a:off x="7269480" y="3931920"/>
            <a:ext cx="4114800" cy="1828800"/>
          </a:xfrm>
          <a:prstGeom prst="roundRect">
            <a:avLst>
              <a:gd name="adj" fmla="val 8000"/>
            </a:avLst>
          </a:prstGeom>
          <a:solidFill>
            <a:srgbClr val="162236"/>
          </a:solidFill>
          <a:ln w="25400">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lIns="228600" rIns="228600" wrap="square"/>
          <a:lstStyle/>
          <a:p>
            <a:pPr algn="l">
              <a:spcAft>
                <a:spcPts val="400"/>
              </a:spcAft>
            </a:pPr>
            <a:r>
              <a:rPr sz="1700" b="1">
                <a:solidFill>
                  <a:srgbClr val="31D3B1"/>
                </a:solidFill>
              </a:rPr>
              <a:t>Outer Loop</a:t>
            </a:r>
          </a:p>
          <a:p>
            <a:pPr algn="l">
              <a:spcAft>
                <a:spcPts val="400"/>
              </a:spcAft>
            </a:pPr>
            <a:r>
              <a:rPr sz="1400" b="0">
                <a:solidFill>
                  <a:srgbClr val="CFDEEB"/>
                </a:solidFill>
              </a:rPr>
              <a:t>반복 단위: AI 세션 전체</a:t>
            </a:r>
          </a:p>
          <a:p>
            <a:pPr algn="l">
              <a:spcAft>
                <a:spcPts val="400"/>
              </a:spcAft>
            </a:pPr>
            <a:r>
              <a:rPr sz="1400" b="0">
                <a:solidFill>
                  <a:srgbClr val="CFDEEB"/>
                </a:solidFill>
              </a:rPr>
              <a:t>끝내는 주체: 외부 Controller</a:t>
            </a:r>
          </a:p>
          <a:p>
            <a:pPr algn="l">
              <a:spcAft>
                <a:spcPts val="400"/>
              </a:spcAft>
            </a:pPr>
            <a:r>
              <a:rPr sz="1400" b="0">
                <a:solidFill>
                  <a:srgbClr val="CFDEEB"/>
                </a:solidFill>
              </a:rPr>
              <a:t>종료 기준: 테스트 PASS · 횟수/시간 한도</a:t>
            </a:r>
          </a:p>
        </p:txBody>
      </p:sp>
      <p:sp>
        <p:nvSpPr>
          <p:cNvPr id="17" name="TextBox 16"/>
          <p:cNvSpPr txBox="1"/>
          <p:nvPr/>
        </p:nvSpPr>
        <p:spPr>
          <a:xfrm>
            <a:off x="868680" y="5779008"/>
            <a:ext cx="10515600" cy="320040"/>
          </a:xfrm>
          <a:prstGeom prst="rect">
            <a:avLst/>
          </a:prstGeom>
          <a:noFill/>
        </p:spPr>
        <p:txBody>
          <a:bodyPr wrap="square">
            <a:spAutoFit/>
          </a:bodyPr>
          <a:lstStyle/>
          <a:p>
            <a:r>
              <a:rPr sz="1300" b="0">
                <a:solidFill>
                  <a:srgbClr val="CFDEEB"/>
                </a:solidFill>
              </a:rPr>
              <a:t>“Agents run the inner loop. Engineers own the outer loop.” — Addy Osmani, AI Engineer World's Fair 2026 키노트</a:t>
            </a:r>
          </a:p>
        </p:txBody>
      </p:sp>
      <p:sp>
        <p:nvSpPr>
          <p:cNvPr id="18" name="TextBox 17"/>
          <p:cNvSpPr txBox="1"/>
          <p:nvPr/>
        </p:nvSpPr>
        <p:spPr>
          <a:xfrm>
            <a:off x="868680" y="329184"/>
            <a:ext cx="10515600" cy="274320"/>
          </a:xfrm>
          <a:prstGeom prst="rect">
            <a:avLst/>
          </a:prstGeom>
          <a:noFill/>
        </p:spPr>
        <p:txBody>
          <a:bodyPr wrap="square">
            <a:spAutoFit/>
          </a:bodyPr>
          <a:lstStyle/>
          <a:p>
            <a:r>
              <a:rPr sz="1100" b="1">
                <a:solidFill>
                  <a:srgbClr val="31D3B1"/>
                </a:solidFill>
              </a:rPr>
              <a:t>PART 2 · Loop는 어떻게 생겼나 — ② 그 부품을 누가 맡나?</a:t>
            </a:r>
          </a:p>
        </p:txBody>
      </p:sp>
      <p:sp>
        <p:nvSpPr>
          <p:cNvPr id="19" name="TextBox 18"/>
          <p:cNvSpPr txBox="1"/>
          <p:nvPr/>
        </p:nvSpPr>
        <p:spPr>
          <a:xfrm>
            <a:off x="868680" y="6080760"/>
            <a:ext cx="10515600" cy="256032"/>
          </a:xfrm>
          <a:prstGeom prst="rect">
            <a:avLst/>
          </a:prstGeom>
          <a:noFill/>
        </p:spPr>
        <p:txBody>
          <a:bodyPr wrap="none">
            <a:spAutoFit/>
          </a:bodyPr>
          <a:lstStyle/>
          <a:p>
            <a:r>
              <a:rPr sz="1000">
                <a:solidFill>
                  <a:srgbClr val="8397AB"/>
                </a:solidFill>
              </a:rPr>
              <a:t>용어 출처: Addy Osmani “Own the Outer Loop” (AIEWF 2026 키노트) · 보조: Shawn Greyling (2026-06-14), Philipp Schmid (2026-02-20) — Outer Loop의 의미는 출처마다 조금씩 다름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왜 독립된 검증이 필요한가</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07 / 20</a:t>
            </a:r>
          </a:p>
        </p:txBody>
      </p:sp>
      <p:sp>
        <p:nvSpPr>
          <p:cNvPr id="5" name="Rounded Rectangle 4"/>
          <p:cNvSpPr/>
          <p:nvPr/>
        </p:nvSpPr>
        <p:spPr>
          <a:xfrm>
            <a:off x="868680" y="1463040"/>
            <a:ext cx="10515600" cy="160020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spcAft>
                <a:spcPts val="400"/>
              </a:spcAft>
            </a:pPr>
            <a:r>
              <a:rPr sz="2100" b="1">
                <a:solidFill>
                  <a:srgbClr val="F5F8FD"/>
                </a:solidFill>
              </a:rPr>
              <a:t>“The model that wrote the code is way too nice grading its own homework.”</a:t>
            </a:r>
          </a:p>
          <a:p>
            <a:pPr algn="l">
              <a:spcAft>
                <a:spcPts val="400"/>
              </a:spcAft>
            </a:pPr>
            <a:r>
              <a:rPr sz="1800" b="1">
                <a:solidFill>
                  <a:srgbClr val="31D3B1"/>
                </a:solidFill>
              </a:rPr>
              <a:t>코드를 쓴 모델은 자기 숙제를 너무 후하게 채점한다</a:t>
            </a:r>
          </a:p>
          <a:p>
            <a:pPr algn="l">
              <a:spcAft>
                <a:spcPts val="400"/>
              </a:spcAft>
            </a:pPr>
            <a:r>
              <a:rPr sz="1200" b="0">
                <a:solidFill>
                  <a:srgbClr val="8397AB"/>
                </a:solidFill>
              </a:rPr>
              <a:t>— Addy Osmani (Google Cloud), Business Insider 기사 인용</a:t>
            </a:r>
          </a:p>
        </p:txBody>
      </p:sp>
      <p:sp>
        <p:nvSpPr>
          <p:cNvPr id="6" name="Rounded Rectangle 5"/>
          <p:cNvSpPr/>
          <p:nvPr/>
        </p:nvSpPr>
        <p:spPr>
          <a:xfrm>
            <a:off x="868680" y="3337560"/>
            <a:ext cx="4572000" cy="1234440"/>
          </a:xfrm>
          <a:prstGeom prst="roundRect">
            <a:avLst>
              <a:gd name="adj" fmla="val 8000"/>
            </a:avLst>
          </a:prstGeom>
          <a:solidFill>
            <a:srgbClr val="162236"/>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200"/>
              </a:spcAft>
            </a:pPr>
            <a:r>
              <a:rPr sz="1400" b="1">
                <a:solidFill>
                  <a:srgbClr val="8397AB"/>
                </a:solidFill>
              </a:rPr>
              <a:t>AI의 완료 선언</a:t>
            </a:r>
          </a:p>
          <a:p>
            <a:pPr algn="ctr">
              <a:spcAft>
                <a:spcPts val="200"/>
              </a:spcAft>
            </a:pPr>
            <a:r>
              <a:rPr sz="2000" b="1">
                <a:solidFill>
                  <a:srgbClr val="F5F8FD"/>
                </a:solidFill>
              </a:rPr>
              <a:t>“고쳤습니다”</a:t>
            </a:r>
          </a:p>
          <a:p>
            <a:pPr algn="ctr">
              <a:spcAft>
                <a:spcPts val="200"/>
              </a:spcAft>
            </a:pPr>
            <a:r>
              <a:rPr sz="1400" b="1">
                <a:solidFill>
                  <a:srgbClr val="FF6B6B"/>
                </a:solidFill>
              </a:rPr>
              <a:t>= 주장 (claim)</a:t>
            </a:r>
          </a:p>
        </p:txBody>
      </p:sp>
      <p:sp>
        <p:nvSpPr>
          <p:cNvPr id="7" name="TextBox 6"/>
          <p:cNvSpPr txBox="1"/>
          <p:nvPr/>
        </p:nvSpPr>
        <p:spPr>
          <a:xfrm>
            <a:off x="5440680" y="3337560"/>
            <a:ext cx="1371600" cy="1234440"/>
          </a:xfrm>
          <a:prstGeom prst="rect">
            <a:avLst/>
          </a:prstGeom>
          <a:noFill/>
        </p:spPr>
        <p:txBody>
          <a:bodyPr wrap="square" anchor="ctr">
            <a:spAutoFit/>
          </a:bodyPr>
          <a:lstStyle/>
          <a:p>
            <a:pPr algn="ctr"/>
            <a:r>
              <a:rPr sz="4000" b="1">
                <a:solidFill>
                  <a:srgbClr val="8397AB"/>
                </a:solidFill>
              </a:rPr>
              <a:t>≠</a:t>
            </a:r>
          </a:p>
        </p:txBody>
      </p:sp>
      <p:sp>
        <p:nvSpPr>
          <p:cNvPr id="8" name="Rounded Rectangle 7"/>
          <p:cNvSpPr/>
          <p:nvPr/>
        </p:nvSpPr>
        <p:spPr>
          <a:xfrm>
            <a:off x="6812279" y="3337560"/>
            <a:ext cx="4572000" cy="1234440"/>
          </a:xfrm>
          <a:prstGeom prst="roundRect">
            <a:avLst>
              <a:gd name="adj" fmla="val 8000"/>
            </a:avLst>
          </a:prstGeom>
          <a:solidFill>
            <a:srgbClr val="162236"/>
          </a:solidFill>
          <a:ln w="1905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200"/>
              </a:spcAft>
            </a:pPr>
            <a:r>
              <a:rPr sz="1400" b="1">
                <a:solidFill>
                  <a:srgbClr val="8397AB"/>
                </a:solidFill>
              </a:rPr>
              <a:t>시스템의 완료 승인</a:t>
            </a:r>
          </a:p>
          <a:p>
            <a:pPr algn="ctr">
              <a:spcAft>
                <a:spcPts val="200"/>
              </a:spcAft>
            </a:pPr>
            <a:r>
              <a:rPr sz="2000" b="1">
                <a:solidFill>
                  <a:srgbClr val="F5F8FD"/>
                </a:solidFill>
              </a:rPr>
              <a:t>테스트 PASS</a:t>
            </a:r>
          </a:p>
          <a:p>
            <a:pPr algn="ctr">
              <a:spcAft>
                <a:spcPts val="200"/>
              </a:spcAft>
            </a:pPr>
            <a:r>
              <a:rPr sz="1400" b="1">
                <a:solidFill>
                  <a:srgbClr val="4ADE80"/>
                </a:solidFill>
              </a:rPr>
              <a:t>= 증거 (evidence)</a:t>
            </a:r>
          </a:p>
        </p:txBody>
      </p:sp>
      <p:sp>
        <p:nvSpPr>
          <p:cNvPr id="9" name="TextBox 8"/>
          <p:cNvSpPr txBox="1"/>
          <p:nvPr/>
        </p:nvSpPr>
        <p:spPr>
          <a:xfrm>
            <a:off x="868680" y="4800600"/>
            <a:ext cx="5166360" cy="1005840"/>
          </a:xfrm>
          <a:prstGeom prst="rect">
            <a:avLst/>
          </a:prstGeom>
          <a:noFill/>
        </p:spPr>
        <p:txBody>
          <a:bodyPr wrap="square">
            <a:spAutoFit/>
          </a:bodyPr>
          <a:lstStyle/>
          <a:p>
            <a:pPr>
              <a:spcAft>
                <a:spcPts val="600"/>
              </a:spcAft>
            </a:pPr>
            <a:r>
              <a:rPr sz="1500" b="0">
                <a:solidFill>
                  <a:srgbClr val="CFDEEB"/>
                </a:solidFill>
              </a:rPr>
              <a:t>• AI 세션이 끝나도 판정은 Controller가 한다</a:t>
            </a:r>
          </a:p>
          <a:p>
            <a:pPr>
              <a:spcAft>
                <a:spcPts val="600"/>
              </a:spcAft>
            </a:pPr>
            <a:r>
              <a:rPr sz="1500" b="0">
                <a:solidFill>
                  <a:srgbClr val="CFDEEB"/>
                </a:solidFill>
              </a:rPr>
              <a:t>• AI가 “성공”이라 해도 테스트가 실패하면 다시 돈다</a:t>
            </a:r>
          </a:p>
        </p:txBody>
      </p:sp>
      <p:sp>
        <p:nvSpPr>
          <p:cNvPr id="10" name="TextBox 9"/>
          <p:cNvSpPr txBox="1"/>
          <p:nvPr/>
        </p:nvSpPr>
        <p:spPr>
          <a:xfrm>
            <a:off x="6217920" y="4800600"/>
            <a:ext cx="5166360" cy="1005840"/>
          </a:xfrm>
          <a:prstGeom prst="rect">
            <a:avLst/>
          </a:prstGeom>
          <a:noFill/>
        </p:spPr>
        <p:txBody>
          <a:bodyPr wrap="square">
            <a:spAutoFit/>
          </a:bodyPr>
          <a:lstStyle/>
          <a:p>
            <a:pPr>
              <a:spcAft>
                <a:spcPts val="600"/>
              </a:spcAft>
            </a:pPr>
            <a:r>
              <a:rPr sz="1500" b="0">
                <a:solidFill>
                  <a:srgbClr val="CFDEEB"/>
                </a:solidFill>
              </a:rPr>
              <a:t>• 실패 로그를 다음 새 세션에 전달한다</a:t>
            </a:r>
          </a:p>
          <a:p>
            <a:pPr>
              <a:spcAft>
                <a:spcPts val="600"/>
              </a:spcAft>
            </a:pPr>
            <a:r>
              <a:rPr sz="1500" b="0">
                <a:solidFill>
                  <a:srgbClr val="CFDEEB"/>
                </a:solidFill>
              </a:rPr>
              <a:t>• 최대 횟수에 도달하면 실패로 끝낸다</a:t>
            </a:r>
          </a:p>
        </p:txBody>
      </p:sp>
      <p:sp>
        <p:nvSpPr>
          <p:cNvPr id="11" name="TextBox 10"/>
          <p:cNvSpPr txBox="1"/>
          <p:nvPr/>
        </p:nvSpPr>
        <p:spPr>
          <a:xfrm>
            <a:off x="868680" y="329184"/>
            <a:ext cx="10515600" cy="274320"/>
          </a:xfrm>
          <a:prstGeom prst="rect">
            <a:avLst/>
          </a:prstGeom>
          <a:noFill/>
        </p:spPr>
        <p:txBody>
          <a:bodyPr wrap="square">
            <a:spAutoFit/>
          </a:bodyPr>
          <a:lstStyle/>
          <a:p>
            <a:r>
              <a:rPr sz="1100" b="1">
                <a:solidFill>
                  <a:srgbClr val="31D3B1"/>
                </a:solidFill>
              </a:rPr>
              <a:t>PART 2 · Loop는 어떻게 생겼나 — ③ 왜 떼어 놓아야 하나?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none">
            <a:spAutoFit/>
          </a:bodyPr>
          <a:lstStyle/>
          <a:p>
            <a:r>
              <a:rPr sz="3200" b="1">
                <a:solidFill>
                  <a:srgbClr val="F5F8FD"/>
                </a:solidFill>
              </a:rPr>
              <a:t>데모 시나리오: 할인 계산기 버그 고치기</a:t>
            </a:r>
          </a:p>
        </p:txBody>
      </p:sp>
      <p:sp>
        <p:nvSpPr>
          <p:cNvPr id="5" name="TextBox 4"/>
          <p:cNvSpPr txBox="1"/>
          <p:nvPr/>
        </p:nvSpPr>
        <p:spPr>
          <a:xfrm>
            <a:off x="868680" y="6492240"/>
            <a:ext cx="10515600" cy="201168"/>
          </a:xfrm>
          <a:prstGeom prst="rect">
            <a:avLst/>
          </a:prstGeom>
          <a:noFill/>
        </p:spPr>
        <p:txBody>
          <a:bodyPr wrap="none">
            <a:spAutoFit/>
          </a:bodyPr>
          <a:lstStyle/>
          <a:p>
            <a:r>
              <a:rPr sz="1000">
                <a:solidFill>
                  <a:srgbClr val="8397AB"/>
                </a:solidFill>
              </a:rPr>
              <a:t>AI Agent Loop · 2026.10.21                                     08 / 20</a:t>
            </a:r>
          </a:p>
        </p:txBody>
      </p:sp>
      <p:sp>
        <p:nvSpPr>
          <p:cNvPr id="6" name="TextBox 5"/>
          <p:cNvSpPr txBox="1"/>
          <p:nvPr/>
        </p:nvSpPr>
        <p:spPr>
          <a:xfrm>
            <a:off x="868680" y="1554480"/>
            <a:ext cx="4206240" cy="320040"/>
          </a:xfrm>
          <a:prstGeom prst="rect">
            <a:avLst/>
          </a:prstGeom>
          <a:noFill/>
        </p:spPr>
        <p:txBody>
          <a:bodyPr wrap="square">
            <a:spAutoFit/>
          </a:bodyPr>
          <a:lstStyle/>
          <a:p>
            <a:r>
              <a:rPr sz="1400" b="1">
                <a:solidFill>
                  <a:srgbClr val="8397AB"/>
                </a:solidFill>
              </a:rPr>
              <a:t>현재 코드 — 입력 검사가 없다</a:t>
            </a:r>
          </a:p>
        </p:txBody>
      </p:sp>
      <p:sp>
        <p:nvSpPr>
          <p:cNvPr id="7" name="Rounded Rectangle 6"/>
          <p:cNvSpPr/>
          <p:nvPr/>
        </p:nvSpPr>
        <p:spPr>
          <a:xfrm>
            <a:off x="868680" y="1920240"/>
            <a:ext cx="4206240" cy="1554480"/>
          </a:xfrm>
          <a:prstGeom prst="roundRect">
            <a:avLst>
              <a:gd name="adj" fmla="val 5000"/>
            </a:avLst>
          </a:prstGeom>
          <a:solidFill>
            <a:srgbClr val="050A12"/>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011680"/>
            <a:ext cx="3931920" cy="1371600"/>
          </a:xfrm>
          <a:prstGeom prst="rect">
            <a:avLst/>
          </a:prstGeom>
          <a:noFill/>
        </p:spPr>
        <p:txBody>
          <a:bodyPr wrap="square">
            <a:spAutoFit/>
          </a:bodyPr>
          <a:lstStyle/>
          <a:p>
            <a:r>
              <a:rPr sz="1300" b="0">
                <a:solidFill>
                  <a:srgbClr val="CFDEEB"/>
                </a:solidFill>
                <a:latin typeface="Menlo"/>
                <a:ea typeface="Apple SD Gothic Neo"/>
              </a:rPr>
              <a:t>int discount(int price, int rate) {</a:t>
            </a:r>
          </a:p>
          <a:p>
            <a:r>
              <a:rPr sz="1300" b="0">
                <a:solidFill>
                  <a:srgbClr val="CFDEEB"/>
                </a:solidFill>
                <a:latin typeface="Menlo"/>
                <a:ea typeface="Apple SD Gothic Neo"/>
              </a:rPr>
              <a:t/>
            </a:r>
          </a:p>
          <a:p>
            <a:r>
              <a:rPr sz="1300" b="0">
                <a:solidFill>
                  <a:srgbClr val="FF6B6B"/>
                </a:solidFill>
                <a:latin typeface="Menlo"/>
                <a:ea typeface="Apple SD Gothic Neo"/>
              </a:rPr>
              <a:t>  // 검사 없음: 음수·100% 초과도 계산</a:t>
            </a:r>
          </a:p>
          <a:p>
            <a:r>
              <a:rPr sz="1300" b="0">
                <a:solidFill>
                  <a:srgbClr val="CFDEEB"/>
                </a:solidFill>
                <a:latin typeface="Menlo"/>
                <a:ea typeface="Apple SD Gothic Neo"/>
              </a:rPr>
              <a:t/>
            </a:r>
          </a:p>
          <a:p>
            <a:r>
              <a:rPr sz="1300" b="0">
                <a:solidFill>
                  <a:srgbClr val="CFDEEB"/>
                </a:solidFill>
                <a:latin typeface="Menlo"/>
                <a:ea typeface="Apple SD Gothic Neo"/>
              </a:rPr>
              <a:t>  return price - price*rate/100;</a:t>
            </a:r>
          </a:p>
          <a:p>
            <a:r>
              <a:rPr sz="1300" b="0">
                <a:solidFill>
                  <a:srgbClr val="CFDEEB"/>
                </a:solidFill>
                <a:latin typeface="Menlo"/>
                <a:ea typeface="Apple SD Gothic Neo"/>
              </a:rPr>
              <a:t>}</a:t>
            </a:r>
          </a:p>
        </p:txBody>
      </p:sp>
      <p:sp>
        <p:nvSpPr>
          <p:cNvPr id="9" name="Rounded Rectangle 8"/>
          <p:cNvSpPr/>
          <p:nvPr/>
        </p:nvSpPr>
        <p:spPr>
          <a:xfrm>
            <a:off x="868680" y="3657600"/>
            <a:ext cx="4206240" cy="1325880"/>
          </a:xfrm>
          <a:prstGeom prst="roundRect">
            <a:avLst>
              <a:gd name="adj" fmla="val 5000"/>
            </a:avLst>
          </a:prstGeom>
          <a:solidFill>
            <a:srgbClr val="162236"/>
          </a:solidFill>
          <a:ln w="22225">
            <a:solidFill>
              <a:srgbClr val="7C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749040"/>
            <a:ext cx="3931920" cy="1143000"/>
          </a:xfrm>
          <a:prstGeom prst="rect">
            <a:avLst/>
          </a:prstGeom>
          <a:noFill/>
        </p:spPr>
        <p:txBody>
          <a:bodyPr wrap="square">
            <a:spAutoFit/>
          </a:bodyPr>
          <a:lstStyle/>
          <a:p>
            <a:r>
              <a:rPr sz="1400" b="1">
                <a:solidFill>
                  <a:srgbClr val="7C5CFF"/>
                </a:solidFill>
              </a:rPr>
              <a:t>Kiro에게 주는 규칙</a:t>
            </a:r>
          </a:p>
          <a:p>
            <a:r>
              <a:rPr sz="1400" b="0">
                <a:solidFill>
                  <a:srgbClr val="CFDEEB"/>
                </a:solidFill>
              </a:rPr>
              <a:t>수정 가능: src/DiscountCalculator.java 하나</a:t>
            </a:r>
          </a:p>
          <a:p>
            <a:r>
              <a:rPr sz="1400" b="0">
                <a:solidFill>
                  <a:srgbClr val="CFDEEB"/>
                </a:solidFill>
              </a:rPr>
              <a:t>수정 금지: 테스트 · verify.py · loop.py</a:t>
            </a:r>
          </a:p>
          <a:p>
            <a:r>
              <a:rPr sz="1400" b="0">
                <a:solidFill>
                  <a:srgbClr val="CFDEEB"/>
                </a:solidFill>
              </a:rPr>
              <a:t>셸 실행 불가 (파일 읽기/쓰기만 허용)</a:t>
            </a:r>
          </a:p>
        </p:txBody>
      </p:sp>
      <p:sp>
        <p:nvSpPr>
          <p:cNvPr id="11" name="TextBox 10"/>
          <p:cNvSpPr txBox="1"/>
          <p:nvPr/>
        </p:nvSpPr>
        <p:spPr>
          <a:xfrm>
            <a:off x="5349240" y="1554480"/>
            <a:ext cx="6035040" cy="320040"/>
          </a:xfrm>
          <a:prstGeom prst="rect">
            <a:avLst/>
          </a:prstGeom>
          <a:noFill/>
        </p:spPr>
        <p:txBody>
          <a:bodyPr wrap="square">
            <a:spAutoFit/>
          </a:bodyPr>
          <a:lstStyle/>
          <a:p>
            <a:r>
              <a:rPr sz="1400" b="1">
                <a:solidFill>
                  <a:srgbClr val="8397AB"/>
                </a:solidFill>
              </a:rPr>
              <a:t>QA Gate 테스트 7개 — 현재 결과</a:t>
            </a:r>
          </a:p>
        </p:txBody>
      </p:sp>
      <p:graphicFrame>
        <p:nvGraphicFramePr>
          <p:cNvPr id="12" name="Table 11"/>
          <p:cNvGraphicFramePr>
            <a:graphicFrameLocks noGrp="1"/>
          </p:cNvGraphicFramePr>
          <p:nvPr/>
        </p:nvGraphicFramePr>
        <p:xfrm>
          <a:off x="5349240" y="1920240"/>
          <a:ext cx="6035040" cy="3291840"/>
        </p:xfrm>
        <a:graphic>
          <a:graphicData uri="http://schemas.openxmlformats.org/drawingml/2006/table">
            <a:tbl>
              <a:tblPr firstRow="0" bandRow="0">
                <a:tableStyleId>{5C22544A-7EE6-4342-B048-85BDC9FD1C3A}</a:tableStyleId>
              </a:tblPr>
              <a:tblGrid>
                <a:gridCol w="1783080"/>
                <a:gridCol w="1188720"/>
                <a:gridCol w="2423160"/>
                <a:gridCol w="640080"/>
              </a:tblGrid>
              <a:tr h="411480">
                <a:tc>
                  <a:txBody>
                    <a:bodyPr/>
                    <a:lstStyle/>
                    <a:p>
                      <a:pPr algn="l"/>
                      <a:r>
                        <a:rPr sz="1200" b="1">
                          <a:solidFill>
                            <a:srgbClr val="F5F8FD"/>
                          </a:solidFill>
                        </a:rPr>
                        <a:t>입력 (금액, 할인율)</a:t>
                      </a:r>
                    </a:p>
                  </a:txBody>
                  <a:tcPr anchor="ctr" marL="91440" marR="91440" marT="0" marB="0">
                    <a:solidFill>
                      <a:srgbClr val="2A3B52"/>
                    </a:solidFill>
                  </a:tcPr>
                </a:tc>
                <a:tc>
                  <a:txBody>
                    <a:bodyPr/>
                    <a:lstStyle/>
                    <a:p>
                      <a:pPr algn="l"/>
                      <a:r>
                        <a:rPr sz="1200" b="1">
                          <a:solidFill>
                            <a:srgbClr val="F5F8FD"/>
                          </a:solidFill>
                        </a:rPr>
                        <a:t>기대 결과</a:t>
                      </a:r>
                    </a:p>
                  </a:txBody>
                  <a:tcPr anchor="ctr" marL="91440" marR="91440" marT="0" marB="0">
                    <a:solidFill>
                      <a:srgbClr val="2A3B52"/>
                    </a:solidFill>
                  </a:tcPr>
                </a:tc>
                <a:tc>
                  <a:txBody>
                    <a:bodyPr/>
                    <a:lstStyle/>
                    <a:p>
                      <a:pPr algn="l"/>
                      <a:r>
                        <a:rPr sz="1200" b="1">
                          <a:solidFill>
                            <a:srgbClr val="F5F8FD"/>
                          </a:solidFill>
                        </a:rPr>
                        <a:t>현재 코드</a:t>
                      </a:r>
                    </a:p>
                  </a:txBody>
                  <a:tcPr anchor="ctr" marL="91440" marR="91440" marT="0" marB="0">
                    <a:solidFill>
                      <a:srgbClr val="2A3B52"/>
                    </a:solidFill>
                  </a:tcPr>
                </a:tc>
                <a:tc>
                  <a:txBody>
                    <a:bodyPr/>
                    <a:lstStyle/>
                    <a:p>
                      <a:pPr algn="ctr"/>
                      <a:r>
                        <a:rPr sz="1200" b="1">
                          <a:solidFill>
                            <a:srgbClr val="FF6B6B"/>
                          </a:solidFill>
                        </a:rPr>
                        <a:t>판정</a:t>
                      </a:r>
                    </a:p>
                  </a:txBody>
                  <a:tcPr anchor="ctr" marL="91440" marR="91440" marT="0" marB="0">
                    <a:solidFill>
                      <a:srgbClr val="2A3B52"/>
                    </a:solidFill>
                  </a:tcPr>
                </a:tc>
              </a:tr>
              <a:tr h="411480">
                <a:tc>
                  <a:txBody>
                    <a:bodyPr/>
                    <a:lstStyle/>
                    <a:p>
                      <a:pPr algn="l"/>
                      <a:r>
                        <a:rPr sz="1300" b="0">
                          <a:solidFill>
                            <a:srgbClr val="CFDEEB"/>
                          </a:solidFill>
                        </a:rPr>
                        <a:t>1,000원, 10%</a:t>
                      </a:r>
                    </a:p>
                  </a:txBody>
                  <a:tcPr anchor="ctr" marL="91440" marR="91440" marT="0" marB="0">
                    <a:solidFill>
                      <a:srgbClr val="162236"/>
                    </a:solidFill>
                  </a:tcPr>
                </a:tc>
                <a:tc>
                  <a:txBody>
                    <a:bodyPr/>
                    <a:lstStyle/>
                    <a:p>
                      <a:pPr algn="l"/>
                      <a:r>
                        <a:rPr sz="1300" b="0">
                          <a:solidFill>
                            <a:srgbClr val="CFDEEB"/>
                          </a:solidFill>
                        </a:rPr>
                        <a:t>900원</a:t>
                      </a:r>
                    </a:p>
                  </a:txBody>
                  <a:tcPr anchor="ctr" marL="91440" marR="91440" marT="0" marB="0">
                    <a:solidFill>
                      <a:srgbClr val="162236"/>
                    </a:solidFill>
                  </a:tcPr>
                </a:tc>
                <a:tc>
                  <a:txBody>
                    <a:bodyPr/>
                    <a:lstStyle/>
                    <a:p>
                      <a:pPr algn="l"/>
                      <a:r>
                        <a:rPr sz="1300" b="0">
                          <a:solidFill>
                            <a:srgbClr val="CFDEEB"/>
                          </a:solidFill>
                        </a:rPr>
                        <a:t>900원</a:t>
                      </a:r>
                    </a:p>
                  </a:txBody>
                  <a:tcPr anchor="ctr" marL="91440" marR="91440" marT="0" marB="0">
                    <a:solidFill>
                      <a:srgbClr val="162236"/>
                    </a:solidFill>
                  </a:tcPr>
                </a:tc>
                <a:tc>
                  <a:txBody>
                    <a:bodyPr/>
                    <a:lstStyle/>
                    <a:p>
                      <a:pPr algn="ctr"/>
                      <a:r>
                        <a:rPr sz="1200" b="1">
                          <a:solidFill>
                            <a:srgbClr val="4ADE80"/>
                          </a:solidFill>
                        </a:rPr>
                        <a:t>PASS</a:t>
                      </a:r>
                    </a:p>
                  </a:txBody>
                  <a:tcPr anchor="ctr" marL="91440" marR="91440" marT="0" marB="0">
                    <a:solidFill>
                      <a:srgbClr val="162236"/>
                    </a:solidFill>
                  </a:tcPr>
                </a:tc>
              </a:tr>
              <a:tr h="411480">
                <a:tc>
                  <a:txBody>
                    <a:bodyPr/>
                    <a:lstStyle/>
                    <a:p>
                      <a:pPr algn="l"/>
                      <a:r>
                        <a:rPr sz="1300" b="0">
                          <a:solidFill>
                            <a:srgbClr val="CFDEEB"/>
                          </a:solidFill>
                        </a:rPr>
                        <a:t>1,000원, 0%</a:t>
                      </a:r>
                    </a:p>
                  </a:txBody>
                  <a:tcPr anchor="ctr" marL="91440" marR="91440" marT="0" marB="0">
                    <a:solidFill>
                      <a:srgbClr val="162236"/>
                    </a:solidFill>
                  </a:tcPr>
                </a:tc>
                <a:tc>
                  <a:txBody>
                    <a:bodyPr/>
                    <a:lstStyle/>
                    <a:p>
                      <a:pPr algn="l"/>
                      <a:r>
                        <a:rPr sz="1300" b="0">
                          <a:solidFill>
                            <a:srgbClr val="CFDEEB"/>
                          </a:solidFill>
                        </a:rPr>
                        <a:t>1,000원</a:t>
                      </a:r>
                    </a:p>
                  </a:txBody>
                  <a:tcPr anchor="ctr" marL="91440" marR="91440" marT="0" marB="0">
                    <a:solidFill>
                      <a:srgbClr val="162236"/>
                    </a:solidFill>
                  </a:tcPr>
                </a:tc>
                <a:tc>
                  <a:txBody>
                    <a:bodyPr/>
                    <a:lstStyle/>
                    <a:p>
                      <a:pPr algn="l"/>
                      <a:r>
                        <a:rPr sz="1300" b="0">
                          <a:solidFill>
                            <a:srgbClr val="CFDEEB"/>
                          </a:solidFill>
                        </a:rPr>
                        <a:t>1,000원</a:t>
                      </a:r>
                    </a:p>
                  </a:txBody>
                  <a:tcPr anchor="ctr" marL="91440" marR="91440" marT="0" marB="0">
                    <a:solidFill>
                      <a:srgbClr val="162236"/>
                    </a:solidFill>
                  </a:tcPr>
                </a:tc>
                <a:tc>
                  <a:txBody>
                    <a:bodyPr/>
                    <a:lstStyle/>
                    <a:p>
                      <a:pPr algn="ctr"/>
                      <a:r>
                        <a:rPr sz="1200" b="1">
                          <a:solidFill>
                            <a:srgbClr val="4ADE80"/>
                          </a:solidFill>
                        </a:rPr>
                        <a:t>PASS</a:t>
                      </a:r>
                    </a:p>
                  </a:txBody>
                  <a:tcPr anchor="ctr" marL="91440" marR="91440" marT="0" marB="0">
                    <a:solidFill>
                      <a:srgbClr val="162236"/>
                    </a:solidFill>
                  </a:tcPr>
                </a:tc>
              </a:tr>
              <a:tr h="411480">
                <a:tc>
                  <a:txBody>
                    <a:bodyPr/>
                    <a:lstStyle/>
                    <a:p>
                      <a:pPr algn="l"/>
                      <a:r>
                        <a:rPr sz="1300" b="0">
                          <a:solidFill>
                            <a:srgbClr val="CFDEEB"/>
                          </a:solidFill>
                        </a:rPr>
                        <a:t>1,000원, 100%</a:t>
                      </a:r>
                    </a:p>
                  </a:txBody>
                  <a:tcPr anchor="ctr" marL="91440" marR="91440" marT="0" marB="0">
                    <a:solidFill>
                      <a:srgbClr val="162236"/>
                    </a:solidFill>
                  </a:tcPr>
                </a:tc>
                <a:tc>
                  <a:txBody>
                    <a:bodyPr/>
                    <a:lstStyle/>
                    <a:p>
                      <a:pPr algn="l"/>
                      <a:r>
                        <a:rPr sz="1300" b="0">
                          <a:solidFill>
                            <a:srgbClr val="CFDEEB"/>
                          </a:solidFill>
                        </a:rPr>
                        <a:t>0원</a:t>
                      </a:r>
                    </a:p>
                  </a:txBody>
                  <a:tcPr anchor="ctr" marL="91440" marR="91440" marT="0" marB="0">
                    <a:solidFill>
                      <a:srgbClr val="162236"/>
                    </a:solidFill>
                  </a:tcPr>
                </a:tc>
                <a:tc>
                  <a:txBody>
                    <a:bodyPr/>
                    <a:lstStyle/>
                    <a:p>
                      <a:pPr algn="l"/>
                      <a:r>
                        <a:rPr sz="1300" b="0">
                          <a:solidFill>
                            <a:srgbClr val="CFDEEB"/>
                          </a:solidFill>
                        </a:rPr>
                        <a:t>0원</a:t>
                      </a:r>
                    </a:p>
                  </a:txBody>
                  <a:tcPr anchor="ctr" marL="91440" marR="91440" marT="0" marB="0">
                    <a:solidFill>
                      <a:srgbClr val="162236"/>
                    </a:solidFill>
                  </a:tcPr>
                </a:tc>
                <a:tc>
                  <a:txBody>
                    <a:bodyPr/>
                    <a:lstStyle/>
                    <a:p>
                      <a:pPr algn="ctr"/>
                      <a:r>
                        <a:rPr sz="1200" b="1">
                          <a:solidFill>
                            <a:srgbClr val="4ADE80"/>
                          </a:solidFill>
                        </a:rPr>
                        <a:t>PASS</a:t>
                      </a:r>
                    </a:p>
                  </a:txBody>
                  <a:tcPr anchor="ctr" marL="91440" marR="91440" marT="0" marB="0">
                    <a:solidFill>
                      <a:srgbClr val="162236"/>
                    </a:solidFill>
                  </a:tcPr>
                </a:tc>
              </a:tr>
              <a:tr h="411480">
                <a:tc>
                  <a:txBody>
                    <a:bodyPr/>
                    <a:lstStyle/>
                    <a:p>
                      <a:pPr algn="l"/>
                      <a:r>
                        <a:rPr sz="1300" b="0">
                          <a:solidFill>
                            <a:srgbClr val="CFDEEB"/>
                          </a:solidFill>
                        </a:rPr>
                        <a:t>0원, 50%</a:t>
                      </a:r>
                    </a:p>
                  </a:txBody>
                  <a:tcPr anchor="ctr" marL="91440" marR="91440" marT="0" marB="0">
                    <a:solidFill>
                      <a:srgbClr val="162236"/>
                    </a:solidFill>
                  </a:tcPr>
                </a:tc>
                <a:tc>
                  <a:txBody>
                    <a:bodyPr/>
                    <a:lstStyle/>
                    <a:p>
                      <a:pPr algn="l"/>
                      <a:r>
                        <a:rPr sz="1300" b="0">
                          <a:solidFill>
                            <a:srgbClr val="CFDEEB"/>
                          </a:solidFill>
                        </a:rPr>
                        <a:t>0원</a:t>
                      </a:r>
                    </a:p>
                  </a:txBody>
                  <a:tcPr anchor="ctr" marL="91440" marR="91440" marT="0" marB="0">
                    <a:solidFill>
                      <a:srgbClr val="162236"/>
                    </a:solidFill>
                  </a:tcPr>
                </a:tc>
                <a:tc>
                  <a:txBody>
                    <a:bodyPr/>
                    <a:lstStyle/>
                    <a:p>
                      <a:pPr algn="l"/>
                      <a:r>
                        <a:rPr sz="1300" b="0">
                          <a:solidFill>
                            <a:srgbClr val="CFDEEB"/>
                          </a:solidFill>
                        </a:rPr>
                        <a:t>0원</a:t>
                      </a:r>
                    </a:p>
                  </a:txBody>
                  <a:tcPr anchor="ctr" marL="91440" marR="91440" marT="0" marB="0">
                    <a:solidFill>
                      <a:srgbClr val="162236"/>
                    </a:solidFill>
                  </a:tcPr>
                </a:tc>
                <a:tc>
                  <a:txBody>
                    <a:bodyPr/>
                    <a:lstStyle/>
                    <a:p>
                      <a:pPr algn="ctr"/>
                      <a:r>
                        <a:rPr sz="1200" b="1">
                          <a:solidFill>
                            <a:srgbClr val="4ADE80"/>
                          </a:solidFill>
                        </a:rPr>
                        <a:t>PASS</a:t>
                      </a:r>
                    </a:p>
                  </a:txBody>
                  <a:tcPr anchor="ctr" marL="91440" marR="91440" marT="0" marB="0">
                    <a:solidFill>
                      <a:srgbClr val="162236"/>
                    </a:solidFill>
                  </a:tcPr>
                </a:tc>
              </a:tr>
              <a:tr h="411480">
                <a:tc>
                  <a:txBody>
                    <a:bodyPr/>
                    <a:lstStyle/>
                    <a:p>
                      <a:pPr algn="l"/>
                      <a:r>
                        <a:rPr sz="1300" b="0">
                          <a:solidFill>
                            <a:srgbClr val="CFDEEB"/>
                          </a:solidFill>
                        </a:rPr>
                        <a:t>1,000원, -1%</a:t>
                      </a:r>
                    </a:p>
                  </a:txBody>
                  <a:tcPr anchor="ctr" marL="91440" marR="91440" marT="0" marB="0">
                    <a:solidFill>
                      <a:srgbClr val="2A161E"/>
                    </a:solidFill>
                  </a:tcPr>
                </a:tc>
                <a:tc>
                  <a:txBody>
                    <a:bodyPr/>
                    <a:lstStyle/>
                    <a:p>
                      <a:pPr algn="l"/>
                      <a:r>
                        <a:rPr sz="1300" b="0">
                          <a:solidFill>
                            <a:srgbClr val="CFDEEB"/>
                          </a:solidFill>
                        </a:rPr>
                        <a:t>오류 발생</a:t>
                      </a:r>
                    </a:p>
                  </a:txBody>
                  <a:tcPr anchor="ctr" marL="91440" marR="91440" marT="0" marB="0">
                    <a:solidFill>
                      <a:srgbClr val="2A161E"/>
                    </a:solidFill>
                  </a:tcPr>
                </a:tc>
                <a:tc>
                  <a:txBody>
                    <a:bodyPr/>
                    <a:lstStyle/>
                    <a:p>
                      <a:pPr algn="l"/>
                      <a:r>
                        <a:rPr sz="1300" b="0">
                          <a:solidFill>
                            <a:srgbClr val="FF6B6B"/>
                          </a:solidFill>
                        </a:rPr>
                        <a:t>1,010원  가격이 오름</a:t>
                      </a:r>
                    </a:p>
                  </a:txBody>
                  <a:tcPr anchor="ctr" marL="91440" marR="91440" marT="0" marB="0">
                    <a:solidFill>
                      <a:srgbClr val="2A161E"/>
                    </a:solidFill>
                  </a:tcPr>
                </a:tc>
                <a:tc>
                  <a:txBody>
                    <a:bodyPr/>
                    <a:lstStyle/>
                    <a:p>
                      <a:pPr algn="ctr"/>
                      <a:r>
                        <a:rPr sz="1200" b="1">
                          <a:solidFill>
                            <a:srgbClr val="FF6B6B"/>
                          </a:solidFill>
                        </a:rPr>
                        <a:t>FAIL</a:t>
                      </a:r>
                    </a:p>
                  </a:txBody>
                  <a:tcPr anchor="ctr" marL="91440" marR="91440" marT="0" marB="0">
                    <a:solidFill>
                      <a:srgbClr val="2A161E"/>
                    </a:solidFill>
                  </a:tcPr>
                </a:tc>
              </a:tr>
              <a:tr h="411480">
                <a:tc>
                  <a:txBody>
                    <a:bodyPr/>
                    <a:lstStyle/>
                    <a:p>
                      <a:pPr algn="l"/>
                      <a:r>
                        <a:rPr sz="1300" b="0">
                          <a:solidFill>
                            <a:srgbClr val="CFDEEB"/>
                          </a:solidFill>
                        </a:rPr>
                        <a:t>1,000원, 101%</a:t>
                      </a:r>
                    </a:p>
                  </a:txBody>
                  <a:tcPr anchor="ctr" marL="91440" marR="91440" marT="0" marB="0">
                    <a:solidFill>
                      <a:srgbClr val="2A161E"/>
                    </a:solidFill>
                  </a:tcPr>
                </a:tc>
                <a:tc>
                  <a:txBody>
                    <a:bodyPr/>
                    <a:lstStyle/>
                    <a:p>
                      <a:pPr algn="l"/>
                      <a:r>
                        <a:rPr sz="1300" b="0">
                          <a:solidFill>
                            <a:srgbClr val="CFDEEB"/>
                          </a:solidFill>
                        </a:rPr>
                        <a:t>오류 발생</a:t>
                      </a:r>
                    </a:p>
                  </a:txBody>
                  <a:tcPr anchor="ctr" marL="91440" marR="91440" marT="0" marB="0">
                    <a:solidFill>
                      <a:srgbClr val="2A161E"/>
                    </a:solidFill>
                  </a:tcPr>
                </a:tc>
                <a:tc>
                  <a:txBody>
                    <a:bodyPr/>
                    <a:lstStyle/>
                    <a:p>
                      <a:pPr algn="l"/>
                      <a:r>
                        <a:rPr sz="1300" b="0">
                          <a:solidFill>
                            <a:srgbClr val="FF6B6B"/>
                          </a:solidFill>
                        </a:rPr>
                        <a:t>-10원  돈을 돌려줌</a:t>
                      </a:r>
                    </a:p>
                  </a:txBody>
                  <a:tcPr anchor="ctr" marL="91440" marR="91440" marT="0" marB="0">
                    <a:solidFill>
                      <a:srgbClr val="2A161E"/>
                    </a:solidFill>
                  </a:tcPr>
                </a:tc>
                <a:tc>
                  <a:txBody>
                    <a:bodyPr/>
                    <a:lstStyle/>
                    <a:p>
                      <a:pPr algn="ctr"/>
                      <a:r>
                        <a:rPr sz="1200" b="1">
                          <a:solidFill>
                            <a:srgbClr val="FF6B6B"/>
                          </a:solidFill>
                        </a:rPr>
                        <a:t>FAIL</a:t>
                      </a:r>
                    </a:p>
                  </a:txBody>
                  <a:tcPr anchor="ctr" marL="91440" marR="91440" marT="0" marB="0">
                    <a:solidFill>
                      <a:srgbClr val="2A161E"/>
                    </a:solidFill>
                  </a:tcPr>
                </a:tc>
              </a:tr>
              <a:tr h="411480">
                <a:tc>
                  <a:txBody>
                    <a:bodyPr/>
                    <a:lstStyle/>
                    <a:p>
                      <a:pPr algn="l"/>
                      <a:r>
                        <a:rPr sz="1300" b="0">
                          <a:solidFill>
                            <a:srgbClr val="CFDEEB"/>
                          </a:solidFill>
                        </a:rPr>
                        <a:t>-1원, 10%</a:t>
                      </a:r>
                    </a:p>
                  </a:txBody>
                  <a:tcPr anchor="ctr" marL="91440" marR="91440" marT="0" marB="0">
                    <a:solidFill>
                      <a:srgbClr val="2A161E"/>
                    </a:solidFill>
                  </a:tcPr>
                </a:tc>
                <a:tc>
                  <a:txBody>
                    <a:bodyPr/>
                    <a:lstStyle/>
                    <a:p>
                      <a:pPr algn="l"/>
                      <a:r>
                        <a:rPr sz="1300" b="0">
                          <a:solidFill>
                            <a:srgbClr val="CFDEEB"/>
                          </a:solidFill>
                        </a:rPr>
                        <a:t>오류 발생</a:t>
                      </a:r>
                    </a:p>
                  </a:txBody>
                  <a:tcPr anchor="ctr" marL="91440" marR="91440" marT="0" marB="0">
                    <a:solidFill>
                      <a:srgbClr val="2A161E"/>
                    </a:solidFill>
                  </a:tcPr>
                </a:tc>
                <a:tc>
                  <a:txBody>
                    <a:bodyPr/>
                    <a:lstStyle/>
                    <a:p>
                      <a:pPr algn="l"/>
                      <a:r>
                        <a:rPr sz="1300" b="0">
                          <a:solidFill>
                            <a:srgbClr val="FF6B6B"/>
                          </a:solidFill>
                        </a:rPr>
                        <a:t>-1원  그대로 계산</a:t>
                      </a:r>
                    </a:p>
                  </a:txBody>
                  <a:tcPr anchor="ctr" marL="91440" marR="91440" marT="0" marB="0">
                    <a:solidFill>
                      <a:srgbClr val="2A161E"/>
                    </a:solidFill>
                  </a:tcPr>
                </a:tc>
                <a:tc>
                  <a:txBody>
                    <a:bodyPr/>
                    <a:lstStyle/>
                    <a:p>
                      <a:pPr algn="ctr"/>
                      <a:r>
                        <a:rPr sz="1200" b="1">
                          <a:solidFill>
                            <a:srgbClr val="FF6B6B"/>
                          </a:solidFill>
                        </a:rPr>
                        <a:t>FAIL</a:t>
                      </a:r>
                    </a:p>
                  </a:txBody>
                  <a:tcPr anchor="ctr" marL="91440" marR="91440" marT="0" marB="0">
                    <a:solidFill>
                      <a:srgbClr val="2A161E"/>
                    </a:solidFill>
                  </a:tcPr>
                </a:tc>
              </a:tr>
            </a:tbl>
          </a:graphicData>
        </a:graphic>
      </p:graphicFrame>
      <p:sp>
        <p:nvSpPr>
          <p:cNvPr id="13" name="Rounded Rectangle 12"/>
          <p:cNvSpPr/>
          <p:nvPr/>
        </p:nvSpPr>
        <p:spPr>
          <a:xfrm>
            <a:off x="868680" y="5440680"/>
            <a:ext cx="10515600" cy="685800"/>
          </a:xfrm>
          <a:prstGeom prst="roundRect">
            <a:avLst>
              <a:gd name="adj" fmla="val 5000"/>
            </a:avLst>
          </a:prstGeom>
          <a:solidFill>
            <a:srgbClr val="0F2A2A"/>
          </a:solidFill>
          <a:ln w="25400">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440680"/>
            <a:ext cx="10149840" cy="685800"/>
          </a:xfrm>
          <a:prstGeom prst="rect">
            <a:avLst/>
          </a:prstGeom>
          <a:noFill/>
        </p:spPr>
        <p:txBody>
          <a:bodyPr wrap="square" anchor="ctr">
            <a:spAutoFit/>
          </a:bodyPr>
          <a:lstStyle/>
          <a:p>
            <a:r>
              <a:rPr sz="1800" b="1">
                <a:solidFill>
                  <a:srgbClr val="F5F8FD"/>
                </a:solidFill>
              </a:rPr>
              <a:t>미션: 테스트는 그대로 두고 코드만 고쳐서 FAIL 3개를 PASS로 → QA Gate 통과</a:t>
            </a:r>
          </a:p>
        </p:txBody>
      </p:sp>
      <p:sp>
        <p:nvSpPr>
          <p:cNvPr id="15" name="TextBox 14"/>
          <p:cNvSpPr txBox="1"/>
          <p:nvPr/>
        </p:nvSpPr>
        <p:spPr>
          <a:xfrm>
            <a:off x="868680" y="329184"/>
            <a:ext cx="10515600" cy="274320"/>
          </a:xfrm>
          <a:prstGeom prst="rect">
            <a:avLst/>
          </a:prstGeom>
          <a:noFill/>
        </p:spPr>
        <p:txBody>
          <a:bodyPr wrap="square">
            <a:spAutoFit/>
          </a:bodyPr>
          <a:lstStyle/>
          <a:p>
            <a:r>
              <a:rPr sz="1100" b="1">
                <a:solidFill>
                  <a:srgbClr val="31D3B1"/>
                </a:solidFill>
              </a:rPr>
              <a:t>PART 3 · 데모 1: 버그 하나 고치기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데모를 제어 루프로 보면</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09 / 20</a:t>
            </a:r>
          </a:p>
        </p:txBody>
      </p:sp>
      <p:sp>
        <p:nvSpPr>
          <p:cNvPr id="8" name="TextBox 7"/>
          <p:cNvSpPr txBox="1"/>
          <p:nvPr/>
        </p:nvSpPr>
        <p:spPr>
          <a:xfrm>
            <a:off x="868680" y="329184"/>
            <a:ext cx="10515600" cy="274320"/>
          </a:xfrm>
          <a:prstGeom prst="rect">
            <a:avLst/>
          </a:prstGeom>
          <a:noFill/>
        </p:spPr>
        <p:txBody>
          <a:bodyPr wrap="square">
            <a:spAutoFit/>
          </a:bodyPr>
          <a:lstStyle/>
          <a:p>
            <a:r>
              <a:rPr sz="1100" b="1">
                <a:solidFill>
                  <a:srgbClr val="31D3B1"/>
                </a:solidFill>
              </a:rPr>
              <a:t>PART 3 · 데모 1: 버그 하나 고치기</a:t>
            </a:r>
          </a:p>
        </p:txBody>
      </p:sp>
      <p:sp>
        <p:nvSpPr>
          <p:cNvPr id="6" name="Rounded Rectangle 5"/>
          <p:cNvSpPr/>
          <p:nvPr/>
        </p:nvSpPr>
        <p:spPr>
          <a:xfrm>
            <a:off x="868680" y="2331720"/>
            <a:ext cx="1463040" cy="96012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0">
                <a:solidFill>
                  <a:srgbClr val="8397AB"/>
                </a:solidFill>
              </a:rPr>
              <a:t>목표값</a:t>
            </a:r>
          </a:p>
          <a:p>
            <a:pPr algn="ctr"/>
            <a:r>
              <a:rPr sz="1600" b="1">
                <a:solidFill>
                  <a:srgbClr val="F5F8FD"/>
                </a:solidFill>
              </a:rPr>
              <a:t>테스트 7개</a:t>
            </a:r>
          </a:p>
          <a:p>
            <a:pPr algn="ctr"/>
            <a:r>
              <a:rPr sz="1200" b="0">
                <a:solidFill>
                  <a:srgbClr val="CFDEEB"/>
                </a:solidFill>
              </a:rPr>
              <a:t>모두 PASS</a:t>
            </a:r>
          </a:p>
        </p:txBody>
      </p:sp>
      <p:sp>
        <p:nvSpPr>
          <p:cNvPr id="7" name="Oval 6"/>
          <p:cNvSpPr/>
          <p:nvPr/>
        </p:nvSpPr>
        <p:spPr>
          <a:xfrm>
            <a:off x="3074670" y="2468879"/>
            <a:ext cx="685800" cy="685800"/>
          </a:xfrm>
          <a:prstGeom prst="ellipse">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8288" rIns="18288" wrap="square"/>
          <a:lstStyle/>
          <a:p>
            <a:pPr algn="ctr"/>
            <a:r>
              <a:rPr sz="1200" b="1">
                <a:solidFill>
                  <a:srgbClr val="F5F8FD"/>
                </a:solidFill>
              </a:rPr>
              <a:t>PASS?</a:t>
            </a:r>
          </a:p>
        </p:txBody>
      </p:sp>
      <p:sp>
        <p:nvSpPr>
          <p:cNvPr id="8" name="Rounded Rectangle 7"/>
          <p:cNvSpPr/>
          <p:nvPr/>
        </p:nvSpPr>
        <p:spPr>
          <a:xfrm>
            <a:off x="4503420" y="2331720"/>
            <a:ext cx="1737360" cy="960120"/>
          </a:xfrm>
          <a:prstGeom prst="roundRect">
            <a:avLst>
              <a:gd name="adj" fmla="val 8000"/>
            </a:avLst>
          </a:prstGeom>
          <a:solidFill>
            <a:srgbClr val="162236"/>
          </a:solidFill>
          <a:ln w="25400">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0">
                <a:solidFill>
                  <a:srgbClr val="8397AB"/>
                </a:solidFill>
              </a:rPr>
              <a:t>컨트롤러</a:t>
            </a:r>
          </a:p>
          <a:p>
            <a:pPr algn="ctr"/>
            <a:r>
              <a:rPr sz="1700" b="1">
                <a:solidFill>
                  <a:srgbClr val="31D3B1"/>
                </a:solidFill>
              </a:rPr>
              <a:t>loop.py</a:t>
            </a:r>
          </a:p>
          <a:p>
            <a:pPr algn="ctr"/>
            <a:r>
              <a:rPr sz="1200" b="0">
                <a:solidFill>
                  <a:srgbClr val="CFDEEB"/>
                </a:solidFill>
              </a:rPr>
              <a:t>if문 · AI 아님</a:t>
            </a:r>
          </a:p>
        </p:txBody>
      </p:sp>
      <p:sp>
        <p:nvSpPr>
          <p:cNvPr id="9" name="Rounded Rectangle 8"/>
          <p:cNvSpPr/>
          <p:nvPr/>
        </p:nvSpPr>
        <p:spPr>
          <a:xfrm>
            <a:off x="6983729" y="2331720"/>
            <a:ext cx="1737360" cy="960120"/>
          </a:xfrm>
          <a:prstGeom prst="roundRect">
            <a:avLst>
              <a:gd name="adj" fmla="val 8000"/>
            </a:avLst>
          </a:prstGeom>
          <a:solidFill>
            <a:srgbClr val="162236"/>
          </a:solidFill>
          <a:ln w="25400">
            <a:solidFill>
              <a:srgbClr val="7C5CFF"/>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0">
                <a:solidFill>
                  <a:srgbClr val="8397AB"/>
                </a:solidFill>
              </a:rPr>
              <a:t>실행기</a:t>
            </a:r>
          </a:p>
          <a:p>
            <a:pPr algn="ctr"/>
            <a:r>
              <a:rPr sz="1700" b="1">
                <a:solidFill>
                  <a:srgbClr val="7C5CFF"/>
                </a:solidFill>
              </a:rPr>
              <a:t>Kiro CLI</a:t>
            </a:r>
          </a:p>
          <a:p>
            <a:pPr algn="ctr"/>
            <a:r>
              <a:rPr sz="1200" b="0">
                <a:solidFill>
                  <a:srgbClr val="CFDEEB"/>
                </a:solidFill>
              </a:rPr>
              <a:t>코드 수정 (새 세션)</a:t>
            </a:r>
          </a:p>
        </p:txBody>
      </p:sp>
      <p:sp>
        <p:nvSpPr>
          <p:cNvPr id="10" name="Rounded Rectangle 9"/>
          <p:cNvSpPr/>
          <p:nvPr/>
        </p:nvSpPr>
        <p:spPr>
          <a:xfrm>
            <a:off x="9464040" y="2331720"/>
            <a:ext cx="1920240" cy="96012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0">
                <a:solidFill>
                  <a:srgbClr val="8397AB"/>
                </a:solidFill>
              </a:rPr>
              <a:t>시스템</a:t>
            </a:r>
          </a:p>
          <a:p>
            <a:pPr algn="ctr"/>
            <a:r>
              <a:rPr sz="1600" b="1">
                <a:solidFill>
                  <a:srgbClr val="F5F8FD"/>
                </a:solidFill>
              </a:rPr>
              <a:t>Java 코드</a:t>
            </a:r>
          </a:p>
          <a:p>
            <a:pPr algn="ctr"/>
            <a:r>
              <a:rPr sz="1000" b="0">
                <a:solidFill>
                  <a:srgbClr val="CFDEEB"/>
                </a:solidFill>
              </a:rPr>
              <a:t>DiscountCalculator.java</a:t>
            </a:r>
          </a:p>
        </p:txBody>
      </p:sp>
      <p:cxnSp>
        <p:nvCxnSpPr>
          <p:cNvPr id="11" name="Connector 10"/>
          <p:cNvCxnSpPr/>
          <p:nvPr/>
        </p:nvCxnSpPr>
        <p:spPr>
          <a:xfrm flipV="1">
            <a:off x="2331720" y="2811779"/>
            <a:ext cx="74295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760470" y="2811779"/>
            <a:ext cx="74295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669030" y="2427732"/>
            <a:ext cx="925830" cy="274320"/>
          </a:xfrm>
          <a:prstGeom prst="rect">
            <a:avLst/>
          </a:prstGeom>
          <a:noFill/>
        </p:spPr>
        <p:txBody>
          <a:bodyPr wrap="square">
            <a:spAutoFit/>
          </a:bodyPr>
          <a:lstStyle/>
          <a:p>
            <a:pPr algn="ctr"/>
            <a:r>
              <a:rPr sz="1100" b="0">
                <a:solidFill>
                  <a:srgbClr val="8397AB"/>
                </a:solidFill>
              </a:rPr>
              <a:t>FAIL</a:t>
            </a:r>
          </a:p>
        </p:txBody>
      </p:sp>
      <p:cxnSp>
        <p:nvCxnSpPr>
          <p:cNvPr id="14" name="Connector 13"/>
          <p:cNvCxnSpPr/>
          <p:nvPr/>
        </p:nvCxnSpPr>
        <p:spPr>
          <a:xfrm flipV="1">
            <a:off x="6240779" y="2811779"/>
            <a:ext cx="74295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149340" y="2427732"/>
            <a:ext cx="925830" cy="274320"/>
          </a:xfrm>
          <a:prstGeom prst="rect">
            <a:avLst/>
          </a:prstGeom>
          <a:noFill/>
        </p:spPr>
        <p:txBody>
          <a:bodyPr wrap="square">
            <a:spAutoFit/>
          </a:bodyPr>
          <a:lstStyle/>
          <a:p>
            <a:pPr algn="ctr"/>
            <a:r>
              <a:rPr sz="1100" b="0">
                <a:solidFill>
                  <a:srgbClr val="8397AB"/>
                </a:solidFill>
              </a:rPr>
              <a:t>지시</a:t>
            </a:r>
          </a:p>
        </p:txBody>
      </p:sp>
      <p:cxnSp>
        <p:nvCxnSpPr>
          <p:cNvPr id="16" name="Connector 15"/>
          <p:cNvCxnSpPr/>
          <p:nvPr/>
        </p:nvCxnSpPr>
        <p:spPr>
          <a:xfrm flipV="1">
            <a:off x="8721090" y="2811779"/>
            <a:ext cx="74295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629650" y="2427732"/>
            <a:ext cx="925830" cy="274320"/>
          </a:xfrm>
          <a:prstGeom prst="rect">
            <a:avLst/>
          </a:prstGeom>
          <a:noFill/>
        </p:spPr>
        <p:txBody>
          <a:bodyPr wrap="square">
            <a:spAutoFit/>
          </a:bodyPr>
          <a:lstStyle/>
          <a:p>
            <a:pPr algn="ctr"/>
            <a:r>
              <a:rPr sz="1100" b="0">
                <a:solidFill>
                  <a:srgbClr val="8397AB"/>
                </a:solidFill>
              </a:rPr>
              <a:t>수정</a:t>
            </a:r>
          </a:p>
        </p:txBody>
      </p:sp>
      <p:sp>
        <p:nvSpPr>
          <p:cNvPr id="18" name="Rounded Rectangle 17"/>
          <p:cNvSpPr/>
          <p:nvPr/>
        </p:nvSpPr>
        <p:spPr>
          <a:xfrm>
            <a:off x="5120640" y="3520440"/>
            <a:ext cx="2651760" cy="73152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F5F8FD"/>
                </a:solidFill>
              </a:rPr>
              <a:t>센서  verify.py</a:t>
            </a:r>
          </a:p>
          <a:p>
            <a:pPr algn="ctr"/>
            <a:r>
              <a:rPr sz="1200" b="0">
                <a:solidFill>
                  <a:srgbClr val="8397AB"/>
                </a:solidFill>
              </a:rPr>
              <a:t>Java 컴파일 + 테스트 실행</a:t>
            </a:r>
          </a:p>
        </p:txBody>
      </p:sp>
      <p:cxnSp>
        <p:nvCxnSpPr>
          <p:cNvPr id="19" name="Connector 18"/>
          <p:cNvCxnSpPr/>
          <p:nvPr/>
        </p:nvCxnSpPr>
        <p:spPr>
          <a:xfrm>
            <a:off x="10424160" y="3291839"/>
            <a:ext cx="0" cy="594361"/>
          </a:xfrm>
          <a:prstGeom prst="line">
            <a:avLst/>
          </a:prstGeom>
          <a:ln w="25400">
            <a:solidFill>
              <a:srgbClr val="CFDE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7772400" y="3886200"/>
            <a:ext cx="265176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3417570" y="3886200"/>
            <a:ext cx="1703070" cy="0"/>
          </a:xfrm>
          <a:prstGeom prst="line">
            <a:avLst/>
          </a:prstGeom>
          <a:ln w="25400">
            <a:solidFill>
              <a:srgbClr val="CFDEE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417570" y="3154679"/>
            <a:ext cx="0" cy="731521"/>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509010" y="3520440"/>
            <a:ext cx="1463040" cy="274320"/>
          </a:xfrm>
          <a:prstGeom prst="rect">
            <a:avLst/>
          </a:prstGeom>
          <a:noFill/>
        </p:spPr>
        <p:txBody>
          <a:bodyPr wrap="square">
            <a:spAutoFit/>
          </a:bodyPr>
          <a:lstStyle/>
          <a:p>
            <a:pPr algn="l"/>
            <a:r>
              <a:rPr sz="1100" b="0">
                <a:solidFill>
                  <a:srgbClr val="8397AB"/>
                </a:solidFill>
              </a:rPr>
              <a:t>테스트 결과</a:t>
            </a:r>
          </a:p>
        </p:txBody>
      </p:sp>
      <p:sp>
        <p:nvSpPr>
          <p:cNvPr id="29" name="TextBox 28"/>
          <p:cNvSpPr txBox="1"/>
          <p:nvPr/>
        </p:nvSpPr>
        <p:spPr>
          <a:xfrm>
            <a:off x="8183880" y="1764792"/>
            <a:ext cx="3566160" cy="274320"/>
          </a:xfrm>
          <a:prstGeom prst="rect">
            <a:avLst/>
          </a:prstGeom>
          <a:noFill/>
        </p:spPr>
        <p:txBody>
          <a:bodyPr wrap="square">
            <a:spAutoFit/>
          </a:bodyPr>
          <a:lstStyle/>
          <a:p>
            <a:pPr algn="ctr"/>
            <a:r>
              <a:rPr sz="1100" b="1">
                <a:solidFill>
                  <a:srgbClr val="FACC15"/>
                </a:solidFill>
              </a:rPr>
              <a:t>외부 변화 = --inject-fault (데모 모드)</a:t>
            </a:r>
          </a:p>
        </p:txBody>
      </p:sp>
      <p:cxnSp>
        <p:nvCxnSpPr>
          <p:cNvPr id="30" name="Connector 29"/>
          <p:cNvCxnSpPr/>
          <p:nvPr/>
        </p:nvCxnSpPr>
        <p:spPr>
          <a:xfrm>
            <a:off x="10424160" y="2029968"/>
            <a:ext cx="0" cy="301752"/>
          </a:xfrm>
          <a:prstGeom prst="line">
            <a:avLst/>
          </a:prstGeom>
          <a:ln w="22225">
            <a:solidFill>
              <a:srgbClr val="FACC1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68680" y="1371600"/>
            <a:ext cx="10515600" cy="365760"/>
          </a:xfrm>
          <a:prstGeom prst="rect">
            <a:avLst/>
          </a:prstGeom>
          <a:noFill/>
        </p:spPr>
        <p:txBody>
          <a:bodyPr wrap="square">
            <a:spAutoFit/>
          </a:bodyPr>
          <a:lstStyle/>
          <a:p>
            <a:r>
              <a:rPr sz="1500" b="0">
                <a:solidFill>
                  <a:srgbClr val="8397AB"/>
                </a:solidFill>
              </a:rPr>
              <a:t>5장의 제어 루프 그림에 데모 구성 요소를 그대로 넣으면</a:t>
            </a:r>
          </a:p>
        </p:txBody>
      </p:sp>
      <p:sp>
        <p:nvSpPr>
          <p:cNvPr id="32" name="Rounded Rectangle 31"/>
          <p:cNvSpPr/>
          <p:nvPr/>
        </p:nvSpPr>
        <p:spPr>
          <a:xfrm>
            <a:off x="868680" y="4526280"/>
            <a:ext cx="10515600" cy="54864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CFDEEB"/>
                </a:solidFill>
              </a:rPr>
              <a:t>안전장치:  최대 5회 · 세션 300초 · 테스트/검증기 변조 시 복원·중단 · Kiro는 파일 읽기/쓰기만</a:t>
            </a:r>
          </a:p>
        </p:txBody>
      </p:sp>
      <p:sp>
        <p:nvSpPr>
          <p:cNvPr id="33" name="Rounded Rectangle 32"/>
          <p:cNvSpPr/>
          <p:nvPr/>
        </p:nvSpPr>
        <p:spPr>
          <a:xfrm>
            <a:off x="868680" y="5257800"/>
            <a:ext cx="10515600" cy="731520"/>
          </a:xfrm>
          <a:prstGeom prst="roundRect">
            <a:avLst>
              <a:gd name="adj" fmla="val 8000"/>
            </a:avLst>
          </a:prstGeom>
          <a:solidFill>
            <a:srgbClr val="0F2A2A"/>
          </a:solidFill>
          <a:ln w="25400">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5F8FD"/>
                </a:solidFill>
              </a:rPr>
              <a:t>AI(Kiro)는 ‘실행기’ 한 칸일 뿐 — 판정은 센서와 컨트롤러가 한다</a:t>
            </a:r>
          </a:p>
          <a:p>
            <a:pPr algn="ctr"/>
            <a:r>
              <a:rPr sz="1300" b="0">
                <a:solidFill>
                  <a:srgbClr val="8397AB"/>
                </a:solidFill>
              </a:rPr>
              <a:t>Goal Loop 하나를 외부 Controller로 구현한 사례이며, Software Factory 전체는 아니다</a:t>
            </a:r>
          </a:p>
        </p:txBody>
      </p:sp>
      <p:sp>
        <p:nvSpPr>
          <p:cNvPr id="34" name="TextBox 33"/>
          <p:cNvSpPr txBox="1"/>
          <p:nvPr/>
        </p:nvSpPr>
        <p:spPr>
          <a:xfrm>
            <a:off x="868680" y="6080760"/>
            <a:ext cx="10515600" cy="256032"/>
          </a:xfrm>
          <a:prstGeom prst="rect">
            <a:avLst/>
          </a:prstGeom>
          <a:noFill/>
        </p:spPr>
        <p:txBody>
          <a:bodyPr wrap="square">
            <a:spAutoFit/>
          </a:bodyPr>
          <a:lstStyle/>
          <a:p>
            <a:r>
              <a:rPr sz="1000" b="0">
                <a:solidFill>
                  <a:srgbClr val="8397AB"/>
                </a:solidFill>
              </a:rPr>
              <a:t>그림: Kyle Mistele 발표의 제어 루프를 재구성 · 각 칸의 데모 대응은 발표자 해석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loop.py 핵심 로직 (약 15줄)</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10 / 20</a:t>
            </a:r>
          </a:p>
        </p:txBody>
      </p:sp>
      <p:sp>
        <p:nvSpPr>
          <p:cNvPr id="5" name="Rounded Rectangle 4"/>
          <p:cNvSpPr/>
          <p:nvPr/>
        </p:nvSpPr>
        <p:spPr>
          <a:xfrm>
            <a:off x="868680" y="1463040"/>
            <a:ext cx="10515600" cy="4114800"/>
          </a:xfrm>
          <a:prstGeom prst="roundRect">
            <a:avLst>
              <a:gd name="adj" fmla="val 3000"/>
            </a:avLst>
          </a:prstGeom>
          <a:solidFill>
            <a:srgbClr val="050A12"/>
          </a:solidFill>
          <a:ln>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554480"/>
            <a:ext cx="10058400" cy="3931920"/>
          </a:xfrm>
          <a:prstGeom prst="rect">
            <a:avLst/>
          </a:prstGeom>
          <a:noFill/>
        </p:spPr>
        <p:txBody>
          <a:bodyPr wrap="square">
            <a:spAutoFit/>
          </a:bodyPr>
          <a:lstStyle/>
          <a:p>
            <a:r>
              <a:rPr sz="1500" b="0">
                <a:solidFill>
                  <a:srgbClr val="CFDEEB"/>
                </a:solidFill>
                <a:latin typeface="Menlo"/>
                <a:ea typeface="Apple SD Gothic Neo"/>
              </a:rPr>
              <a:t>ok, log = qa_gate()                        # ① 현재 상태 검사 (verify.py)</a:t>
            </a:r>
          </a:p>
          <a:p>
            <a:r>
              <a:rPr sz="1500" b="0">
                <a:solidFill>
                  <a:srgbClr val="CFDEEB"/>
                </a:solidFill>
                <a:latin typeface="Menlo"/>
                <a:ea typeface="Apple SD Gothic Neo"/>
              </a:rPr>
              <a:t>if ok: return "ALREADY_PASSING"</a:t>
            </a:r>
          </a:p>
          <a:p>
            <a:r>
              <a:rPr sz="1500" b="0">
                <a:solidFill>
                  <a:srgbClr val="CFDEEB"/>
                </a:solidFill>
                <a:latin typeface="Menlo"/>
                <a:ea typeface="Apple SD Gothic Neo"/>
              </a:rPr>
              <a:t/>
            </a:r>
          </a:p>
          <a:p>
            <a:r>
              <a:rPr sz="1500" b="0">
                <a:solidFill>
                  <a:srgbClr val="31D3B1"/>
                </a:solidFill>
                <a:latin typeface="Menlo"/>
                <a:ea typeface="Apple SD Gothic Neo"/>
              </a:rPr>
              <a:t>for i in range(1, 6):                      # 최대 5회</a:t>
            </a:r>
          </a:p>
          <a:p>
            <a:r>
              <a:rPr sz="1500" b="0">
                <a:solidFill>
                  <a:srgbClr val="7C5CFF"/>
                </a:solidFill>
                <a:latin typeface="Menlo"/>
                <a:ea typeface="Apple SD Gothic Neo"/>
              </a:rPr>
              <a:t>    run_kiro(prompt + log, timeout=300)    # ② 새 Kiro 세션 = 작업 지시</a:t>
            </a:r>
          </a:p>
          <a:p>
            <a:r>
              <a:rPr sz="1500" b="0">
                <a:solidFill>
                  <a:srgbClr val="CFDEEB"/>
                </a:solidFill>
                <a:latin typeface="Menlo"/>
                <a:ea typeface="Apple SD Gothic Neo"/>
              </a:rPr>
              <a:t>    if protected_files_changed():          # ③ 테스트·검증기 변조 검사</a:t>
            </a:r>
          </a:p>
          <a:p>
            <a:r>
              <a:rPr sz="1500" b="0">
                <a:solidFill>
                  <a:srgbClr val="FF6B6B"/>
                </a:solidFill>
                <a:latin typeface="Menlo"/>
                <a:ea typeface="Apple SD Gothic Neo"/>
              </a:rPr>
              <a:t>        restore(); return "GUARDRAIL_STOP"</a:t>
            </a:r>
          </a:p>
          <a:p>
            <a:r>
              <a:rPr sz="1500" b="0">
                <a:solidFill>
                  <a:srgbClr val="CFDEEB"/>
                </a:solidFill>
                <a:latin typeface="Menlo"/>
                <a:ea typeface="Apple SD Gothic Neo"/>
              </a:rPr>
              <a:t>    ok, log = qa_gate()                    # ④ AI 말 대신 직접 검사</a:t>
            </a:r>
          </a:p>
          <a:p>
            <a:r>
              <a:rPr sz="1500" b="0">
                <a:solidFill>
                  <a:srgbClr val="CFDEEB"/>
                </a:solidFill>
                <a:latin typeface="Menlo"/>
                <a:ea typeface="Apple SD Gothic Neo"/>
              </a:rPr>
              <a:t>    save_record(i, ok, log, diff)          # .loop/ 에 기록</a:t>
            </a:r>
          </a:p>
          <a:p>
            <a:r>
              <a:rPr sz="1500" b="0">
                <a:solidFill>
                  <a:srgbClr val="4ADE80"/>
                </a:solidFill>
                <a:latin typeface="Menlo"/>
                <a:ea typeface="Apple SD Gothic Neo"/>
              </a:rPr>
              <a:t>    if ok: return "PASS"                   # ⑤ 판정: 성공</a:t>
            </a:r>
          </a:p>
          <a:p>
            <a:r>
              <a:rPr sz="1500" b="0">
                <a:solidFill>
                  <a:srgbClr val="FF6B6B"/>
                </a:solidFill>
                <a:latin typeface="Menlo"/>
                <a:ea typeface="Apple SD Gothic Neo"/>
              </a:rPr>
              <a:t>    if kiro_failed: return "AGENT_ERROR"   #    도구·인증·타임아웃 오류</a:t>
            </a:r>
          </a:p>
          <a:p>
            <a:r>
              <a:rPr sz="1500" b="0">
                <a:solidFill>
                  <a:srgbClr val="8397AB"/>
                </a:solidFill>
                <a:latin typeface="Menlo"/>
                <a:ea typeface="Apple SD Gothic Neo"/>
              </a:rPr>
              <a:t>    # FAIL이면 log를 들고 다음 회차로</a:t>
            </a:r>
          </a:p>
          <a:p>
            <a:r>
              <a:rPr sz="1500" b="0">
                <a:solidFill>
                  <a:srgbClr val="CFDEEB"/>
                </a:solidFill>
                <a:latin typeface="Menlo"/>
                <a:ea typeface="Apple SD Gothic Neo"/>
              </a:rPr>
              <a:t/>
            </a:r>
          </a:p>
          <a:p>
            <a:r>
              <a:rPr sz="1500" b="0">
                <a:solidFill>
                  <a:srgbClr val="FF6B6B"/>
                </a:solidFill>
                <a:latin typeface="Menlo"/>
                <a:ea typeface="Apple SD Gothic Neo"/>
              </a:rPr>
              <a:t>return "MAX_ITERATIONS"                    # 5회 모두 실패</a:t>
            </a:r>
          </a:p>
        </p:txBody>
      </p:sp>
      <p:sp>
        <p:nvSpPr>
          <p:cNvPr id="7" name="TextBox 6"/>
          <p:cNvSpPr txBox="1"/>
          <p:nvPr/>
        </p:nvSpPr>
        <p:spPr>
          <a:xfrm>
            <a:off x="868680" y="5715000"/>
            <a:ext cx="10515600" cy="548640"/>
          </a:xfrm>
          <a:prstGeom prst="rect">
            <a:avLst/>
          </a:prstGeom>
          <a:noFill/>
        </p:spPr>
        <p:txBody>
          <a:bodyPr wrap="square">
            <a:spAutoFit/>
          </a:bodyPr>
          <a:lstStyle/>
          <a:p>
            <a:r>
              <a:rPr sz="1800" b="0">
                <a:solidFill>
                  <a:srgbClr val="CFDEEB"/>
                </a:solidFill>
              </a:rPr>
              <a:t>Controller는 AI가 아니다 — 테스트 결과(PASS/FAIL)만 보고 if문으로 결정한다</a:t>
            </a:r>
          </a:p>
        </p:txBody>
      </p:sp>
      <p:sp>
        <p:nvSpPr>
          <p:cNvPr id="8" name="TextBox 7"/>
          <p:cNvSpPr txBox="1"/>
          <p:nvPr/>
        </p:nvSpPr>
        <p:spPr>
          <a:xfrm>
            <a:off x="868680" y="329184"/>
            <a:ext cx="10515600" cy="274320"/>
          </a:xfrm>
          <a:prstGeom prst="rect">
            <a:avLst/>
          </a:prstGeom>
          <a:noFill/>
        </p:spPr>
        <p:txBody>
          <a:bodyPr wrap="square">
            <a:spAutoFit/>
          </a:bodyPr>
          <a:lstStyle/>
          <a:p>
            <a:r>
              <a:rPr sz="1100" b="1">
                <a:solidFill>
                  <a:srgbClr val="31D3B1"/>
                </a:solidFill>
              </a:rPr>
              <a:t>PART 3 · 데모 1: 버그 하나 고치기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실제 실행 ①: Kiro가 1회에 해결</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11 / 20</a:t>
            </a:r>
          </a:p>
        </p:txBody>
      </p:sp>
      <p:sp>
        <p:nvSpPr>
          <p:cNvPr id="5" name="Rounded Rectangle 4"/>
          <p:cNvSpPr/>
          <p:nvPr/>
        </p:nvSpPr>
        <p:spPr>
          <a:xfrm>
            <a:off x="868680" y="1463040"/>
            <a:ext cx="10515600" cy="3840480"/>
          </a:xfrm>
          <a:prstGeom prst="roundRect">
            <a:avLst>
              <a:gd name="adj" fmla="val 3000"/>
            </a:avLst>
          </a:prstGeom>
          <a:solidFill>
            <a:srgbClr val="050A12"/>
          </a:solidFill>
          <a:ln>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1560" y="1554480"/>
            <a:ext cx="10149840" cy="3657600"/>
          </a:xfrm>
          <a:prstGeom prst="rect">
            <a:avLst/>
          </a:prstGeom>
          <a:noFill/>
        </p:spPr>
        <p:txBody>
          <a:bodyPr wrap="square">
            <a:spAutoFit/>
          </a:bodyPr>
          <a:lstStyle/>
          <a:p>
            <a:r>
              <a:rPr sz="1300" b="0">
                <a:solidFill>
                  <a:srgbClr val="31D3B1"/>
                </a:solidFill>
                <a:latin typeface="Menlo"/>
                <a:ea typeface="Apple SD Gothic Neo"/>
              </a:rPr>
              <a:t>$ python3 loop.py --provider kiro --reset</a:t>
            </a:r>
          </a:p>
          <a:p>
            <a:r>
              <a:rPr sz="1300" b="0">
                <a:solidFill>
                  <a:srgbClr val="FF6B6B"/>
                </a:solidFill>
                <a:latin typeface="Menlo"/>
                <a:ea typeface="Apple SD Gothic Neo"/>
              </a:rPr>
              <a:t>[QA GATE] initial: FAIL</a:t>
            </a:r>
          </a:p>
          <a:p>
            <a:r>
              <a:rPr sz="1300" b="0">
                <a:solidFill>
                  <a:srgbClr val="CFDEEB"/>
                </a:solidFill>
                <a:latin typeface="Menlo"/>
                <a:ea typeface="Apple SD Gothic Neo"/>
              </a:rPr>
              <a:t>  AssertionError: Expected IllegalArgumentException for rate=-1</a:t>
            </a:r>
          </a:p>
          <a:p>
            <a:r>
              <a:rPr sz="1300" b="0">
                <a:solidFill>
                  <a:srgbClr val="31D3B1"/>
                </a:solidFill>
                <a:latin typeface="Menlo"/>
                <a:ea typeface="Apple SD Gothic Neo"/>
              </a:rPr>
              <a:t>[LOOP 1/5] starting NEW kiro session (no human input)</a:t>
            </a:r>
          </a:p>
          <a:p>
            <a:r>
              <a:rPr sz="1300" b="0">
                <a:solidFill>
                  <a:srgbClr val="8397AB"/>
                </a:solidFill>
                <a:latin typeface="Menlo"/>
                <a:ea typeface="Apple SD Gothic Neo"/>
              </a:rPr>
              <a:t>  │ [tool] Reading DiscountCalculator.java, DiscountTest.java</a:t>
            </a:r>
          </a:p>
          <a:p>
            <a:r>
              <a:rPr sz="1300" b="0">
                <a:solidFill>
                  <a:srgbClr val="8397AB"/>
                </a:solidFill>
                <a:latin typeface="Menlo"/>
                <a:ea typeface="Apple SD Gothic Neo"/>
              </a:rPr>
              <a:t>  │ [tool] Editing DiscountCalculator.java</a:t>
            </a:r>
          </a:p>
          <a:p>
            <a:r>
              <a:rPr sz="1300" b="0">
                <a:solidFill>
                  <a:srgbClr val="8397AB"/>
                </a:solidFill>
                <a:latin typeface="Menlo"/>
                <a:ea typeface="Apple SD Gothic Neo"/>
              </a:rPr>
              <a:t>  │ Added guards ... rate outside [0,100] or price is negative</a:t>
            </a:r>
          </a:p>
          <a:p>
            <a:r>
              <a:rPr sz="1300" b="0">
                <a:solidFill>
                  <a:srgbClr val="8397AB"/>
                </a:solidFill>
                <a:latin typeface="Menlo"/>
                <a:ea typeface="Apple SD Gothic Neo"/>
              </a:rPr>
              <a:t>  [AGENT] session ended: exit=0 (17.4s). Agent claim is NOT trusted</a:t>
            </a:r>
          </a:p>
          <a:p>
            <a:r>
              <a:rPr sz="1300" b="0">
                <a:solidFill>
                  <a:srgbClr val="4ADE80"/>
                </a:solidFill>
                <a:latin typeface="Menlo"/>
                <a:ea typeface="Apple SD Gothic Neo"/>
              </a:rPr>
              <a:t>[QA GATE] PASS   ALL TESTS PASSED</a:t>
            </a:r>
          </a:p>
          <a:p>
            <a:r>
              <a:rPr sz="1300" b="0">
                <a:solidFill>
                  <a:srgbClr val="4ADE80"/>
                </a:solidFill>
                <a:latin typeface="Menlo"/>
                <a:ea typeface="Apple SD Gothic Neo"/>
              </a:rPr>
              <a:t>SUCCESS: QA Gate passed on iteration 1. Controller stops the loop.</a:t>
            </a:r>
          </a:p>
        </p:txBody>
      </p:sp>
      <p:sp>
        <p:nvSpPr>
          <p:cNvPr id="7" name="TextBox 6"/>
          <p:cNvSpPr txBox="1"/>
          <p:nvPr/>
        </p:nvSpPr>
        <p:spPr>
          <a:xfrm>
            <a:off x="868680" y="5440680"/>
            <a:ext cx="10515600" cy="822960"/>
          </a:xfrm>
          <a:prstGeom prst="rect">
            <a:avLst/>
          </a:prstGeom>
          <a:noFill/>
        </p:spPr>
        <p:txBody>
          <a:bodyPr wrap="square">
            <a:spAutoFit/>
          </a:bodyPr>
          <a:lstStyle/>
          <a:p>
            <a:r>
              <a:rPr sz="1800" b="0">
                <a:solidFill>
                  <a:srgbClr val="CFDEEB"/>
                </a:solidFill>
              </a:rPr>
              <a:t>쉬운 목표는 1회에 끝나는 게 정상 — 그래도 "완료"는 Kiro가 아니라 QA Gate가 승인했다</a:t>
            </a:r>
          </a:p>
        </p:txBody>
      </p:sp>
      <p:sp>
        <p:nvSpPr>
          <p:cNvPr id="8" name="TextBox 7"/>
          <p:cNvSpPr txBox="1"/>
          <p:nvPr/>
        </p:nvSpPr>
        <p:spPr>
          <a:xfrm>
            <a:off x="868680" y="329184"/>
            <a:ext cx="10515600" cy="274320"/>
          </a:xfrm>
          <a:prstGeom prst="rect">
            <a:avLst/>
          </a:prstGeom>
          <a:noFill/>
        </p:spPr>
        <p:txBody>
          <a:bodyPr wrap="square">
            <a:spAutoFit/>
          </a:bodyPr>
          <a:lstStyle/>
          <a:p>
            <a:r>
              <a:rPr sz="1100" b="1">
                <a:solidFill>
                  <a:srgbClr val="31D3B1"/>
                </a:solidFill>
              </a:rPr>
              <a:t>PART 3 · 데모 1: 버그 하나 고치기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실제 실행 ②: QA FAIL → 새 세션 자동 실행</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12 / 20</a:t>
            </a:r>
          </a:p>
        </p:txBody>
      </p:sp>
      <p:sp>
        <p:nvSpPr>
          <p:cNvPr id="5" name="Rounded Rectangle 4"/>
          <p:cNvSpPr/>
          <p:nvPr/>
        </p:nvSpPr>
        <p:spPr>
          <a:xfrm>
            <a:off x="868680" y="1371600"/>
            <a:ext cx="10515600" cy="4206240"/>
          </a:xfrm>
          <a:prstGeom prst="roundRect">
            <a:avLst>
              <a:gd name="adj" fmla="val 3000"/>
            </a:avLst>
          </a:prstGeom>
          <a:solidFill>
            <a:srgbClr val="050A12"/>
          </a:solidFill>
          <a:ln>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1560" y="1463040"/>
            <a:ext cx="10149840" cy="4023360"/>
          </a:xfrm>
          <a:prstGeom prst="rect">
            <a:avLst/>
          </a:prstGeom>
          <a:noFill/>
        </p:spPr>
        <p:txBody>
          <a:bodyPr wrap="square">
            <a:spAutoFit/>
          </a:bodyPr>
          <a:lstStyle/>
          <a:p>
            <a:r>
              <a:rPr sz="1200" b="0">
                <a:solidFill>
                  <a:srgbClr val="31D3B1"/>
                </a:solidFill>
                <a:latin typeface="Menlo"/>
                <a:ea typeface="Apple SD Gothic Neo"/>
              </a:rPr>
              <a:t>$ python3 loop.py --provider kiro --reset --inject-fault</a:t>
            </a:r>
          </a:p>
          <a:p>
            <a:r>
              <a:rPr sz="1200" b="0">
                <a:solidFill>
                  <a:srgbClr val="31D3B1"/>
                </a:solidFill>
                <a:latin typeface="Menlo"/>
                <a:ea typeface="Apple SD Gothic Neo"/>
              </a:rPr>
              <a:t>[LOOP 1/5] starting NEW kiro session (no human input)</a:t>
            </a:r>
          </a:p>
          <a:p>
            <a:r>
              <a:rPr sz="1200" b="0">
                <a:solidFill>
                  <a:srgbClr val="8397AB"/>
                </a:solidFill>
                <a:latin typeface="Menlo"/>
                <a:ea typeface="Apple SD Gothic Neo"/>
              </a:rPr>
              <a:t>  │ [tool] Editing DiscountCalculator.java     (16.5s, exit=0)</a:t>
            </a:r>
          </a:p>
          <a:p>
            <a:r>
              <a:rPr sz="1200" b="0">
                <a:solidFill>
                  <a:srgbClr val="FACC15"/>
                </a:solidFill>
                <a:latin typeface="Menlo"/>
                <a:ea typeface="Apple SD Gothic Neo"/>
              </a:rPr>
              <a:t>[FAULT INJECTION] controller removed price validation (NOT the AI's)</a:t>
            </a:r>
          </a:p>
          <a:p>
            <a:r>
              <a:rPr sz="1200" b="0">
                <a:solidFill>
                  <a:srgbClr val="FF6B6B"/>
                </a:solidFill>
                <a:latin typeface="Menlo"/>
                <a:ea typeface="Apple SD Gothic Neo"/>
              </a:rPr>
              <a:t>[QA GATE] FAIL</a:t>
            </a:r>
          </a:p>
          <a:p>
            <a:r>
              <a:rPr sz="1200" b="0">
                <a:solidFill>
                  <a:srgbClr val="CFDEEB"/>
                </a:solidFill>
                <a:latin typeface="Menlo"/>
                <a:ea typeface="Apple SD Gothic Neo"/>
              </a:rPr>
              <a:t>  AssertionError: Expected IllegalArgumentException for price=-1</a:t>
            </a:r>
          </a:p>
          <a:p>
            <a:r>
              <a:rPr sz="1200" b="0">
                <a:solidFill>
                  <a:srgbClr val="31D3B1"/>
                </a:solidFill>
                <a:latin typeface="Menlo"/>
                <a:ea typeface="Apple SD Gothic Neo"/>
              </a:rPr>
              <a:t>[LOOP] QA failed -&gt; feeding failure log into a NEW session</a:t>
            </a:r>
          </a:p>
          <a:p>
            <a:r>
              <a:rPr sz="1200" b="0">
                <a:solidFill>
                  <a:srgbClr val="31D3B1"/>
                </a:solidFill>
                <a:latin typeface="Menlo"/>
                <a:ea typeface="Apple SD Gothic Neo"/>
              </a:rPr>
              <a:t>[LOOP 2/5] starting NEW kiro session (no human input)</a:t>
            </a:r>
          </a:p>
          <a:p>
            <a:r>
              <a:rPr sz="1200" b="0">
                <a:solidFill>
                  <a:srgbClr val="8397AB"/>
                </a:solidFill>
                <a:latin typeface="Menlo"/>
                <a:ea typeface="Apple SD Gothic Neo"/>
              </a:rPr>
              <a:t>  │ The fix is to add price validation. I'll add a check for price &lt; 0</a:t>
            </a:r>
          </a:p>
          <a:p>
            <a:r>
              <a:rPr sz="1200" b="0">
                <a:solidFill>
                  <a:srgbClr val="8397AB"/>
                </a:solidFill>
                <a:latin typeface="Menlo"/>
                <a:ea typeface="Apple SD Gothic Neo"/>
              </a:rPr>
              <a:t>  │ [tool] Editing DiscountCalculator.java     (17.2s, exit=0)</a:t>
            </a:r>
          </a:p>
          <a:p>
            <a:r>
              <a:rPr sz="1200" b="0">
                <a:solidFill>
                  <a:srgbClr val="4ADE80"/>
                </a:solidFill>
                <a:latin typeface="Menlo"/>
                <a:ea typeface="Apple SD Gothic Neo"/>
              </a:rPr>
              <a:t>[QA GATE] PASS   ALL TESTS PASSED</a:t>
            </a:r>
          </a:p>
          <a:p>
            <a:r>
              <a:rPr sz="1200" b="0">
                <a:solidFill>
                  <a:srgbClr val="4ADE80"/>
                </a:solidFill>
                <a:latin typeface="Menlo"/>
                <a:ea typeface="Apple SD Gothic Neo"/>
              </a:rPr>
              <a:t>RESULT=PASS  iterations=2   loop 1: FAIL (fault injected) / loop 2: PASS</a:t>
            </a:r>
          </a:p>
        </p:txBody>
      </p:sp>
      <p:sp>
        <p:nvSpPr>
          <p:cNvPr id="7" name="TextBox 6"/>
          <p:cNvSpPr txBox="1"/>
          <p:nvPr/>
        </p:nvSpPr>
        <p:spPr>
          <a:xfrm>
            <a:off x="868680" y="5669280"/>
            <a:ext cx="10515600" cy="640080"/>
          </a:xfrm>
          <a:prstGeom prst="rect">
            <a:avLst/>
          </a:prstGeom>
          <a:noFill/>
        </p:spPr>
        <p:txBody>
          <a:bodyPr wrap="square">
            <a:spAutoFit/>
          </a:bodyPr>
          <a:lstStyle/>
          <a:p>
            <a:r>
              <a:rPr sz="1600" b="0">
                <a:solidFill>
                  <a:srgbClr val="FACC15"/>
                </a:solidFill>
              </a:rPr>
              <a:t>※ 1회차 실패는 Controller가 의도적으로 주입한 것 (AI 실패 아님)</a:t>
            </a:r>
          </a:p>
        </p:txBody>
      </p:sp>
      <p:sp>
        <p:nvSpPr>
          <p:cNvPr id="8" name="TextBox 7"/>
          <p:cNvSpPr txBox="1"/>
          <p:nvPr/>
        </p:nvSpPr>
        <p:spPr>
          <a:xfrm>
            <a:off x="868680" y="329184"/>
            <a:ext cx="10515600" cy="274320"/>
          </a:xfrm>
          <a:prstGeom prst="rect">
            <a:avLst/>
          </a:prstGeom>
          <a:noFill/>
        </p:spPr>
        <p:txBody>
          <a:bodyPr wrap="square">
            <a:spAutoFit/>
          </a:bodyPr>
          <a:lstStyle/>
          <a:p>
            <a:r>
              <a:rPr sz="1100" b="1">
                <a:solidFill>
                  <a:srgbClr val="31D3B1"/>
                </a:solidFill>
              </a:rPr>
              <a:t>PART 3 · 데모 1: 버그 하나 고치기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증거: Controller가 남긴 기록</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13 / 20</a:t>
            </a:r>
          </a:p>
        </p:txBody>
      </p:sp>
      <p:sp>
        <p:nvSpPr>
          <p:cNvPr id="5" name="TextBox 4"/>
          <p:cNvSpPr txBox="1"/>
          <p:nvPr/>
        </p:nvSpPr>
        <p:spPr>
          <a:xfrm>
            <a:off x="868680" y="1463040"/>
            <a:ext cx="4754880" cy="3840480"/>
          </a:xfrm>
          <a:prstGeom prst="rect">
            <a:avLst/>
          </a:prstGeom>
          <a:noFill/>
        </p:spPr>
        <p:txBody>
          <a:bodyPr wrap="square">
            <a:spAutoFit/>
          </a:bodyPr>
          <a:lstStyle/>
          <a:p>
            <a:r>
              <a:rPr sz="1800" b="0">
                <a:solidFill>
                  <a:srgbClr val="CFDEEB"/>
                </a:solidFill>
              </a:rPr>
              <a:t>.loop/summary.json — 결과·반복 횟수</a:t>
            </a:r>
          </a:p>
          <a:p>
            <a:r>
              <a:rPr sz="1800" b="0">
                <a:solidFill>
                  <a:srgbClr val="CFDEEB"/>
                </a:solidFill>
              </a:rPr>
              <a:t>iteration-NN.json — 회차별 QA 출력</a:t>
            </a:r>
          </a:p>
          <a:p>
            <a:r>
              <a:rPr sz="1800" b="0">
                <a:solidFill>
                  <a:srgbClr val="CFDEEB"/>
                </a:solidFill>
              </a:rPr>
              <a:t>agent-NN.log — Kiro 세션 전체 로그</a:t>
            </a:r>
          </a:p>
          <a:p>
            <a:r>
              <a:rPr sz="1800" b="0">
                <a:solidFill>
                  <a:srgbClr val="CFDEEB"/>
                </a:solidFill>
              </a:rPr>
              <a:t>diff-NN.patch — AI가 바꾼 코드</a:t>
            </a:r>
          </a:p>
          <a:p>
            <a:r>
              <a:rPr sz="1800" b="0">
                <a:solidFill>
                  <a:srgbClr val="CFDEEB"/>
                </a:solidFill>
              </a:rPr>
              <a:t/>
            </a:r>
          </a:p>
          <a:p>
            <a:r>
              <a:rPr sz="1800" b="0">
                <a:solidFill>
                  <a:srgbClr val="31D3B1"/>
                </a:solidFill>
              </a:rPr>
              <a:t>보호 파일 변조 시뮬레이션</a:t>
            </a:r>
          </a:p>
          <a:p>
            <a:r>
              <a:rPr sz="1800" b="0">
                <a:solidFill>
                  <a:srgbClr val="CFDEEB"/>
                </a:solidFill>
              </a:rPr>
              <a:t>→ 자동 복원 + GUARDRAIL_STOP</a:t>
            </a:r>
          </a:p>
          <a:p>
            <a:r>
              <a:rPr sz="1800" b="0">
                <a:solidFill>
                  <a:srgbClr val="CFDEEB"/>
                </a:solidFill>
              </a:rPr>
              <a:t>셸 도구 요청 → 비대화형 모드에서 거부</a:t>
            </a:r>
          </a:p>
        </p:txBody>
      </p:sp>
      <p:sp>
        <p:nvSpPr>
          <p:cNvPr id="6" name="Rounded Rectangle 5"/>
          <p:cNvSpPr/>
          <p:nvPr/>
        </p:nvSpPr>
        <p:spPr>
          <a:xfrm>
            <a:off x="6720840" y="1463040"/>
            <a:ext cx="4663440" cy="3840480"/>
          </a:xfrm>
          <a:prstGeom prst="roundRect">
            <a:avLst>
              <a:gd name="adj" fmla="val 3000"/>
            </a:avLst>
          </a:prstGeom>
          <a:solidFill>
            <a:srgbClr val="050A12"/>
          </a:solidFill>
          <a:ln>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903720" y="1554480"/>
            <a:ext cx="4297680" cy="3657600"/>
          </a:xfrm>
          <a:prstGeom prst="rect">
            <a:avLst/>
          </a:prstGeom>
          <a:noFill/>
        </p:spPr>
        <p:txBody>
          <a:bodyPr wrap="square">
            <a:spAutoFit/>
          </a:bodyPr>
          <a:lstStyle/>
          <a:p>
            <a:r>
              <a:rPr sz="1200" b="0">
                <a:solidFill>
                  <a:srgbClr val="CFDEEB"/>
                </a:solidFill>
                <a:latin typeface="Menlo"/>
                <a:ea typeface="Apple SD Gothic Neo"/>
              </a:rPr>
              <a:t>diff-02.patch  (LOOP 2, Kiro)</a:t>
            </a:r>
          </a:p>
          <a:p>
            <a:r>
              <a:rPr sz="1200" b="0">
                <a:solidFill>
                  <a:srgbClr val="CFDEEB"/>
                </a:solidFill>
                <a:latin typeface="Menlo"/>
                <a:ea typeface="Apple SD Gothic Neo"/>
              </a:rPr>
              <a:t/>
            </a:r>
          </a:p>
          <a:p>
            <a:r>
              <a:rPr sz="1200" b="0">
                <a:solidFill>
                  <a:srgbClr val="CFDEEB"/>
                </a:solidFill>
                <a:latin typeface="Menlo"/>
                <a:ea typeface="Apple SD Gothic Neo"/>
              </a:rPr>
              <a:t>  public static int discount(</a:t>
            </a:r>
          </a:p>
          <a:p>
            <a:r>
              <a:rPr sz="1200" b="0">
                <a:solidFill>
                  <a:srgbClr val="CFDEEB"/>
                </a:solidFill>
                <a:latin typeface="Menlo"/>
                <a:ea typeface="Apple SD Gothic Neo"/>
              </a:rPr>
              <a:t>      int price, int rate) {</a:t>
            </a:r>
          </a:p>
          <a:p>
            <a:r>
              <a:rPr sz="1200" b="0">
                <a:solidFill>
                  <a:srgbClr val="FF6B6B"/>
                </a:solidFill>
                <a:latin typeface="Menlo"/>
                <a:ea typeface="Apple SD Gothic Neo"/>
              </a:rPr>
              <a:t>- // [FAULT INJECTION] price</a:t>
            </a:r>
          </a:p>
          <a:p>
            <a:r>
              <a:rPr sz="1200" b="0">
                <a:solidFill>
                  <a:srgbClr val="FF6B6B"/>
                </a:solidFill>
                <a:latin typeface="Menlo"/>
                <a:ea typeface="Apple SD Gothic Neo"/>
              </a:rPr>
              <a:t>-    validation removed</a:t>
            </a:r>
          </a:p>
          <a:p>
            <a:r>
              <a:rPr sz="1200" b="0">
                <a:solidFill>
                  <a:srgbClr val="4ADE80"/>
                </a:solidFill>
                <a:latin typeface="Menlo"/>
                <a:ea typeface="Apple SD Gothic Neo"/>
              </a:rPr>
              <a:t>+ if (price &lt; 0) throw new</a:t>
            </a:r>
          </a:p>
          <a:p>
            <a:r>
              <a:rPr sz="1200" b="0">
                <a:solidFill>
                  <a:srgbClr val="4ADE80"/>
                </a:solidFill>
                <a:latin typeface="Menlo"/>
                <a:ea typeface="Apple SD Gothic Neo"/>
              </a:rPr>
              <a:t>+   IllegalArgumentException(</a:t>
            </a:r>
          </a:p>
          <a:p>
            <a:r>
              <a:rPr sz="1200" b="0">
                <a:solidFill>
                  <a:srgbClr val="4ADE80"/>
                </a:solidFill>
                <a:latin typeface="Menlo"/>
                <a:ea typeface="Apple SD Gothic Neo"/>
              </a:rPr>
              <a:t>+     "invalid price");</a:t>
            </a:r>
          </a:p>
          <a:p>
            <a:r>
              <a:rPr sz="1200" b="0">
                <a:solidFill>
                  <a:srgbClr val="CFDEEB"/>
                </a:solidFill>
                <a:latin typeface="Menlo"/>
                <a:ea typeface="Apple SD Gothic Neo"/>
              </a:rPr>
              <a:t>  if (rate &lt; 0 || rate &gt; 100)</a:t>
            </a:r>
          </a:p>
          <a:p>
            <a:r>
              <a:rPr sz="1200" b="0">
                <a:solidFill>
                  <a:srgbClr val="CFDEEB"/>
                </a:solidFill>
                <a:latin typeface="Menlo"/>
                <a:ea typeface="Apple SD Gothic Neo"/>
              </a:rPr>
              <a:t>    throw new IllegalArgumentException</a:t>
            </a:r>
          </a:p>
        </p:txBody>
      </p:sp>
      <p:sp>
        <p:nvSpPr>
          <p:cNvPr id="8" name="TextBox 7"/>
          <p:cNvSpPr txBox="1"/>
          <p:nvPr/>
        </p:nvSpPr>
        <p:spPr>
          <a:xfrm>
            <a:off x="868680" y="329184"/>
            <a:ext cx="10515600" cy="274320"/>
          </a:xfrm>
          <a:prstGeom prst="rect">
            <a:avLst/>
          </a:prstGeom>
          <a:noFill/>
        </p:spPr>
        <p:txBody>
          <a:bodyPr wrap="square">
            <a:spAutoFit/>
          </a:bodyPr>
          <a:lstStyle/>
          <a:p>
            <a:r>
              <a:rPr sz="1100" b="1">
                <a:solidFill>
                  <a:srgbClr val="31D3B1"/>
                </a:solidFill>
              </a:rPr>
              <a:t>PART 3 · 데모 1: 버그 하나 고치기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데모 2: 한 번에 끝낼 수 없는 일</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14 / 20</a:t>
            </a:r>
          </a:p>
        </p:txBody>
      </p:sp>
      <p:sp>
        <p:nvSpPr>
          <p:cNvPr id="5" name="TextBox 4"/>
          <p:cNvSpPr txBox="1"/>
          <p:nvPr/>
        </p:nvSpPr>
        <p:spPr>
          <a:xfrm>
            <a:off x="868680" y="329184"/>
            <a:ext cx="10515600" cy="274320"/>
          </a:xfrm>
          <a:prstGeom prst="rect">
            <a:avLst/>
          </a:prstGeom>
          <a:noFill/>
        </p:spPr>
        <p:txBody>
          <a:bodyPr wrap="square">
            <a:spAutoFit/>
          </a:bodyPr>
          <a:lstStyle/>
          <a:p>
            <a:r>
              <a:rPr sz="1100" b="1">
                <a:solidFill>
                  <a:srgbClr val="31D3B1"/>
                </a:solidFill>
              </a:rPr>
              <a:t>PART 3 · 데모 2: 한 번에 끝낼 수 없는 일</a:t>
            </a:r>
          </a:p>
        </p:txBody>
      </p:sp>
      <p:sp>
        <p:nvSpPr>
          <p:cNvPr id="6" name="TextBox 5"/>
          <p:cNvSpPr txBox="1"/>
          <p:nvPr/>
        </p:nvSpPr>
        <p:spPr>
          <a:xfrm>
            <a:off x="868680" y="1371600"/>
            <a:ext cx="10515600" cy="365760"/>
          </a:xfrm>
          <a:prstGeom prst="rect">
            <a:avLst/>
          </a:prstGeom>
          <a:noFill/>
        </p:spPr>
        <p:txBody>
          <a:bodyPr wrap="square">
            <a:spAutoFit/>
          </a:bodyPr>
          <a:lstStyle/>
          <a:p>
            <a:r>
              <a:rPr sz="1500" b="0">
                <a:solidFill>
                  <a:srgbClr val="8397AB"/>
                </a:solidFill>
              </a:rPr>
              <a:t>데모 1은 버그 하나라 한 번에 끝났다. 이번엔 여러 번 돌아야만 끝나는 일을 맡긴다</a:t>
            </a:r>
          </a:p>
        </p:txBody>
      </p:sp>
      <p:sp>
        <p:nvSpPr>
          <p:cNvPr id="7" name="Rounded Rectangle 6"/>
          <p:cNvSpPr/>
          <p:nvPr/>
        </p:nvSpPr>
        <p:spPr>
          <a:xfrm>
            <a:off x="868680" y="1874519"/>
            <a:ext cx="4846320" cy="2788920"/>
          </a:xfrm>
          <a:prstGeom prst="roundRect">
            <a:avLst>
              <a:gd name="adj" fmla="val 6000"/>
            </a:avLst>
          </a:prstGeom>
          <a:solidFill>
            <a:srgbClr val="162236"/>
          </a:solidFill>
          <a:ln w="22225">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lIns="228600" rIns="228600" tIns="54864" bIns="54864" wrap="square"/>
          <a:lstStyle/>
          <a:p>
            <a:pPr algn="l">
              <a:spcAft>
                <a:spcPts val="800"/>
              </a:spcAft>
            </a:pPr>
            <a:r>
              <a:rPr sz="1600" b="1">
                <a:solidFill>
                  <a:srgbClr val="31D3B1"/>
                </a:solidFill>
              </a:rPr>
              <a:t>과제</a:t>
            </a:r>
          </a:p>
          <a:p>
            <a:pPr algn="l">
              <a:spcAft>
                <a:spcPts val="800"/>
              </a:spcAft>
            </a:pPr>
            <a:r>
              <a:rPr sz="1500" b="0">
                <a:solidFill>
                  <a:srgbClr val="F5F8FD"/>
                </a:solidFill>
              </a:rPr>
              <a:t>Java 클래스 6개가 쓰는 옛 날짜 API(Date · Calendar · SimpleDateFormat)를 새 표준 java.time으로 바꾼다</a:t>
            </a:r>
          </a:p>
          <a:p>
            <a:pPr algn="l">
              <a:spcAft>
                <a:spcPts val="800"/>
              </a:spcAft>
            </a:pPr>
            <a:r>
              <a:rPr sz="1200" b="0">
                <a:solidFill>
                  <a:srgbClr val="8397AB"/>
                </a:solidFill>
              </a:rPr>
              <a:t>왜? Java 8(2014)부터 java.time이 표준. 옛 API는 스레드에 안전하지 않고 값이 바뀌는 등 실수가 잦다 (삭제 예정은 아님)</a:t>
            </a:r>
          </a:p>
          <a:p>
            <a:pPr algn="l">
              <a:spcAft>
                <a:spcPts val="800"/>
              </a:spcAft>
            </a:pPr>
            <a:r>
              <a:rPr sz="1400" b="0">
                <a:solidFill>
                  <a:srgbClr val="CFDEEB"/>
                </a:solidFill>
              </a:rPr>
              <a:t>조건: 동작은 하나도 바뀌면 안 된다 — 출력 · 시간대 · 정밀도 · 예외</a:t>
            </a:r>
          </a:p>
          <a:p>
            <a:pPr algn="l">
              <a:spcAft>
                <a:spcPts val="800"/>
              </a:spcAft>
            </a:pPr>
            <a:r>
              <a:rPr sz="1400" b="0">
                <a:solidFill>
                  <a:srgbClr val="CFDEEB"/>
                </a:solidFill>
              </a:rPr>
              <a:t>규칙: loop 한 번에 파일 하나만 (작게 고치고 다시 잰다)</a:t>
            </a:r>
          </a:p>
        </p:txBody>
      </p:sp>
      <p:graphicFrame>
        <p:nvGraphicFramePr>
          <p:cNvPr id="8" name="Table 7"/>
          <p:cNvGraphicFramePr>
            <a:graphicFrameLocks noGrp="1"/>
          </p:cNvGraphicFramePr>
          <p:nvPr/>
        </p:nvGraphicFramePr>
        <p:xfrm>
          <a:off x="5989320" y="1874519"/>
          <a:ext cx="5394960" cy="2784348"/>
        </p:xfrm>
        <a:graphic>
          <a:graphicData uri="http://schemas.openxmlformats.org/drawingml/2006/table">
            <a:tbl>
              <a:tblPr firstRow="0" bandRow="0">
                <a:tableStyleId>{5C22544A-7EE6-4342-B048-85BDC9FD1C3A}</a:tableStyleId>
              </a:tblPr>
              <a:tblGrid>
                <a:gridCol w="2057400"/>
                <a:gridCol w="3337560"/>
              </a:tblGrid>
              <a:tr h="397764">
                <a:tc>
                  <a:txBody>
                    <a:bodyPr/>
                    <a:lstStyle/>
                    <a:p>
                      <a:r>
                        <a:rPr sz="1200" b="1">
                          <a:solidFill>
                            <a:srgbClr val="F5F8FD"/>
                          </a:solidFill>
                        </a:rPr>
                        <a:t>파일</a:t>
                      </a:r>
                    </a:p>
                  </a:txBody>
                  <a:tcPr anchor="ctr" marL="109728" marR="109728" marT="0" marB="0">
                    <a:solidFill>
                      <a:srgbClr val="2A3B52"/>
                    </a:solidFill>
                  </a:tcPr>
                </a:tc>
                <a:tc>
                  <a:txBody>
                    <a:bodyPr/>
                    <a:lstStyle/>
                    <a:p>
                      <a:r>
                        <a:rPr sz="1200" b="1">
                          <a:solidFill>
                            <a:srgbClr val="F5F8FD"/>
                          </a:solidFill>
                        </a:rPr>
                        <a:t>숨어 있는 함정</a:t>
                      </a:r>
                    </a:p>
                  </a:txBody>
                  <a:tcPr anchor="ctr" marL="109728" marR="109728" marT="0" marB="0">
                    <a:solidFill>
                      <a:srgbClr val="2A3B52"/>
                    </a:solidFill>
                  </a:tcPr>
                </a:tc>
              </a:tr>
              <a:tr h="397764">
                <a:tc>
                  <a:txBody>
                    <a:bodyPr/>
                    <a:lstStyle/>
                    <a:p>
                      <a:r>
                        <a:rPr sz="1300" b="1">
                          <a:solidFill>
                            <a:srgbClr val="31D3B1"/>
                          </a:solidFill>
                        </a:rPr>
                        <a:t>InvoiceFormatter</a:t>
                      </a:r>
                    </a:p>
                  </a:txBody>
                  <a:tcPr anchor="ctr" marL="109728" marR="109728" marT="0" marB="0">
                    <a:solidFill>
                      <a:srgbClr val="162236"/>
                    </a:solidFill>
                  </a:tcPr>
                </a:tc>
                <a:tc>
                  <a:txBody>
                    <a:bodyPr/>
                    <a:lstStyle/>
                    <a:p>
                      <a:r>
                        <a:rPr sz="1300" b="0">
                          <a:solidFill>
                            <a:srgbClr val="CFDEEB"/>
                          </a:solidFill>
                        </a:rPr>
                        <a:t>서울 날짜 — UTC로 계산하면 하루 틀림</a:t>
                      </a:r>
                    </a:p>
                  </a:txBody>
                  <a:tcPr anchor="ctr" marL="109728" marR="109728" marT="0" marB="0">
                    <a:solidFill>
                      <a:srgbClr val="162236"/>
                    </a:solidFill>
                  </a:tcPr>
                </a:tc>
              </a:tr>
              <a:tr h="397764">
                <a:tc>
                  <a:txBody>
                    <a:bodyPr/>
                    <a:lstStyle/>
                    <a:p>
                      <a:r>
                        <a:rPr sz="1300" b="1">
                          <a:solidFill>
                            <a:srgbClr val="31D3B1"/>
                          </a:solidFill>
                        </a:rPr>
                        <a:t>LogTimestamp</a:t>
                      </a:r>
                    </a:p>
                  </a:txBody>
                  <a:tcPr anchor="ctr" marL="109728" marR="109728" marT="0" marB="0">
                    <a:solidFill>
                      <a:srgbClr val="162236"/>
                    </a:solidFill>
                  </a:tcPr>
                </a:tc>
                <a:tc>
                  <a:txBody>
                    <a:bodyPr/>
                    <a:lstStyle/>
                    <a:p>
                      <a:r>
                        <a:rPr sz="1300" b="0">
                          <a:solidFill>
                            <a:srgbClr val="CFDEEB"/>
                          </a:solidFill>
                        </a:rPr>
                        <a:t>초 단위까지만 — 밀리초가 붙으면 FAIL</a:t>
                      </a:r>
                    </a:p>
                  </a:txBody>
                  <a:tcPr anchor="ctr" marL="109728" marR="109728" marT="0" marB="0">
                    <a:solidFill>
                      <a:srgbClr val="162236"/>
                    </a:solidFill>
                  </a:tcPr>
                </a:tc>
              </a:tr>
              <a:tr h="397764">
                <a:tc>
                  <a:txBody>
                    <a:bodyPr/>
                    <a:lstStyle/>
                    <a:p>
                      <a:r>
                        <a:rPr sz="1300" b="1">
                          <a:solidFill>
                            <a:srgbClr val="31D3B1"/>
                          </a:solidFill>
                        </a:rPr>
                        <a:t>ShippingSchedule</a:t>
                      </a:r>
                    </a:p>
                  </a:txBody>
                  <a:tcPr anchor="ctr" marL="109728" marR="109728" marT="0" marB="0">
                    <a:solidFill>
                      <a:srgbClr val="162236"/>
                    </a:solidFill>
                  </a:tcPr>
                </a:tc>
                <a:tc>
                  <a:txBody>
                    <a:bodyPr/>
                    <a:lstStyle/>
                    <a:p>
                      <a:r>
                        <a:rPr sz="1300" b="0">
                          <a:solidFill>
                            <a:srgbClr val="CFDEEB"/>
                          </a:solidFill>
                        </a:rPr>
                        <a:t>주말 건너뛰기 · 2월 30일 거부</a:t>
                      </a:r>
                    </a:p>
                  </a:txBody>
                  <a:tcPr anchor="ctr" marL="109728" marR="109728" marT="0" marB="0">
                    <a:solidFill>
                      <a:srgbClr val="162236"/>
                    </a:solidFill>
                  </a:tcPr>
                </a:tc>
              </a:tr>
              <a:tr h="397764">
                <a:tc>
                  <a:txBody>
                    <a:bodyPr/>
                    <a:lstStyle/>
                    <a:p>
                      <a:r>
                        <a:rPr sz="1300" b="1">
                          <a:solidFill>
                            <a:srgbClr val="31D3B1"/>
                          </a:solidFill>
                        </a:rPr>
                        <a:t>MeetingTimeConverter</a:t>
                      </a:r>
                    </a:p>
                  </a:txBody>
                  <a:tcPr anchor="ctr" marL="109728" marR="109728" marT="0" marB="0">
                    <a:solidFill>
                      <a:srgbClr val="162236"/>
                    </a:solidFill>
                  </a:tcPr>
                </a:tc>
                <a:tc>
                  <a:txBody>
                    <a:bodyPr/>
                    <a:lstStyle/>
                    <a:p>
                      <a:r>
                        <a:rPr sz="1300" b="0">
                          <a:solidFill>
                            <a:srgbClr val="CFDEEB"/>
                          </a:solidFill>
                        </a:rPr>
                        <a:t>서머타임(DST) 경계</a:t>
                      </a:r>
                    </a:p>
                  </a:txBody>
                  <a:tcPr anchor="ctr" marL="109728" marR="109728" marT="0" marB="0">
                    <a:solidFill>
                      <a:srgbClr val="162236"/>
                    </a:solidFill>
                  </a:tcPr>
                </a:tc>
              </a:tr>
              <a:tr h="397764">
                <a:tc>
                  <a:txBody>
                    <a:bodyPr/>
                    <a:lstStyle/>
                    <a:p>
                      <a:r>
                        <a:rPr sz="1300" b="1">
                          <a:solidFill>
                            <a:srgbClr val="31D3B1"/>
                          </a:solidFill>
                        </a:rPr>
                        <a:t>AgeCalculator</a:t>
                      </a:r>
                    </a:p>
                  </a:txBody>
                  <a:tcPr anchor="ctr" marL="109728" marR="109728" marT="0" marB="0">
                    <a:solidFill>
                      <a:srgbClr val="162236"/>
                    </a:solidFill>
                  </a:tcPr>
                </a:tc>
                <a:tc>
                  <a:txBody>
                    <a:bodyPr/>
                    <a:lstStyle/>
                    <a:p>
                      <a:r>
                        <a:rPr sz="1300" b="0">
                          <a:solidFill>
                            <a:srgbClr val="CFDEEB"/>
                          </a:solidFill>
                        </a:rPr>
                        <a:t>2월 29일생의 나이</a:t>
                      </a:r>
                    </a:p>
                  </a:txBody>
                  <a:tcPr anchor="ctr" marL="109728" marR="109728" marT="0" marB="0">
                    <a:solidFill>
                      <a:srgbClr val="162236"/>
                    </a:solidFill>
                  </a:tcPr>
                </a:tc>
              </a:tr>
              <a:tr h="397764">
                <a:tc>
                  <a:txBody>
                    <a:bodyPr/>
                    <a:lstStyle/>
                    <a:p>
                      <a:r>
                        <a:rPr sz="1300" b="1">
                          <a:solidFill>
                            <a:srgbClr val="31D3B1"/>
                          </a:solidFill>
                        </a:rPr>
                        <a:t>SubscriptionPeriod</a:t>
                      </a:r>
                    </a:p>
                  </a:txBody>
                  <a:tcPr anchor="ctr" marL="109728" marR="109728" marT="0" marB="0">
                    <a:solidFill>
                      <a:srgbClr val="162236"/>
                    </a:solidFill>
                  </a:tcPr>
                </a:tc>
                <a:tc>
                  <a:txBody>
                    <a:bodyPr/>
                    <a:lstStyle/>
                    <a:p>
                      <a:r>
                        <a:rPr sz="1300" b="0">
                          <a:solidFill>
                            <a:srgbClr val="CFDEEB"/>
                          </a:solidFill>
                        </a:rPr>
                        <a:t>1월 31일 + 1개월 = 2월 28일</a:t>
                      </a:r>
                    </a:p>
                  </a:txBody>
                  <a:tcPr anchor="ctr" marL="109728" marR="109728" marT="0" marB="0">
                    <a:solidFill>
                      <a:srgbClr val="162236"/>
                    </a:solidFill>
                  </a:tcPr>
                </a:tc>
              </a:tr>
            </a:tbl>
          </a:graphicData>
        </a:graphic>
      </p:graphicFrame>
      <p:sp>
        <p:nvSpPr>
          <p:cNvPr id="9" name="Rounded Rectangle 8"/>
          <p:cNvSpPr/>
          <p:nvPr/>
        </p:nvSpPr>
        <p:spPr>
          <a:xfrm>
            <a:off x="868680" y="4937760"/>
            <a:ext cx="10515600" cy="868680"/>
          </a:xfrm>
          <a:prstGeom prst="roundRect">
            <a:avLst>
              <a:gd name="adj" fmla="val 6000"/>
            </a:avLst>
          </a:prstGeom>
          <a:solidFill>
            <a:srgbClr val="0F2A2A"/>
          </a:solidFill>
          <a:ln w="25400">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square"/>
          <a:lstStyle/>
          <a:p>
            <a:pPr algn="ctr">
              <a:spcAft>
                <a:spcPts val="200"/>
              </a:spcAft>
            </a:pPr>
            <a:r>
              <a:rPr sz="1800" b="1">
                <a:solidFill>
                  <a:srgbClr val="F5F8FD"/>
                </a:solidFill>
              </a:rPr>
              <a:t>동작 테스트 28개가 ‘바뀌면 안 되는 것’을 고정한다</a:t>
            </a:r>
          </a:p>
          <a:p>
            <a:pPr algn="ctr">
              <a:spcAft>
                <a:spcPts val="200"/>
              </a:spcAft>
            </a:pPr>
            <a:r>
              <a:rPr sz="1300" b="0">
                <a:solidFill>
                  <a:srgbClr val="31D3B1"/>
                </a:solidFill>
              </a:rPr>
              <a:t>사전 검증: 정답 코드는 28/28 PASS · 흔한 실수 4가지는 각각 FAIL</a:t>
            </a:r>
          </a:p>
        </p:txBody>
      </p:sp>
      <p:sp>
        <p:nvSpPr>
          <p:cNvPr id="10" name="TextBox 9"/>
          <p:cNvSpPr txBox="1"/>
          <p:nvPr/>
        </p:nvSpPr>
        <p:spPr>
          <a:xfrm>
            <a:off x="868680" y="6080760"/>
            <a:ext cx="10515600" cy="256032"/>
          </a:xfrm>
          <a:prstGeom prst="rect">
            <a:avLst/>
          </a:prstGeom>
          <a:noFill/>
        </p:spPr>
        <p:txBody>
          <a:bodyPr wrap="square">
            <a:spAutoFit/>
          </a:bodyPr>
          <a:lstStyle/>
          <a:p>
            <a:r>
              <a:rPr sz="1000" b="0">
                <a:solidFill>
                  <a:srgbClr val="8397AB"/>
                </a:solidFill>
              </a:rPr>
              <a:t>구성: Kyle Mistele의 실제 사례(TypeScript RPC → Effect 점진 마이그레이션)를 Java 날짜 API로 작게 재현 (발표자 구성)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데모 2를 제어 루프로 보면</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15 / 20</a:t>
            </a:r>
          </a:p>
        </p:txBody>
      </p:sp>
      <p:sp>
        <p:nvSpPr>
          <p:cNvPr id="5" name="TextBox 4"/>
          <p:cNvSpPr txBox="1"/>
          <p:nvPr/>
        </p:nvSpPr>
        <p:spPr>
          <a:xfrm>
            <a:off x="868680" y="329184"/>
            <a:ext cx="10515600" cy="274320"/>
          </a:xfrm>
          <a:prstGeom prst="rect">
            <a:avLst/>
          </a:prstGeom>
          <a:noFill/>
        </p:spPr>
        <p:txBody>
          <a:bodyPr wrap="square">
            <a:spAutoFit/>
          </a:bodyPr>
          <a:lstStyle/>
          <a:p>
            <a:r>
              <a:rPr sz="1100" b="1">
                <a:solidFill>
                  <a:srgbClr val="31D3B1"/>
                </a:solidFill>
              </a:rPr>
              <a:t>PART 3 · 데모 2: 한 번에 끝낼 수 없는 일</a:t>
            </a:r>
          </a:p>
        </p:txBody>
      </p:sp>
      <p:sp>
        <p:nvSpPr>
          <p:cNvPr id="6" name="Rounded Rectangle 5"/>
          <p:cNvSpPr/>
          <p:nvPr/>
        </p:nvSpPr>
        <p:spPr>
          <a:xfrm>
            <a:off x="868680" y="2331720"/>
            <a:ext cx="1463040" cy="96012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0">
                <a:solidFill>
                  <a:srgbClr val="8397AB"/>
                </a:solidFill>
              </a:rPr>
              <a:t>목표값</a:t>
            </a:r>
          </a:p>
          <a:p>
            <a:pPr algn="ctr"/>
            <a:r>
              <a:rPr sz="1500" b="1">
                <a:solidFill>
                  <a:srgbClr val="F5F8FD"/>
                </a:solidFill>
              </a:rPr>
              <a:t>남은 파일 0개</a:t>
            </a:r>
          </a:p>
          <a:p>
            <a:pPr algn="ctr"/>
            <a:r>
              <a:rPr sz="1200" b="0">
                <a:solidFill>
                  <a:srgbClr val="CFDEEB"/>
                </a:solidFill>
              </a:rPr>
              <a:t>+ 테스트 PASS</a:t>
            </a:r>
          </a:p>
        </p:txBody>
      </p:sp>
      <p:sp>
        <p:nvSpPr>
          <p:cNvPr id="7" name="Oval 6"/>
          <p:cNvSpPr/>
          <p:nvPr/>
        </p:nvSpPr>
        <p:spPr>
          <a:xfrm>
            <a:off x="3074670" y="2468879"/>
            <a:ext cx="685800" cy="685800"/>
          </a:xfrm>
          <a:prstGeom prst="ellipse">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8288" rIns="18288" wrap="square"/>
          <a:lstStyle/>
          <a:p>
            <a:pPr algn="ctr"/>
            <a:r>
              <a:rPr sz="1100" b="1">
                <a:solidFill>
                  <a:srgbClr val="F5F8FD"/>
                </a:solidFill>
              </a:rPr>
              <a:t>남은 수?</a:t>
            </a:r>
          </a:p>
        </p:txBody>
      </p:sp>
      <p:sp>
        <p:nvSpPr>
          <p:cNvPr id="8" name="Rounded Rectangle 7"/>
          <p:cNvSpPr/>
          <p:nvPr/>
        </p:nvSpPr>
        <p:spPr>
          <a:xfrm>
            <a:off x="4503420" y="2331720"/>
            <a:ext cx="1737360" cy="960120"/>
          </a:xfrm>
          <a:prstGeom prst="roundRect">
            <a:avLst>
              <a:gd name="adj" fmla="val 8000"/>
            </a:avLst>
          </a:prstGeom>
          <a:solidFill>
            <a:srgbClr val="162236"/>
          </a:solidFill>
          <a:ln w="25400">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0">
                <a:solidFill>
                  <a:srgbClr val="8397AB"/>
                </a:solidFill>
              </a:rPr>
              <a:t>컨트롤러</a:t>
            </a:r>
          </a:p>
          <a:p>
            <a:pPr algn="ctr"/>
            <a:r>
              <a:rPr sz="1400" b="1">
                <a:solidFill>
                  <a:srgbClr val="31D3B1"/>
                </a:solidFill>
              </a:rPr>
              <a:t>migrate_loop.py</a:t>
            </a:r>
          </a:p>
          <a:p>
            <a:pPr algn="ctr"/>
            <a:r>
              <a:rPr sz="1000" b="0">
                <a:solidFill>
                  <a:srgbClr val="CFDEEB"/>
                </a:solidFill>
              </a:rPr>
              <a:t>파일 하나 선택 · 반영/되돌림</a:t>
            </a:r>
          </a:p>
        </p:txBody>
      </p:sp>
      <p:sp>
        <p:nvSpPr>
          <p:cNvPr id="9" name="Rounded Rectangle 8"/>
          <p:cNvSpPr/>
          <p:nvPr/>
        </p:nvSpPr>
        <p:spPr>
          <a:xfrm>
            <a:off x="6983729" y="2331720"/>
            <a:ext cx="1737360" cy="960120"/>
          </a:xfrm>
          <a:prstGeom prst="roundRect">
            <a:avLst>
              <a:gd name="adj" fmla="val 8000"/>
            </a:avLst>
          </a:prstGeom>
          <a:solidFill>
            <a:srgbClr val="162236"/>
          </a:solidFill>
          <a:ln w="25400">
            <a:solidFill>
              <a:srgbClr val="7C5CFF"/>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0">
                <a:solidFill>
                  <a:srgbClr val="8397AB"/>
                </a:solidFill>
              </a:rPr>
              <a:t>실행기</a:t>
            </a:r>
          </a:p>
          <a:p>
            <a:pPr algn="ctr"/>
            <a:r>
              <a:rPr sz="1700" b="1">
                <a:solidFill>
                  <a:srgbClr val="7C5CFF"/>
                </a:solidFill>
              </a:rPr>
              <a:t>Kiro CLI</a:t>
            </a:r>
          </a:p>
          <a:p>
            <a:pPr algn="ctr"/>
            <a:r>
              <a:rPr sz="1100" b="0">
                <a:solidFill>
                  <a:srgbClr val="CFDEEB"/>
                </a:solidFill>
              </a:rPr>
              <a:t>파일 하나씩 코드 교체 (새 세션)</a:t>
            </a:r>
          </a:p>
        </p:txBody>
      </p:sp>
      <p:sp>
        <p:nvSpPr>
          <p:cNvPr id="10" name="Rounded Rectangle 9"/>
          <p:cNvSpPr/>
          <p:nvPr/>
        </p:nvSpPr>
        <p:spPr>
          <a:xfrm>
            <a:off x="9464040" y="2331720"/>
            <a:ext cx="1920240" cy="96012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0">
                <a:solidFill>
                  <a:srgbClr val="8397AB"/>
                </a:solidFill>
              </a:rPr>
              <a:t>시스템</a:t>
            </a:r>
          </a:p>
          <a:p>
            <a:pPr algn="ctr"/>
            <a:r>
              <a:rPr sz="1500" b="1">
                <a:solidFill>
                  <a:srgbClr val="F5F8FD"/>
                </a:solidFill>
              </a:rPr>
              <a:t>src/ 6개 파일</a:t>
            </a:r>
          </a:p>
          <a:p>
            <a:pPr algn="ctr"/>
            <a:r>
              <a:rPr sz="1100" b="0">
                <a:solidFill>
                  <a:srgbClr val="CFDEEB"/>
                </a:solidFill>
              </a:rPr>
              <a:t>옛 날짜 API 사용 중</a:t>
            </a:r>
          </a:p>
        </p:txBody>
      </p:sp>
      <p:cxnSp>
        <p:nvCxnSpPr>
          <p:cNvPr id="11" name="Connector 10"/>
          <p:cNvCxnSpPr/>
          <p:nvPr/>
        </p:nvCxnSpPr>
        <p:spPr>
          <a:xfrm flipV="1">
            <a:off x="2331720" y="2811779"/>
            <a:ext cx="74295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760470" y="2811779"/>
            <a:ext cx="74295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669030" y="2427732"/>
            <a:ext cx="925830" cy="274320"/>
          </a:xfrm>
          <a:prstGeom prst="rect">
            <a:avLst/>
          </a:prstGeom>
          <a:noFill/>
        </p:spPr>
        <p:txBody>
          <a:bodyPr wrap="square">
            <a:spAutoFit/>
          </a:bodyPr>
          <a:lstStyle/>
          <a:p>
            <a:pPr algn="ctr"/>
            <a:r>
              <a:rPr sz="1100" b="0">
                <a:solidFill>
                  <a:srgbClr val="8397AB"/>
                </a:solidFill>
              </a:rPr>
              <a:t>남음</a:t>
            </a:r>
          </a:p>
        </p:txBody>
      </p:sp>
      <p:cxnSp>
        <p:nvCxnSpPr>
          <p:cNvPr id="14" name="Connector 13"/>
          <p:cNvCxnSpPr/>
          <p:nvPr/>
        </p:nvCxnSpPr>
        <p:spPr>
          <a:xfrm flipV="1">
            <a:off x="6240779" y="2811779"/>
            <a:ext cx="74295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149340" y="2427732"/>
            <a:ext cx="925830" cy="274320"/>
          </a:xfrm>
          <a:prstGeom prst="rect">
            <a:avLst/>
          </a:prstGeom>
          <a:noFill/>
        </p:spPr>
        <p:txBody>
          <a:bodyPr wrap="square">
            <a:spAutoFit/>
          </a:bodyPr>
          <a:lstStyle/>
          <a:p>
            <a:pPr algn="ctr"/>
            <a:r>
              <a:rPr sz="1100" b="0">
                <a:solidFill>
                  <a:srgbClr val="8397AB"/>
                </a:solidFill>
              </a:rPr>
              <a:t>지시</a:t>
            </a:r>
          </a:p>
        </p:txBody>
      </p:sp>
      <p:cxnSp>
        <p:nvCxnSpPr>
          <p:cNvPr id="16" name="Connector 15"/>
          <p:cNvCxnSpPr/>
          <p:nvPr/>
        </p:nvCxnSpPr>
        <p:spPr>
          <a:xfrm flipV="1">
            <a:off x="8721090" y="2811779"/>
            <a:ext cx="74295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629650" y="2427732"/>
            <a:ext cx="925830" cy="274320"/>
          </a:xfrm>
          <a:prstGeom prst="rect">
            <a:avLst/>
          </a:prstGeom>
          <a:noFill/>
        </p:spPr>
        <p:txBody>
          <a:bodyPr wrap="square">
            <a:spAutoFit/>
          </a:bodyPr>
          <a:lstStyle/>
          <a:p>
            <a:pPr algn="ctr"/>
            <a:r>
              <a:rPr sz="1100" b="0">
                <a:solidFill>
                  <a:srgbClr val="8397AB"/>
                </a:solidFill>
              </a:rPr>
              <a:t>수정</a:t>
            </a:r>
          </a:p>
        </p:txBody>
      </p:sp>
      <p:sp>
        <p:nvSpPr>
          <p:cNvPr id="18" name="Rounded Rectangle 17"/>
          <p:cNvSpPr/>
          <p:nvPr/>
        </p:nvSpPr>
        <p:spPr>
          <a:xfrm>
            <a:off x="5120640" y="3520440"/>
            <a:ext cx="2651760" cy="73152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F5F8FD"/>
                </a:solidFill>
              </a:rPr>
              <a:t>센서  measure.py + verify.py</a:t>
            </a:r>
          </a:p>
          <a:p>
            <a:pPr algn="ctr"/>
            <a:r>
              <a:rPr sz="1200" b="0">
                <a:solidFill>
                  <a:srgbClr val="8397AB"/>
                </a:solidFill>
              </a:rPr>
              <a:t>남은 파일 수 + 동작 테스트 28개</a:t>
            </a:r>
          </a:p>
        </p:txBody>
      </p:sp>
      <p:cxnSp>
        <p:nvCxnSpPr>
          <p:cNvPr id="19" name="Connector 18"/>
          <p:cNvCxnSpPr/>
          <p:nvPr/>
        </p:nvCxnSpPr>
        <p:spPr>
          <a:xfrm>
            <a:off x="10424160" y="3291839"/>
            <a:ext cx="0" cy="594361"/>
          </a:xfrm>
          <a:prstGeom prst="line">
            <a:avLst/>
          </a:prstGeom>
          <a:ln w="25400">
            <a:solidFill>
              <a:srgbClr val="CFDE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7772400" y="3886200"/>
            <a:ext cx="2651760" cy="0"/>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3417570" y="3886200"/>
            <a:ext cx="1703070" cy="0"/>
          </a:xfrm>
          <a:prstGeom prst="line">
            <a:avLst/>
          </a:prstGeom>
          <a:ln w="25400">
            <a:solidFill>
              <a:srgbClr val="CFDEE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417570" y="3154679"/>
            <a:ext cx="0" cy="731521"/>
          </a:xfrm>
          <a:prstGeom prst="line">
            <a:avLst/>
          </a:prstGeom>
          <a:ln w="25400">
            <a:solidFill>
              <a:srgbClr val="CFDE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509010" y="3520440"/>
            <a:ext cx="2011680" cy="274320"/>
          </a:xfrm>
          <a:prstGeom prst="rect">
            <a:avLst/>
          </a:prstGeom>
          <a:noFill/>
        </p:spPr>
        <p:txBody>
          <a:bodyPr wrap="square">
            <a:spAutoFit/>
          </a:bodyPr>
          <a:lstStyle/>
          <a:p>
            <a:pPr algn="l"/>
            <a:r>
              <a:rPr sz="1100" b="0">
                <a:solidFill>
                  <a:srgbClr val="8397AB"/>
                </a:solidFill>
              </a:rPr>
              <a:t>남은 수 · 테스트 결과</a:t>
            </a:r>
          </a:p>
        </p:txBody>
      </p:sp>
      <p:sp>
        <p:nvSpPr>
          <p:cNvPr id="29" name="TextBox 28"/>
          <p:cNvSpPr txBox="1"/>
          <p:nvPr/>
        </p:nvSpPr>
        <p:spPr>
          <a:xfrm>
            <a:off x="7635240" y="1764792"/>
            <a:ext cx="4114800" cy="274320"/>
          </a:xfrm>
          <a:prstGeom prst="rect">
            <a:avLst/>
          </a:prstGeom>
          <a:noFill/>
        </p:spPr>
        <p:txBody>
          <a:bodyPr wrap="square">
            <a:spAutoFit/>
          </a:bodyPr>
          <a:lstStyle/>
          <a:p>
            <a:pPr algn="ctr"/>
            <a:r>
              <a:rPr sz="1100" b="1">
                <a:solidFill>
                  <a:srgbClr val="FACC15"/>
                </a:solidFill>
              </a:rPr>
              <a:t>외부 변화 = 대상 외 수정 → 무시 · 테스트 변조 → 중단</a:t>
            </a:r>
          </a:p>
        </p:txBody>
      </p:sp>
      <p:cxnSp>
        <p:nvCxnSpPr>
          <p:cNvPr id="30" name="Connector 29"/>
          <p:cNvCxnSpPr/>
          <p:nvPr/>
        </p:nvCxnSpPr>
        <p:spPr>
          <a:xfrm>
            <a:off x="10424160" y="2029968"/>
            <a:ext cx="0" cy="301752"/>
          </a:xfrm>
          <a:prstGeom prst="line">
            <a:avLst/>
          </a:prstGeom>
          <a:ln w="22225">
            <a:solidFill>
              <a:srgbClr val="FACC1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68680" y="1371600"/>
            <a:ext cx="10515600" cy="365760"/>
          </a:xfrm>
          <a:prstGeom prst="rect">
            <a:avLst/>
          </a:prstGeom>
          <a:noFill/>
        </p:spPr>
        <p:txBody>
          <a:bodyPr wrap="square">
            <a:spAutoFit/>
          </a:bodyPr>
          <a:lstStyle/>
          <a:p>
            <a:r>
              <a:rPr sz="1500" b="0">
                <a:solidFill>
                  <a:srgbClr val="8397AB"/>
                </a:solidFill>
              </a:rPr>
              <a:t>같은 그림, 다른 센서 — 이번엔 ‘얼마나 남았는지’를 숫자로 잰다</a:t>
            </a:r>
          </a:p>
        </p:txBody>
      </p:sp>
      <p:sp>
        <p:nvSpPr>
          <p:cNvPr id="32" name="Rounded Rectangle 31"/>
          <p:cNvSpPr/>
          <p:nvPr/>
        </p:nvSpPr>
        <p:spPr>
          <a:xfrm>
            <a:off x="868680" y="4526280"/>
            <a:ext cx="10515600" cy="566928"/>
          </a:xfrm>
          <a:prstGeom prst="roundRect">
            <a:avLst>
              <a:gd name="adj" fmla="val 6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square"/>
          <a:lstStyle/>
          <a:p>
            <a:pPr algn="ctr">
              <a:spcAft>
                <a:spcPts val="400"/>
              </a:spcAft>
            </a:pPr>
            <a:r>
              <a:rPr sz="1300" b="0">
                <a:solidFill>
                  <a:srgbClr val="CFDEEB"/>
                </a:solidFill>
              </a:rPr>
              <a:t>loop 1회 = 파일 하나:   테스트 PASS + 옛 날짜 API 없음 → 반영   ·   아니면 되돌리고 실패 내용으로 재시도   ·   2번 실패 → 사람에게</a:t>
            </a:r>
          </a:p>
        </p:txBody>
      </p:sp>
      <p:sp>
        <p:nvSpPr>
          <p:cNvPr id="33" name="Rounded Rectangle 32"/>
          <p:cNvSpPr/>
          <p:nvPr/>
        </p:nvSpPr>
        <p:spPr>
          <a:xfrm>
            <a:off x="868680" y="5257800"/>
            <a:ext cx="10515600" cy="731520"/>
          </a:xfrm>
          <a:prstGeom prst="roundRect">
            <a:avLst>
              <a:gd name="adj" fmla="val 6000"/>
            </a:avLst>
          </a:prstGeom>
          <a:solidFill>
            <a:srgbClr val="0F2A2A"/>
          </a:solidFill>
          <a:ln w="25400">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square"/>
          <a:lstStyle/>
          <a:p>
            <a:pPr algn="ctr">
              <a:spcAft>
                <a:spcPts val="200"/>
              </a:spcAft>
            </a:pPr>
            <a:r>
              <a:rPr sz="1800" b="1">
                <a:solidFill>
                  <a:srgbClr val="F5F8FD"/>
                </a:solidFill>
              </a:rPr>
              <a:t>센서가 남은 양을 숫자로 잰다 — 오차가 6에서 0으로 줄어드는 루프</a:t>
            </a:r>
          </a:p>
          <a:p>
            <a:pPr algn="ctr">
              <a:spcAft>
                <a:spcPts val="200"/>
              </a:spcAft>
            </a:pPr>
            <a:r>
              <a:rPr sz="1300" b="0">
                <a:solidFill>
                  <a:srgbClr val="8397AB"/>
                </a:solidFill>
              </a:rPr>
              <a:t>Kyle Mistele: “측정하고, 작게 보정하고, 다시 측정한다”</a:t>
            </a:r>
          </a:p>
        </p:txBody>
      </p:sp>
      <p:sp>
        <p:nvSpPr>
          <p:cNvPr id="34" name="TextBox 33"/>
          <p:cNvSpPr txBox="1"/>
          <p:nvPr/>
        </p:nvSpPr>
        <p:spPr>
          <a:xfrm>
            <a:off x="868680" y="6080760"/>
            <a:ext cx="10515600" cy="256032"/>
          </a:xfrm>
          <a:prstGeom prst="rect">
            <a:avLst/>
          </a:prstGeom>
          <a:noFill/>
        </p:spPr>
        <p:txBody>
          <a:bodyPr wrap="square">
            <a:spAutoFit/>
          </a:bodyPr>
          <a:lstStyle/>
          <a:p>
            <a:r>
              <a:rPr sz="1000" b="0">
                <a:solidFill>
                  <a:srgbClr val="8397AB"/>
                </a:solidFill>
              </a:rPr>
              <a:t>그림: Kyle Mistele 발표의 제어 루프를 재구성 · 각 칸의 데모 대응은 발표자 해석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데모 2 실제 실행: 6 → 0</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16 / 20</a:t>
            </a:r>
          </a:p>
        </p:txBody>
      </p:sp>
      <p:sp>
        <p:nvSpPr>
          <p:cNvPr id="5" name="TextBox 4"/>
          <p:cNvSpPr txBox="1"/>
          <p:nvPr/>
        </p:nvSpPr>
        <p:spPr>
          <a:xfrm>
            <a:off x="868680" y="329184"/>
            <a:ext cx="10515600" cy="274320"/>
          </a:xfrm>
          <a:prstGeom prst="rect">
            <a:avLst/>
          </a:prstGeom>
          <a:noFill/>
        </p:spPr>
        <p:txBody>
          <a:bodyPr wrap="square">
            <a:spAutoFit/>
          </a:bodyPr>
          <a:lstStyle/>
          <a:p>
            <a:r>
              <a:rPr sz="1100" b="1">
                <a:solidFill>
                  <a:srgbClr val="31D3B1"/>
                </a:solidFill>
              </a:rPr>
              <a:t>PART 3 · 데모 2: 한 번에 끝낼 수 없는 일</a:t>
            </a:r>
          </a:p>
        </p:txBody>
      </p:sp>
      <p:sp>
        <p:nvSpPr>
          <p:cNvPr id="6" name="TextBox 5"/>
          <p:cNvSpPr txBox="1"/>
          <p:nvPr/>
        </p:nvSpPr>
        <p:spPr>
          <a:xfrm>
            <a:off x="868680" y="1371600"/>
            <a:ext cx="10515600" cy="365760"/>
          </a:xfrm>
          <a:prstGeom prst="rect">
            <a:avLst/>
          </a:prstGeom>
          <a:noFill/>
        </p:spPr>
        <p:txBody>
          <a:bodyPr wrap="square">
            <a:spAutoFit/>
          </a:bodyPr>
          <a:lstStyle/>
          <a:p>
            <a:r>
              <a:rPr sz="1300" b="0">
                <a:solidFill>
                  <a:srgbClr val="8397AB"/>
                </a:solidFill>
              </a:rPr>
              <a:t>python3 migrate_loop.py --provider kiro --reset   ·   2026-10-21 · macOS · kiro-cli 2.32.0</a:t>
            </a:r>
          </a:p>
        </p:txBody>
      </p:sp>
      <p:sp>
        <p:nvSpPr>
          <p:cNvPr id="7" name="TextBox 6"/>
          <p:cNvSpPr txBox="1"/>
          <p:nvPr/>
        </p:nvSpPr>
        <p:spPr>
          <a:xfrm>
            <a:off x="868680" y="1755648"/>
            <a:ext cx="10515600" cy="685800"/>
          </a:xfrm>
          <a:prstGeom prst="rect">
            <a:avLst/>
          </a:prstGeom>
          <a:noFill/>
        </p:spPr>
        <p:txBody>
          <a:bodyPr wrap="square">
            <a:spAutoFit/>
          </a:bodyPr>
          <a:lstStyle/>
          <a:p>
            <a:pPr algn="ctr"/>
            <a:r>
              <a:rPr sz="4000" b="1">
                <a:solidFill>
                  <a:srgbClr val="31D3B1"/>
                </a:solidFill>
              </a:rPr>
              <a:t>6 → 5 → 4 → 3 → 2 → 1 → 0</a:t>
            </a:r>
          </a:p>
        </p:txBody>
      </p:sp>
      <p:sp>
        <p:nvSpPr>
          <p:cNvPr id="8" name="Rounded Rectangle 7"/>
          <p:cNvSpPr/>
          <p:nvPr/>
        </p:nvSpPr>
        <p:spPr>
          <a:xfrm>
            <a:off x="868680" y="2514600"/>
            <a:ext cx="10515600" cy="2240280"/>
          </a:xfrm>
          <a:prstGeom prst="roundRect">
            <a:avLst>
              <a:gd name="adj" fmla="val 6000"/>
            </a:avLst>
          </a:prstGeom>
          <a:solidFill>
            <a:srgbClr val="050A12"/>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228600" rIns="228600" tIns="54864" bIns="54864" wrap="square"/>
          <a:lstStyle/>
          <a:p>
            <a:pPr algn="l">
              <a:spcAft>
                <a:spcPts val="200"/>
              </a:spcAft>
            </a:pPr>
            <a:r>
              <a:rPr sz="1200" b="0">
                <a:solidFill>
                  <a:srgbClr val="CFDEEB"/>
                </a:solidFill>
                <a:latin typeface="Menlo"/>
                <a:ea typeface="Apple SD Gothic Neo"/>
              </a:rPr>
              <a:t>[SENSOR] legacy files 6/6 · tests PASS</a:t>
            </a:r>
          </a:p>
          <a:p>
            <a:pPr algn="l">
              <a:spcAft>
                <a:spcPts val="200"/>
              </a:spcAft>
            </a:pPr>
            <a:r>
              <a:rPr sz="1200" b="0">
                <a:solidFill>
                  <a:srgbClr val="31D3B1"/>
                </a:solidFill>
                <a:latin typeface="Menlo"/>
                <a:ea typeface="Apple SD Gothic Neo"/>
              </a:rPr>
              <a:t>[LOOP 1/12] target=AgeCalculator.java — NEW kiro session, no human input</a:t>
            </a:r>
          </a:p>
          <a:p>
            <a:pPr algn="l">
              <a:spcAft>
                <a:spcPts val="200"/>
              </a:spcAft>
            </a:pPr>
            <a:r>
              <a:rPr sz="1200" b="0">
                <a:solidFill>
                  <a:srgbClr val="8397AB"/>
                </a:solidFill>
                <a:latin typeface="Menlo"/>
                <a:ea typeface="Apple SD Gothic Neo"/>
              </a:rPr>
              <a:t>[AGENT] exit=0 (28.1s) · changed: AgeCalculator.java. Agent claim is NOT trusted</a:t>
            </a:r>
          </a:p>
          <a:p>
            <a:pPr algn="l">
              <a:spcAft>
                <a:spcPts val="200"/>
              </a:spcAft>
            </a:pPr>
            <a:r>
              <a:rPr sz="1200" b="0">
                <a:solidFill>
                  <a:srgbClr val="4ADE80"/>
                </a:solidFill>
                <a:latin typeface="Menlo"/>
                <a:ea typeface="Apple SD Gothic Neo"/>
              </a:rPr>
              <a:t>[GATE] tests PASS · sensor: AgeCalculator.java clean → ACCEPT   legacy files 6 → 5</a:t>
            </a:r>
          </a:p>
          <a:p>
            <a:pPr algn="l">
              <a:spcAft>
                <a:spcPts val="200"/>
              </a:spcAft>
            </a:pPr>
            <a:r>
              <a:rPr sz="1200" b="0">
                <a:solidFill>
                  <a:srgbClr val="8397AB"/>
                </a:solidFill>
                <a:latin typeface="Menlo"/>
                <a:ea typeface="Apple SD Gothic Neo"/>
              </a:rPr>
              <a:t>   … loop 2 ~ 5: InvoiceFormatter · LogTimestamp · MeetingTimeConverter · ShippingSchedule …</a:t>
            </a:r>
          </a:p>
          <a:p>
            <a:pPr algn="l">
              <a:spcAft>
                <a:spcPts val="200"/>
              </a:spcAft>
            </a:pPr>
            <a:r>
              <a:rPr sz="1200" b="0">
                <a:solidFill>
                  <a:srgbClr val="31D3B1"/>
                </a:solidFill>
                <a:latin typeface="Menlo"/>
                <a:ea typeface="Apple SD Gothic Neo"/>
              </a:rPr>
              <a:t>[LOOP 6/12] target=SubscriptionPeriod.java — NEW kiro session, no human input</a:t>
            </a:r>
          </a:p>
          <a:p>
            <a:pPr algn="l">
              <a:spcAft>
                <a:spcPts val="200"/>
              </a:spcAft>
            </a:pPr>
            <a:r>
              <a:rPr sz="1200" b="0">
                <a:solidFill>
                  <a:srgbClr val="4ADE80"/>
                </a:solidFill>
                <a:latin typeface="Menlo"/>
                <a:ea typeface="Apple SD Gothic Neo"/>
              </a:rPr>
              <a:t>[GATE] tests PASS · sensor: SubscriptionPeriod.java clean → ACCEPT   legacy files 1 → 0</a:t>
            </a:r>
          </a:p>
          <a:p>
            <a:pPr algn="l">
              <a:spcAft>
                <a:spcPts val="200"/>
              </a:spcAft>
            </a:pPr>
            <a:r>
              <a:rPr sz="1200" b="0">
                <a:solidFill>
                  <a:srgbClr val="4ADE80"/>
                </a:solidFill>
                <a:latin typeface="Menlo"/>
                <a:ea typeface="Apple SD Gothic Neo"/>
              </a:rPr>
              <a:t>RESULT=DONE  agent sessions=6  (146s)  ·  ALL 28 BEHAVIOR CHECKS PASSED</a:t>
            </a:r>
          </a:p>
        </p:txBody>
      </p:sp>
      <p:sp>
        <p:nvSpPr>
          <p:cNvPr id="9" name="Rounded Rectangle 8"/>
          <p:cNvSpPr/>
          <p:nvPr/>
        </p:nvSpPr>
        <p:spPr>
          <a:xfrm>
            <a:off x="868680" y="4937760"/>
            <a:ext cx="5120640" cy="1005840"/>
          </a:xfrm>
          <a:prstGeom prst="roundRect">
            <a:avLst>
              <a:gd name="adj" fmla="val 6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square"/>
          <a:lstStyle/>
          <a:p>
            <a:pPr algn="ctr">
              <a:spcAft>
                <a:spcPts val="300"/>
              </a:spcAft>
            </a:pPr>
            <a:r>
              <a:rPr sz="1500" b="1">
                <a:solidFill>
                  <a:srgbClr val="F5F8FD"/>
                </a:solidFill>
              </a:rPr>
              <a:t>이번 실행: 6개 모두 첫 시도에 ACCEPT</a:t>
            </a:r>
          </a:p>
          <a:p>
            <a:pPr algn="ctr">
              <a:spcAft>
                <a:spcPts val="300"/>
              </a:spcAft>
            </a:pPr>
            <a:r>
              <a:rPr sz="1200" b="0">
                <a:solidFill>
                  <a:srgbClr val="8397AB"/>
                </a:solidFill>
              </a:rPr>
              <a:t>재시도는 없었다 · 되돌림 → 재시도 흐름은 리허설(스크립트, AI 아님)로 확인</a:t>
            </a:r>
          </a:p>
        </p:txBody>
      </p:sp>
      <p:sp>
        <p:nvSpPr>
          <p:cNvPr id="10" name="Rounded Rectangle 9"/>
          <p:cNvSpPr/>
          <p:nvPr/>
        </p:nvSpPr>
        <p:spPr>
          <a:xfrm>
            <a:off x="6263640" y="4937760"/>
            <a:ext cx="5120640" cy="1005840"/>
          </a:xfrm>
          <a:prstGeom prst="roundRect">
            <a:avLst>
              <a:gd name="adj" fmla="val 6000"/>
            </a:avLst>
          </a:prstGeom>
          <a:solidFill>
            <a:srgbClr val="162236"/>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square"/>
          <a:lstStyle/>
          <a:p>
            <a:pPr algn="ctr">
              <a:spcAft>
                <a:spcPts val="300"/>
              </a:spcAft>
            </a:pPr>
            <a:r>
              <a:rPr sz="1500" b="1">
                <a:solidFill>
                  <a:srgbClr val="FACC15"/>
                </a:solidFill>
              </a:rPr>
              <a:t>만들면서 배운 것</a:t>
            </a:r>
          </a:p>
          <a:p>
            <a:pPr algn="ctr">
              <a:spcAft>
                <a:spcPts val="300"/>
              </a:spcAft>
            </a:pPr>
            <a:r>
              <a:rPr sz="1200" b="0">
                <a:solidFill>
                  <a:srgbClr val="CFDEEB"/>
                </a:solidFill>
              </a:rPr>
              <a:t>작업 폴더를 저장소 안에 두자 Kiro가 진짜 소스를 찾아 고쳤다 → 폴더 분리 + 되돌림 안전장치</a:t>
            </a:r>
          </a:p>
        </p:txBody>
      </p:sp>
      <p:sp>
        <p:nvSpPr>
          <p:cNvPr id="11" name="TextBox 10"/>
          <p:cNvSpPr txBox="1"/>
          <p:nvPr/>
        </p:nvSpPr>
        <p:spPr>
          <a:xfrm>
            <a:off x="868680" y="6080760"/>
            <a:ext cx="10515600" cy="256032"/>
          </a:xfrm>
          <a:prstGeom prst="rect">
            <a:avLst/>
          </a:prstGeom>
          <a:noFill/>
        </p:spPr>
        <p:txBody>
          <a:bodyPr wrap="square">
            <a:spAutoFit/>
          </a:bodyPr>
          <a:lstStyle/>
          <a:p>
            <a:r>
              <a:rPr sz="1000" b="0">
                <a:solidFill>
                  <a:srgbClr val="8397AB"/>
                </a:solidFill>
              </a:rPr>
              <a:t>기록: docs/captures/migration/ (브랜치 feature/migration-loop) · 터미널 출력 일부 생략(…)</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현장의 반응: 다들 찬성했을까?</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17 / 20</a:t>
            </a:r>
          </a:p>
        </p:txBody>
      </p:sp>
      <p:sp>
        <p:nvSpPr>
          <p:cNvPr id="14" name="TextBox 13"/>
          <p:cNvSpPr txBox="1"/>
          <p:nvPr/>
        </p:nvSpPr>
        <p:spPr>
          <a:xfrm>
            <a:off x="868680" y="329184"/>
            <a:ext cx="10515600" cy="274320"/>
          </a:xfrm>
          <a:prstGeom prst="rect">
            <a:avLst/>
          </a:prstGeom>
          <a:noFill/>
        </p:spPr>
        <p:txBody>
          <a:bodyPr wrap="square">
            <a:spAutoFit/>
          </a:bodyPr>
          <a:lstStyle/>
          <a:p>
            <a:r>
              <a:rPr sz="1100" b="1">
                <a:solidFill>
                  <a:srgbClr val="31D3B1"/>
                </a:solidFill>
              </a:rPr>
              <a:t>PART 4 · 현실과 적용</a:t>
            </a:r>
          </a:p>
        </p:txBody>
      </p:sp>
      <p:sp>
        <p:nvSpPr>
          <p:cNvPr id="15" name="TextBox 14"/>
          <p:cNvSpPr txBox="1"/>
          <p:nvPr/>
        </p:nvSpPr>
        <p:spPr>
          <a:xfrm>
            <a:off x="868680" y="1371600"/>
            <a:ext cx="10515600" cy="365760"/>
          </a:xfrm>
          <a:prstGeom prst="rect">
            <a:avLst/>
          </a:prstGeom>
          <a:noFill/>
        </p:spPr>
        <p:txBody>
          <a:bodyPr wrap="square">
            <a:spAutoFit/>
          </a:bodyPr>
          <a:lstStyle/>
          <a:p>
            <a:pPr algn="l">
              <a:spcAft>
                <a:spcPts val="600"/>
              </a:spcAft>
            </a:pPr>
            <a:r>
              <a:rPr sz="1500" b="0">
                <a:solidFill>
                  <a:srgbClr val="8397AB"/>
                </a:solidFill>
              </a:rPr>
              <a:t>마지막 날 패널 토론 “The Great Loops Debate” — 찬성과 신중론이 맞섰고, 승패는 가리지 못했다</a:t>
            </a:r>
          </a:p>
        </p:txBody>
      </p:sp>
      <p:sp>
        <p:nvSpPr>
          <p:cNvPr id="16" name="Rounded Rectangle 15"/>
          <p:cNvSpPr/>
          <p:nvPr/>
        </p:nvSpPr>
        <p:spPr>
          <a:xfrm>
            <a:off x="868680" y="1828800"/>
            <a:ext cx="5120640" cy="2103120"/>
          </a:xfrm>
          <a:prstGeom prst="roundRect">
            <a:avLst>
              <a:gd name="adj" fmla="val 6000"/>
            </a:avLst>
          </a:prstGeom>
          <a:solidFill>
            <a:srgbClr val="162236"/>
          </a:solidFill>
          <a:ln w="2222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2600" b="1">
                <a:solidFill>
                  <a:srgbClr val="4ADE80"/>
                </a:solidFill>
              </a:rPr>
              <a:t>“이미 왔다”</a:t>
            </a:r>
          </a:p>
          <a:p>
            <a:pPr algn="ctr">
              <a:spcAft>
                <a:spcPts val="600"/>
              </a:spcAft>
            </a:pPr>
            <a:r>
              <a:rPr sz="1700" b="0">
                <a:solidFill>
                  <a:srgbClr val="F5F8FD"/>
                </a:solidFill>
              </a:rPr>
              <a:t>손으로 코드 짜던 때로는 돌아가지 않는다</a:t>
            </a:r>
          </a:p>
          <a:p>
            <a:pPr algn="ctr">
              <a:spcAft>
                <a:spcPts val="600"/>
              </a:spcAft>
            </a:pPr>
            <a:r>
              <a:rPr sz="1700" b="0">
                <a:solidFill>
                  <a:srgbClr val="F5F8FD"/>
                </a:solidFill>
              </a:rPr>
              <a:t>핵심은 결과를 검증할 수 있느냐다</a:t>
            </a:r>
          </a:p>
          <a:p>
            <a:pPr algn="ctr">
              <a:spcAft>
                <a:spcPts val="600"/>
              </a:spcAft>
            </a:pPr>
            <a:r>
              <a:rPr sz="1200" b="0">
                <a:solidFill>
                  <a:srgbClr val="8397AB"/>
                </a:solidFill>
              </a:rPr>
              <a:t>Geoffrey Huntley (Ralph Loop 창시자) · Ian Livingstone</a:t>
            </a:r>
          </a:p>
        </p:txBody>
      </p:sp>
      <p:sp>
        <p:nvSpPr>
          <p:cNvPr id="17" name="Rounded Rectangle 16"/>
          <p:cNvSpPr/>
          <p:nvPr/>
        </p:nvSpPr>
        <p:spPr>
          <a:xfrm>
            <a:off x="6263640" y="1828800"/>
            <a:ext cx="5120640" cy="2103120"/>
          </a:xfrm>
          <a:prstGeom prst="roundRect">
            <a:avLst>
              <a:gd name="adj" fmla="val 6000"/>
            </a:avLst>
          </a:prstGeom>
          <a:solidFill>
            <a:srgbClr val="162236"/>
          </a:solidFill>
          <a:ln w="22225">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2600" b="1">
                <a:solidFill>
                  <a:srgbClr val="FACC15"/>
                </a:solidFill>
              </a:rPr>
              <a:t>“아직 이르다”</a:t>
            </a:r>
          </a:p>
          <a:p>
            <a:pPr algn="ctr">
              <a:spcAft>
                <a:spcPts val="600"/>
              </a:spcAft>
            </a:pPr>
            <a:r>
              <a:rPr sz="1700" b="0">
                <a:solidFill>
                  <a:srgbClr val="F5F8FD"/>
                </a:solidFill>
              </a:rPr>
              <a:t>기대가 실제 실력보다 앞서 있다</a:t>
            </a:r>
          </a:p>
          <a:p>
            <a:pPr algn="ctr">
              <a:spcAft>
                <a:spcPts val="600"/>
              </a:spcAft>
            </a:pPr>
            <a:r>
              <a:rPr sz="1700" b="0">
                <a:solidFill>
                  <a:srgbClr val="F5F8FD"/>
                </a:solidFill>
              </a:rPr>
              <a:t>토큰을 더 산다고 해결되지는 않는다</a:t>
            </a:r>
          </a:p>
          <a:p>
            <a:pPr algn="ctr">
              <a:spcAft>
                <a:spcPts val="600"/>
              </a:spcAft>
            </a:pPr>
            <a:r>
              <a:rPr sz="1200" b="0">
                <a:solidFill>
                  <a:srgbClr val="8397AB"/>
                </a:solidFill>
              </a:rPr>
              <a:t>Dex Horthy (HumanLayer) · Greg Pstrucha</a:t>
            </a:r>
          </a:p>
        </p:txBody>
      </p:sp>
      <p:sp>
        <p:nvSpPr>
          <p:cNvPr id="18" name="TextBox 17"/>
          <p:cNvSpPr txBox="1"/>
          <p:nvPr/>
        </p:nvSpPr>
        <p:spPr>
          <a:xfrm>
            <a:off x="868680" y="4160520"/>
            <a:ext cx="10515600" cy="457200"/>
          </a:xfrm>
          <a:prstGeom prst="rect">
            <a:avLst/>
          </a:prstGeom>
          <a:noFill/>
        </p:spPr>
        <p:txBody>
          <a:bodyPr wrap="square">
            <a:spAutoFit/>
          </a:bodyPr>
          <a:lstStyle/>
          <a:p>
            <a:pPr algn="ctr">
              <a:spcAft>
                <a:spcPts val="600"/>
              </a:spcAft>
            </a:pPr>
            <a:r>
              <a:rPr sz="1600" b="0">
                <a:solidFill>
                  <a:srgbClr val="CFDEEB"/>
                </a:solidFill>
              </a:rPr>
              <a:t>개발자 95%가 에이전트를 쓰지만, 59%는 AI가 만든 코드가 나중에 짐이 될까 걱정한다</a:t>
            </a:r>
          </a:p>
        </p:txBody>
      </p:sp>
      <p:sp>
        <p:nvSpPr>
          <p:cNvPr id="19" name="Rounded Rectangle 18"/>
          <p:cNvSpPr/>
          <p:nvPr/>
        </p:nvSpPr>
        <p:spPr>
          <a:xfrm>
            <a:off x="868680" y="4846320"/>
            <a:ext cx="10515600" cy="960120"/>
          </a:xfrm>
          <a:prstGeom prst="roundRect">
            <a:avLst>
              <a:gd name="adj" fmla="val 6000"/>
            </a:avLst>
          </a:prstGeom>
          <a:solidFill>
            <a:srgbClr val="0F2A2A"/>
          </a:solidFill>
          <a:ln w="25400">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2000" b="1">
                <a:solidFill>
                  <a:srgbClr val="F5F8FD"/>
                </a:solidFill>
              </a:rPr>
              <a:t>그래서 우리는? 작게 시작하고, 검증과 한도를 붙여서 써 보자</a:t>
            </a:r>
          </a:p>
          <a:p>
            <a:pPr algn="ctr">
              <a:spcAft>
                <a:spcPts val="600"/>
              </a:spcAft>
            </a:pPr>
            <a:r>
              <a:rPr sz="1400" b="0">
                <a:solidFill>
                  <a:srgbClr val="31D3B1"/>
                </a:solidFill>
              </a:rPr>
              <a:t>오늘 데모가 바로 그 최소 단위다 — 테스트로 검증하고, 횟수·시간·권한에 한도를 둔 루프</a:t>
            </a:r>
          </a:p>
        </p:txBody>
      </p:sp>
      <p:sp>
        <p:nvSpPr>
          <p:cNvPr id="20" name="TextBox 19"/>
          <p:cNvSpPr txBox="1"/>
          <p:nvPr/>
        </p:nvSpPr>
        <p:spPr>
          <a:xfrm>
            <a:off x="868680" y="6080760"/>
            <a:ext cx="10515600" cy="256032"/>
          </a:xfrm>
          <a:prstGeom prst="rect">
            <a:avLst/>
          </a:prstGeom>
          <a:noFill/>
        </p:spPr>
        <p:txBody>
          <a:bodyPr wrap="square">
            <a:spAutoFit/>
          </a:bodyPr>
          <a:lstStyle/>
          <a:p>
            <a:pPr algn="l">
              <a:spcAft>
                <a:spcPts val="600"/>
              </a:spcAft>
            </a:pPr>
            <a:r>
              <a:rPr sz="1000" b="0">
                <a:solidFill>
                  <a:srgbClr val="8397AB"/>
                </a:solidFill>
              </a:rPr>
              <a:t>출처: Latent Space “The great loops debate and the state of AI engineering” (2026-07-03) · 수치: Amplify 2026 AI Engineer Survey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none">
            <a:spAutoFit/>
          </a:bodyPr>
          <a:lstStyle/>
          <a:p>
            <a:r>
              <a:rPr sz="3200" b="1">
                <a:solidFill>
                  <a:srgbClr val="F5F8FD"/>
                </a:solidFill>
              </a:rPr>
              <a:t>우리 팀에서 어디에 쓸까?</a:t>
            </a:r>
          </a:p>
        </p:txBody>
      </p:sp>
      <p:sp>
        <p:nvSpPr>
          <p:cNvPr id="4" name="TextBox 3"/>
          <p:cNvSpPr txBox="1"/>
          <p:nvPr/>
        </p:nvSpPr>
        <p:spPr>
          <a:xfrm>
            <a:off x="868680" y="1691640"/>
            <a:ext cx="10515600" cy="4480560"/>
          </a:xfrm>
          <a:prstGeom prst="rect">
            <a:avLst/>
          </a:prstGeom>
          <a:noFill/>
        </p:spPr>
        <p:txBody>
          <a:bodyPr wrap="square">
            <a:spAutoFit/>
          </a:bodyPr>
          <a:lstStyle/>
          <a:p>
            <a:pPr>
              <a:spcAft>
                <a:spcPts val="1700"/>
              </a:spcAft>
            </a:pPr>
            <a:r>
              <a:rPr sz="2200">
                <a:solidFill>
                  <a:srgbClr val="CFDEEB"/>
                </a:solidFill>
              </a:rPr>
              <a:t>API 테스트 자동 생성 및 실패 복구 제안</a:t>
            </a:r>
          </a:p>
          <a:p>
            <a:pPr>
              <a:spcAft>
                <a:spcPts val="1700"/>
              </a:spcAft>
            </a:pPr>
            <a:r>
              <a:rPr sz="2200">
                <a:solidFill>
                  <a:srgbClr val="CFDEEB"/>
                </a:solidFill>
              </a:rPr>
              <a:t>CI 실패 원인 분석 → 수정 PR 초안</a:t>
            </a:r>
          </a:p>
          <a:p>
            <a:pPr>
              <a:spcAft>
                <a:spcPts val="1700"/>
              </a:spcAft>
            </a:pPr>
            <a:r>
              <a:rPr sz="2200">
                <a:solidFill>
                  <a:srgbClr val="CFDEEB"/>
                </a:solidFill>
              </a:rPr>
              <a:t>SonarQube 이슈 수정 → 스캔 → 재검증</a:t>
            </a:r>
          </a:p>
          <a:p>
            <a:pPr>
              <a:spcAft>
                <a:spcPts val="1700"/>
              </a:spcAft>
            </a:pPr>
            <a:r>
              <a:rPr sz="2200">
                <a:solidFill>
                  <a:srgbClr val="CFDEEB"/>
                </a:solidFill>
              </a:rPr>
              <a:t>단, 테스트 기준 변경과 배포는 사람이 승인</a:t>
            </a:r>
          </a:p>
        </p:txBody>
      </p:sp>
      <p:sp>
        <p:nvSpPr>
          <p:cNvPr id="5" name="TextBox 4"/>
          <p:cNvSpPr txBox="1"/>
          <p:nvPr/>
        </p:nvSpPr>
        <p:spPr>
          <a:xfrm>
            <a:off x="868680" y="6492240"/>
            <a:ext cx="10515600" cy="201168"/>
          </a:xfrm>
          <a:prstGeom prst="rect">
            <a:avLst/>
          </a:prstGeom>
          <a:noFill/>
        </p:spPr>
        <p:txBody>
          <a:bodyPr wrap="none">
            <a:spAutoFit/>
          </a:bodyPr>
          <a:lstStyle/>
          <a:p>
            <a:r>
              <a:rPr sz="1000">
                <a:solidFill>
                  <a:srgbClr val="8397AB"/>
                </a:solidFill>
              </a:rPr>
              <a:t>AI Agent Loop · 2026.10.21                                     18 / 20</a:t>
            </a:r>
          </a:p>
        </p:txBody>
      </p:sp>
      <p:sp>
        <p:nvSpPr>
          <p:cNvPr id="6" name="TextBox 5"/>
          <p:cNvSpPr txBox="1"/>
          <p:nvPr/>
        </p:nvSpPr>
        <p:spPr>
          <a:xfrm>
            <a:off x="868680" y="329184"/>
            <a:ext cx="10515600" cy="274320"/>
          </a:xfrm>
          <a:prstGeom prst="rect">
            <a:avLst/>
          </a:prstGeom>
          <a:noFill/>
        </p:spPr>
        <p:txBody>
          <a:bodyPr wrap="square">
            <a:spAutoFit/>
          </a:bodyPr>
          <a:lstStyle/>
          <a:p>
            <a:r>
              <a:rPr sz="1100" b="1">
                <a:solidFill>
                  <a:srgbClr val="31D3B1"/>
                </a:solidFill>
              </a:rPr>
              <a:t>PART 4 · 현실과 적용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핵심 메시지 &amp; Q&amp;A</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19 / 20</a:t>
            </a:r>
          </a:p>
        </p:txBody>
      </p:sp>
      <p:sp>
        <p:nvSpPr>
          <p:cNvPr id="5" name="Rounded Rectangle 4"/>
          <p:cNvSpPr/>
          <p:nvPr/>
        </p:nvSpPr>
        <p:spPr>
          <a:xfrm>
            <a:off x="868680" y="1463040"/>
            <a:ext cx="10515600" cy="1600200"/>
          </a:xfrm>
          <a:prstGeom prst="roundRect">
            <a:avLst>
              <a:gd name="adj" fmla="val 8000"/>
            </a:avLst>
          </a:prstGeom>
          <a:solidFill>
            <a:srgbClr val="0F2A2A"/>
          </a:solidFill>
          <a:ln w="25400">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200"/>
              </a:spcAft>
            </a:pPr>
            <a:r>
              <a:rPr sz="2200" b="1">
                <a:solidFill>
                  <a:srgbClr val="F5F8FD"/>
                </a:solidFill>
              </a:rPr>
              <a:t>Loop는 AI를 여러 번 돌리는 기술이 아니라</a:t>
            </a:r>
          </a:p>
          <a:p>
            <a:pPr algn="ctr">
              <a:spcAft>
                <a:spcPts val="200"/>
              </a:spcAft>
            </a:pPr>
            <a:r>
              <a:rPr sz="2200" b="1">
                <a:solidFill>
                  <a:srgbClr val="31D3B1"/>
                </a:solidFill>
              </a:rPr>
              <a:t>실행 · 검증 · 피드백 · 종료 조건을 설계해</a:t>
            </a:r>
          </a:p>
          <a:p>
            <a:pPr algn="ctr">
              <a:spcAft>
                <a:spcPts val="200"/>
              </a:spcAft>
            </a:pPr>
            <a:r>
              <a:rPr sz="2200" b="1">
                <a:solidFill>
                  <a:srgbClr val="F5F8FD"/>
                </a:solidFill>
              </a:rPr>
              <a:t>목표 달성을 관리하는 방식이다</a:t>
            </a:r>
          </a:p>
        </p:txBody>
      </p:sp>
      <p:sp>
        <p:nvSpPr>
          <p:cNvPr id="6" name="Rounded Rectangle 5"/>
          <p:cNvSpPr/>
          <p:nvPr/>
        </p:nvSpPr>
        <p:spPr>
          <a:xfrm>
            <a:off x="868680" y="3291840"/>
            <a:ext cx="3352800" cy="123444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400"/>
              </a:spcAft>
            </a:pPr>
            <a:r>
              <a:rPr sz="1700" b="1">
                <a:solidFill>
                  <a:srgbClr val="31D3B1"/>
                </a:solidFill>
              </a:rPr>
              <a:t>① Inner ≠ Outer</a:t>
            </a:r>
          </a:p>
          <a:p>
            <a:pPr algn="ctr">
              <a:spcAft>
                <a:spcPts val="400"/>
              </a:spcAft>
            </a:pPr>
            <a:r>
              <a:rPr sz="1300" b="0">
                <a:solidFill>
                  <a:srgbClr val="CFDEEB"/>
                </a:solidFill>
              </a:rPr>
              <a:t>세션 안의 반복과 세션 바깥의 반복은 다르다</a:t>
            </a:r>
          </a:p>
        </p:txBody>
      </p:sp>
      <p:sp>
        <p:nvSpPr>
          <p:cNvPr id="7" name="Rounded Rectangle 6"/>
          <p:cNvSpPr/>
          <p:nvPr/>
        </p:nvSpPr>
        <p:spPr>
          <a:xfrm>
            <a:off x="4450080" y="3291840"/>
            <a:ext cx="3352800" cy="123444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400"/>
              </a:spcAft>
            </a:pPr>
            <a:r>
              <a:rPr sz="1700" b="1">
                <a:solidFill>
                  <a:srgbClr val="31D3B1"/>
                </a:solidFill>
              </a:rPr>
              <a:t>② 테스트가 끝을 정한다</a:t>
            </a:r>
          </a:p>
          <a:p>
            <a:pPr algn="ctr">
              <a:spcAft>
                <a:spcPts val="400"/>
              </a:spcAft>
            </a:pPr>
            <a:r>
              <a:rPr sz="1300" b="0">
                <a:solidFill>
                  <a:srgbClr val="CFDEEB"/>
                </a:solidFill>
              </a:rPr>
              <a:t>AI의 완료 선언이 아니라 독립된 검증</a:t>
            </a:r>
          </a:p>
        </p:txBody>
      </p:sp>
      <p:sp>
        <p:nvSpPr>
          <p:cNvPr id="8" name="Rounded Rectangle 7"/>
          <p:cNvSpPr/>
          <p:nvPr/>
        </p:nvSpPr>
        <p:spPr>
          <a:xfrm>
            <a:off x="8031480" y="3291840"/>
            <a:ext cx="3352800" cy="1234440"/>
          </a:xfrm>
          <a:prstGeom prst="roundRect">
            <a:avLst>
              <a:gd name="adj" fmla="val 8000"/>
            </a:avLst>
          </a:prstGeom>
          <a:solidFill>
            <a:srgbClr val="162236"/>
          </a:solidFill>
          <a:ln w="15875">
            <a:solidFill>
              <a:srgbClr val="2A3B52"/>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400"/>
              </a:spcAft>
            </a:pPr>
            <a:r>
              <a:rPr sz="1700" b="1">
                <a:solidFill>
                  <a:srgbClr val="31D3B1"/>
                </a:solidFill>
              </a:rPr>
              <a:t>③ 한도와 기록은 필수</a:t>
            </a:r>
          </a:p>
          <a:p>
            <a:pPr algn="ctr">
              <a:spcAft>
                <a:spcPts val="400"/>
              </a:spcAft>
            </a:pPr>
            <a:r>
              <a:rPr sz="1300" b="0">
                <a:solidFill>
                  <a:srgbClr val="CFDEEB"/>
                </a:solidFill>
              </a:rPr>
              <a:t>반복 횟수 · 타임아웃 · 권한 · 로그</a:t>
            </a:r>
          </a:p>
        </p:txBody>
      </p:sp>
      <p:sp>
        <p:nvSpPr>
          <p:cNvPr id="9" name="TextBox 8"/>
          <p:cNvSpPr txBox="1"/>
          <p:nvPr/>
        </p:nvSpPr>
        <p:spPr>
          <a:xfrm>
            <a:off x="868680" y="4663440"/>
            <a:ext cx="10515600" cy="365760"/>
          </a:xfrm>
          <a:prstGeom prst="rect">
            <a:avLst/>
          </a:prstGeom>
          <a:noFill/>
        </p:spPr>
        <p:txBody>
          <a:bodyPr wrap="square">
            <a:spAutoFit/>
          </a:bodyPr>
          <a:lstStyle/>
          <a:p>
            <a:pPr algn="ctr"/>
            <a:r>
              <a:rPr sz="1400" b="0">
                <a:solidFill>
                  <a:srgbClr val="8397AB"/>
                </a:solidFill>
              </a:rPr>
              <a:t>오늘 데모 = Goal Loop의 한 구현 사례 (Software Factory 전체가 아님)</a:t>
            </a:r>
          </a:p>
        </p:txBody>
      </p:sp>
      <p:sp>
        <p:nvSpPr>
          <p:cNvPr id="10" name="Rounded Rectangle 9"/>
          <p:cNvSpPr/>
          <p:nvPr/>
        </p:nvSpPr>
        <p:spPr>
          <a:xfrm>
            <a:off x="868680" y="5166360"/>
            <a:ext cx="10515600" cy="731520"/>
          </a:xfrm>
          <a:prstGeom prst="roundRect">
            <a:avLst>
              <a:gd name="adj" fmla="val 8000"/>
            </a:avLst>
          </a:prstGeom>
          <a:solidFill>
            <a:srgbClr val="162236"/>
          </a:solidFill>
          <a:ln w="19050">
            <a:solidFill>
              <a:srgbClr val="31D3B1"/>
            </a:solid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2000" b="1">
                <a:solidFill>
                  <a:srgbClr val="F5F8FD"/>
                </a:solidFill>
              </a:rPr>
              <a:t>Q&amp;A — 우리 팀의 어떤 작업을 먼저 Loop로 만들어 볼까?</a:t>
            </a:r>
          </a:p>
        </p:txBody>
      </p:sp>
      <p:sp>
        <p:nvSpPr>
          <p:cNvPr id="11" name="TextBox 10"/>
          <p:cNvSpPr txBox="1"/>
          <p:nvPr/>
        </p:nvSpPr>
        <p:spPr>
          <a:xfrm>
            <a:off x="868680" y="329184"/>
            <a:ext cx="10515600" cy="274320"/>
          </a:xfrm>
          <a:prstGeom prst="rect">
            <a:avLst/>
          </a:prstGeom>
          <a:noFill/>
        </p:spPr>
        <p:txBody>
          <a:bodyPr wrap="square">
            <a:spAutoFit/>
          </a:bodyPr>
          <a:lstStyle/>
          <a:p>
            <a:r>
              <a:rPr sz="1100" b="1">
                <a:solidFill>
                  <a:srgbClr val="31D3B1"/>
                </a:solidFill>
              </a:rPr>
              <a:t>PART 4 · 현실과 적용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625"/>
        </a:solidFill>
        <a:effectLst/>
      </p:bgPr>
    </p:bg>
    <p:spTree>
      <p:nvGrpSpPr>
        <p:cNvPr id="1" name=""/>
        <p:cNvGrpSpPr/>
        <p:nvPr/>
      </p:nvGrpSpPr>
      <p:grpSpPr/>
      <p:sp>
        <p:nvSpPr>
          <p:cNvPr id="2" name="Rectangle 1"/>
          <p:cNvSpPr/>
          <p:nvPr/>
        </p:nvSpPr>
        <p:spPr>
          <a:xfrm>
            <a:off x="594360" y="658368"/>
            <a:ext cx="82296" cy="585216"/>
          </a:xfrm>
          <a:prstGeom prst="rect">
            <a:avLst/>
          </a:prstGeom>
          <a:solidFill>
            <a:srgbClr val="31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515600" cy="731520"/>
          </a:xfrm>
          <a:prstGeom prst="rect">
            <a:avLst/>
          </a:prstGeom>
          <a:noFill/>
        </p:spPr>
        <p:txBody>
          <a:bodyPr wrap="square">
            <a:spAutoFit/>
          </a:bodyPr>
          <a:lstStyle/>
          <a:p>
            <a:r>
              <a:rPr sz="3200" b="1">
                <a:solidFill>
                  <a:srgbClr val="F5F8FD"/>
                </a:solidFill>
              </a:rPr>
              <a:t>참고 자료</a:t>
            </a:r>
          </a:p>
        </p:txBody>
      </p:sp>
      <p:sp>
        <p:nvSpPr>
          <p:cNvPr id="4" name="TextBox 3"/>
          <p:cNvSpPr txBox="1"/>
          <p:nvPr/>
        </p:nvSpPr>
        <p:spPr>
          <a:xfrm>
            <a:off x="868680" y="6492240"/>
            <a:ext cx="10515600" cy="201168"/>
          </a:xfrm>
          <a:prstGeom prst="rect">
            <a:avLst/>
          </a:prstGeom>
          <a:noFill/>
        </p:spPr>
        <p:txBody>
          <a:bodyPr wrap="square">
            <a:spAutoFit/>
          </a:bodyPr>
          <a:lstStyle/>
          <a:p>
            <a:r>
              <a:rPr sz="1000" b="0">
                <a:solidFill>
                  <a:srgbClr val="8397AB"/>
                </a:solidFill>
              </a:rPr>
              <a:t>AI Agent Loop · 2026.10.21                                     20 / 20</a:t>
            </a:r>
          </a:p>
        </p:txBody>
      </p:sp>
      <p:sp>
        <p:nvSpPr>
          <p:cNvPr id="5" name="TextBox 4"/>
          <p:cNvSpPr txBox="1"/>
          <p:nvPr/>
        </p:nvSpPr>
        <p:spPr>
          <a:xfrm>
            <a:off x="868680" y="1600200"/>
            <a:ext cx="10515600" cy="4206240"/>
          </a:xfrm>
          <a:prstGeom prst="rect">
            <a:avLst/>
          </a:prstGeom>
          <a:noFill/>
        </p:spPr>
        <p:txBody>
          <a:bodyPr wrap="square">
            <a:spAutoFit/>
          </a:bodyPr>
          <a:lstStyle/>
          <a:p>
            <a:pPr>
              <a:spcAft>
                <a:spcPts val="0"/>
              </a:spcAft>
            </a:pPr>
            <a:r>
              <a:rPr sz="2000" b="1">
                <a:solidFill>
                  <a:srgbClr val="F5F8FD"/>
                </a:solidFill>
              </a:rPr>
              <a:t>swyx — The Highest Loop</a:t>
            </a:r>
            <a:r>
              <a:rPr sz="1400" b="0">
                <a:solidFill>
                  <a:srgbClr val="8397AB"/>
                </a:solidFill>
              </a:rPr>
              <a:t>   AIEWF 2026 오프닝 키노트</a:t>
            </a:r>
          </a:p>
          <a:p>
            <a:pPr>
              <a:spcAft>
                <a:spcPts val="1600"/>
              </a:spcAft>
            </a:pPr>
            <a:r>
              <a:rPr sz="1200">
                <a:solidFill>
                  <a:srgbClr val="31D3B1"/>
                </a:solidFill>
                <a:hlinkClick r:id="rId3"/>
              </a:rPr>
              <a:t>https://github-main-preview.ai.engineer/talks/Fva8hFosqyQ-highest-loop-swyx</a:t>
            </a:r>
          </a:p>
          <a:p>
            <a:r>
              <a:rPr sz="2000" b="1">
                <a:solidFill>
                  <a:srgbClr val="F5F8FD"/>
                </a:solidFill>
              </a:rPr>
              <a:t>Kyle Mistele — Loop Engineering from First Principles</a:t>
            </a:r>
            <a:r>
              <a:rPr sz="1400" b="0">
                <a:solidFill>
                  <a:srgbClr val="8397AB"/>
                </a:solidFill>
              </a:rPr>
              <a:t>   AIEWF 2026 발표</a:t>
            </a:r>
          </a:p>
          <a:p>
            <a:pPr>
              <a:spcAft>
                <a:spcPts val="1600"/>
              </a:spcAft>
            </a:pPr>
            <a:r>
              <a:rPr sz="1200">
                <a:solidFill>
                  <a:srgbClr val="31D3B1"/>
                </a:solidFill>
                <a:hlinkClick r:id="rId4"/>
              </a:rPr>
              <a:t>https://github-main-preview.ai.engineer/talks/xIt_mTQp6mY-loop-engineering-from-first-principles</a:t>
            </a:r>
          </a:p>
          <a:p>
            <a:r>
              <a:rPr sz="2000" b="1">
                <a:solidFill>
                  <a:srgbClr val="F5F8FD"/>
                </a:solidFill>
              </a:rPr>
              <a:t>Addy Osmani — Own the Outer Loop</a:t>
            </a:r>
            <a:r>
              <a:rPr sz="1400" b="0">
                <a:solidFill>
                  <a:srgbClr val="8397AB"/>
                </a:solidFill>
              </a:rPr>
              <a:t>   AIEWF 2026 키노트 (글 버전)</a:t>
            </a:r>
          </a:p>
          <a:p>
            <a:pPr>
              <a:spcAft>
                <a:spcPts val="1600"/>
              </a:spcAft>
            </a:pPr>
            <a:r>
              <a:rPr sz="1200">
                <a:solidFill>
                  <a:srgbClr val="31D3B1"/>
                </a:solidFill>
                <a:hlinkClick r:id="rId13"/>
              </a:rPr>
              <a:t>https://addyosmani.com/blog/own-the-outer-loop/</a:t>
            </a:r>
          </a:p>
          <a:p>
            <a:r>
              <a:rPr sz="2000" b="1">
                <a:solidFill>
                  <a:srgbClr val="F5F8FD"/>
                </a:solidFill>
              </a:rPr>
              <a:t>The Great Loops Debate</a:t>
            </a:r>
            <a:r>
              <a:rPr sz="1400" b="0">
                <a:solidFill>
                  <a:srgbClr val="8397AB"/>
                </a:solidFill>
              </a:rPr>
              <a:t>   Latent Space 현장 기사</a:t>
            </a:r>
          </a:p>
          <a:p>
            <a:pPr>
              <a:spcAft>
                <a:spcPts val="1600"/>
              </a:spcAft>
            </a:pPr>
            <a:r>
              <a:rPr sz="1200">
                <a:solidFill>
                  <a:srgbClr val="31D3B1"/>
                </a:solidFill>
                <a:hlinkClick r:id="rId6"/>
              </a:rPr>
              <a:t>https://www.latent.space/p/aiewf-daily-dispatch-locomotives</a:t>
            </a:r>
          </a:p>
          <a:p>
            <a:r>
              <a:rPr sz="2000" b="1">
                <a:solidFill>
                  <a:srgbClr val="F5F8FD"/>
                </a:solidFill>
              </a:rPr>
              <a:t>데모 저장소</a:t>
            </a:r>
            <a:r>
              <a:rPr sz="1400" b="0">
                <a:solidFill>
                  <a:srgbClr val="8397AB"/>
                </a:solidFill>
              </a:rPr>
              <a:t>   Java + Kiro CLI Outer Loop</a:t>
            </a:r>
          </a:p>
          <a:p>
            <a:pPr>
              <a:spcAft>
                <a:spcPts val="1600"/>
              </a:spcAft>
            </a:pPr>
            <a:r>
              <a:rPr sz="1200">
                <a:solidFill>
                  <a:srgbClr val="31D3B1"/>
                </a:solidFill>
                <a:hlinkClick r:id="rId9"/>
              </a:rPr>
              <a:t>https://github.com/jaewon-i/kiro-agent-loop-demo</a:t>
            </a:r>
          </a:p>
        </p:txBody>
      </p:sp>
      <p:sp>
        <p:nvSpPr>
          <p:cNvPr id="6" name="TextBox 5"/>
          <p:cNvSpPr txBox="1"/>
          <p:nvPr/>
        </p:nvSpPr>
        <p:spPr>
          <a:xfrm>
            <a:off x="868680" y="329184"/>
            <a:ext cx="10515600" cy="274320"/>
          </a:xfrm>
          <a:prstGeom prst="rect">
            <a:avLst/>
          </a:prstGeom>
          <a:noFill/>
        </p:spPr>
        <p:txBody>
          <a:bodyPr wrap="square">
            <a:spAutoFit/>
          </a:bodyPr>
          <a:lstStyle/>
          <a:p>
            <a:r>
              <a:rPr sz="1100" b="1">
                <a:solidFill>
                  <a:srgbClr val="31D3B1"/>
                </a:solidFill>
              </a:rPr>
              <a:t>참고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