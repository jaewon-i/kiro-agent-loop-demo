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0" r:id="rId22"/>
    <p:sldId id="271" r:id="rId23"/>
    <p:sldId id="267" r:id="rId18"/>
    <p:sldId id="268" r:id="rId20"/>
    <p:sldId id="269" r:id="rId21"/>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5" Type="http://schemas.openxmlformats.org/officeDocument/2006/relationships/slide" Target="slides/slide16.xml"/><Relationship Id="rId16" Type="http://schemas.openxmlformats.org/officeDocument/2006/relationships/slide" Target="slides/slide17.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5.xml"/><Relationship Id="rId32" Type="http://schemas.openxmlformats.org/officeDocument/2006/relationships/slide" Target="slides/slide18.xml"/><Relationship Id="rId33"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Controller는 코드를 고치지 않는다. 일을 맡기고(②), 검수하고(③④), 다시 시킬지 끝낼지 정한다(⑤). 사람이 하던 "테스트 돌려보고 틀렸으면 다시 시키기"를 프로그램으로 만든 것. CI가 PR마다 테스트를 돌리는 것과 같고, 차이는 실패하면 AI를 다시 부른다는 점. Controller는 AI가 아니라 일반 if문이다 — 그래서 믿을 수 있다. 보라색 ②만 AI(Kiro)이고, 그 안에서 Kiro 자체의 Inner Loop(읽기→수정→답변)가 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loop.py는 로그·출력·기록 코드 포함 약 250줄이지만 반복의 뼈대는 이것뿐이다. 중요한 줄은 ④: Kiro가 무엇을 말했든 qa_gate()의 결과만으로 판정한다. 종료 경로는 PASS / GUARDRAIL_STOP / AGENT_ERROR / MAX_ITERATIONS 네 가지이며 모두 Controller가 결정한다.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한 바퀴입니다.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루프가 한 바퀴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19</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19</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19</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19</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19</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19</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19</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Controller(loop.py)는 무엇을 하나?</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19</a:t>
            </a:r>
          </a:p>
        </p:txBody>
      </p:sp>
      <p:sp>
        <p:nvSpPr>
          <p:cNvPr id="5" name="TextBox 4"/>
          <p:cNvSpPr txBox="1"/>
          <p:nvPr/>
        </p:nvSpPr>
        <p:spPr>
          <a:xfrm>
            <a:off x="868680" y="1325880"/>
            <a:ext cx="10515600" cy="320040"/>
          </a:xfrm>
          <a:prstGeom prst="rect">
            <a:avLst/>
          </a:prstGeom>
          <a:noFill/>
        </p:spPr>
        <p:txBody>
          <a:bodyPr wrap="square">
            <a:spAutoFit/>
          </a:bodyPr>
          <a:lstStyle/>
          <a:p>
            <a:r>
              <a:rPr sz="1400" b="0">
                <a:solidFill>
                  <a:srgbClr val="8397AB"/>
                </a:solidFill>
              </a:rPr>
              <a:t>감독관 = loop.py (AI 아님, if문)       작업자 = Kiro CLI (AI)</a:t>
            </a:r>
          </a:p>
        </p:txBody>
      </p:sp>
      <p:sp>
        <p:nvSpPr>
          <p:cNvPr id="6" name="Rounded Rectangle 5"/>
          <p:cNvSpPr/>
          <p:nvPr/>
        </p:nvSpPr>
        <p:spPr>
          <a:xfrm>
            <a:off x="8686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① 검사</a:t>
            </a:r>
          </a:p>
          <a:p>
            <a:pPr algn="ctr"/>
            <a:r>
              <a:rPr sz="1400" b="0">
                <a:solidFill>
                  <a:srgbClr val="CFDEEB"/>
                </a:solidFill>
              </a:rPr>
              <a:t>verify.py 실행</a:t>
            </a:r>
          </a:p>
          <a:p>
            <a:pPr algn="ctr"/>
            <a:r>
              <a:rPr sz="1200" b="0">
                <a:solidFill>
                  <a:srgbClr val="8397AB"/>
                </a:solidFill>
              </a:rPr>
              <a:t>Java 컴파일+테스트</a:t>
            </a:r>
          </a:p>
        </p:txBody>
      </p:sp>
      <p:sp>
        <p:nvSpPr>
          <p:cNvPr id="7" name="Rounded Rectangle 6"/>
          <p:cNvSpPr/>
          <p:nvPr/>
        </p:nvSpPr>
        <p:spPr>
          <a:xfrm>
            <a:off x="3040380" y="1783080"/>
            <a:ext cx="1828800" cy="1188720"/>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② 작업 지시</a:t>
            </a:r>
          </a:p>
          <a:p>
            <a:pPr algn="ctr"/>
            <a:r>
              <a:rPr sz="1400" b="0">
                <a:solidFill>
                  <a:srgbClr val="CFDEEB"/>
                </a:solidFill>
              </a:rPr>
              <a:t>새 Kiro 세션 실행</a:t>
            </a:r>
          </a:p>
          <a:p>
            <a:pPr algn="ctr"/>
            <a:r>
              <a:rPr sz="1200" b="0">
                <a:solidFill>
                  <a:srgbClr val="8397AB"/>
                </a:solidFill>
              </a:rPr>
              <a:t>요구사항 + 실패 로그</a:t>
            </a:r>
          </a:p>
        </p:txBody>
      </p:sp>
      <p:sp>
        <p:nvSpPr>
          <p:cNvPr id="8" name="Rounded Rectangle 7"/>
          <p:cNvSpPr/>
          <p:nvPr/>
        </p:nvSpPr>
        <p:spPr>
          <a:xfrm>
            <a:off x="52120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③ 변조 검사</a:t>
            </a:r>
          </a:p>
          <a:p>
            <a:pPr algn="ctr"/>
            <a:r>
              <a:rPr sz="1400" b="0">
                <a:solidFill>
                  <a:srgbClr val="CFDEEB"/>
                </a:solidFill>
              </a:rPr>
              <a:t>테스트·검증기</a:t>
            </a:r>
          </a:p>
          <a:p>
            <a:pPr algn="ctr"/>
            <a:r>
              <a:rPr sz="1200" b="0">
                <a:solidFill>
                  <a:srgbClr val="8397AB"/>
                </a:solidFill>
              </a:rPr>
              <a:t>바뀌었으면 복원·중단</a:t>
            </a:r>
          </a:p>
        </p:txBody>
      </p:sp>
      <p:sp>
        <p:nvSpPr>
          <p:cNvPr id="9" name="Rounded Rectangle 8"/>
          <p:cNvSpPr/>
          <p:nvPr/>
        </p:nvSpPr>
        <p:spPr>
          <a:xfrm>
            <a:off x="7383780" y="1783080"/>
            <a:ext cx="1828800" cy="11887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④ 재검사</a:t>
            </a:r>
          </a:p>
          <a:p>
            <a:pPr algn="ctr"/>
            <a:r>
              <a:rPr sz="1400" b="0">
                <a:solidFill>
                  <a:srgbClr val="CFDEEB"/>
                </a:solidFill>
              </a:rPr>
              <a:t>verify.py 직접 실행</a:t>
            </a:r>
          </a:p>
          <a:p>
            <a:pPr algn="ctr"/>
            <a:r>
              <a:rPr sz="1200" b="0">
                <a:solidFill>
                  <a:srgbClr val="8397AB"/>
                </a:solidFill>
              </a:rPr>
              <a:t>Kiro의 "고쳤다"는 무시</a:t>
            </a:r>
          </a:p>
        </p:txBody>
      </p:sp>
      <p:sp>
        <p:nvSpPr>
          <p:cNvPr id="10" name="Rounded Rectangle 9"/>
          <p:cNvSpPr/>
          <p:nvPr/>
        </p:nvSpPr>
        <p:spPr>
          <a:xfrm>
            <a:off x="9555480" y="1783080"/>
            <a:ext cx="1828800" cy="11887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600" b="1">
                <a:solidFill>
                  <a:srgbClr val="F5F8FD"/>
                </a:solidFill>
              </a:rPr>
              <a:t>⑤ 판정</a:t>
            </a:r>
          </a:p>
          <a:p>
            <a:pPr algn="ctr"/>
            <a:r>
              <a:rPr sz="1400" b="1">
                <a:solidFill>
                  <a:srgbClr val="4ADE80"/>
                </a:solidFill>
              </a:rPr>
              <a:t>PASS → 종료</a:t>
            </a:r>
          </a:p>
          <a:p>
            <a:pPr algn="ctr"/>
            <a:r>
              <a:rPr sz="1400" b="1">
                <a:solidFill>
                  <a:srgbClr val="FF6B6B"/>
                </a:solidFill>
              </a:rPr>
              <a:t>FAIL → ②로</a:t>
            </a:r>
          </a:p>
        </p:txBody>
      </p:sp>
      <p:cxnSp>
        <p:nvCxnSpPr>
          <p:cNvPr id="11" name="Connector 10"/>
          <p:cNvCxnSpPr/>
          <p:nvPr/>
        </p:nvCxnSpPr>
        <p:spPr>
          <a:xfrm>
            <a:off x="26974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8691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0408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12580" y="2377440"/>
            <a:ext cx="34290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469880" y="2971800"/>
            <a:ext cx="0" cy="45720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3954780" y="3429000"/>
            <a:ext cx="6515100"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3954780" y="2971800"/>
            <a:ext cx="0" cy="45720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046220" y="3456432"/>
            <a:ext cx="6515100" cy="320040"/>
          </a:xfrm>
          <a:prstGeom prst="rect">
            <a:avLst/>
          </a:prstGeom>
          <a:noFill/>
        </p:spPr>
        <p:txBody>
          <a:bodyPr wrap="square">
            <a:spAutoFit/>
          </a:bodyPr>
          <a:lstStyle/>
          <a:p>
            <a:r>
              <a:rPr sz="1300" b="1">
                <a:solidFill>
                  <a:srgbClr val="FF6B6B"/>
                </a:solidFill>
              </a:rPr>
              <a:t>FAIL: 실패 로그를 들고 새 Kiro 세션 시작 (사람 입력 없음)</a:t>
            </a:r>
          </a:p>
        </p:txBody>
      </p:sp>
      <p:sp>
        <p:nvSpPr>
          <p:cNvPr id="19" name="Rounded Rectangle 18"/>
          <p:cNvSpPr/>
          <p:nvPr/>
        </p:nvSpPr>
        <p:spPr>
          <a:xfrm>
            <a:off x="868680" y="3886200"/>
            <a:ext cx="4000500" cy="640080"/>
          </a:xfrm>
          <a:prstGeom prst="roundRect">
            <a:avLst>
              <a:gd name="adj" fmla="val 8000"/>
            </a:avLst>
          </a:prstGeom>
          <a:solidFill>
            <a:srgbClr val="0E1625"/>
          </a:solidFill>
          <a:ln w="15875">
            <a:solidFill>
              <a:srgbClr val="7C5CFF"/>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300" b="1">
                <a:solidFill>
                  <a:srgbClr val="7C5CFF"/>
                </a:solidFill>
              </a:rPr>
              <a:t>Kiro 내부 (Inner Loop)</a:t>
            </a:r>
          </a:p>
          <a:p>
            <a:pPr algn="ctr"/>
            <a:r>
              <a:rPr sz="1300" b="0">
                <a:solidFill>
                  <a:srgbClr val="CFDEEB"/>
                </a:solidFill>
              </a:rPr>
              <a:t>파일 읽기 → 수정 → "고쳤습니다" → 종료</a:t>
            </a:r>
          </a:p>
        </p:txBody>
      </p:sp>
      <p:sp>
        <p:nvSpPr>
          <p:cNvPr id="20" name="Rounded Rectangle 19"/>
          <p:cNvSpPr/>
          <p:nvPr/>
        </p:nvSpPr>
        <p:spPr>
          <a:xfrm>
            <a:off x="86868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종료 조건</a:t>
            </a:r>
          </a:p>
          <a:p>
            <a:pPr algn="ctr"/>
            <a:r>
              <a:rPr sz="1300" b="0">
                <a:solidFill>
                  <a:srgbClr val="CFDEEB"/>
                </a:solidFill>
              </a:rPr>
              <a:t>PASS · 최대 5회 · 세션 300초</a:t>
            </a:r>
          </a:p>
          <a:p>
            <a:pPr algn="ctr"/>
            <a:r>
              <a:rPr sz="1300" b="0">
                <a:solidFill>
                  <a:srgbClr val="CFDEEB"/>
                </a:solidFill>
              </a:rPr>
              <a:t>Kiro 오류 · 보호 파일 변조</a:t>
            </a:r>
          </a:p>
        </p:txBody>
      </p:sp>
      <p:sp>
        <p:nvSpPr>
          <p:cNvPr id="21" name="Rounded Rectangle 20"/>
          <p:cNvSpPr/>
          <p:nvPr/>
        </p:nvSpPr>
        <p:spPr>
          <a:xfrm>
            <a:off x="443484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기록 .loop/</a:t>
            </a:r>
          </a:p>
          <a:p>
            <a:pPr algn="ctr"/>
            <a:r>
              <a:rPr sz="1300" b="0">
                <a:solidFill>
                  <a:srgbClr val="CFDEEB"/>
                </a:solidFill>
              </a:rPr>
              <a:t>회차별 결과 · Kiro 로그</a:t>
            </a:r>
          </a:p>
          <a:p>
            <a:pPr algn="ctr"/>
            <a:r>
              <a:rPr sz="1300" b="0">
                <a:solidFill>
                  <a:srgbClr val="CFDEEB"/>
                </a:solidFill>
              </a:rPr>
              <a:t>코드 diff · summary.json</a:t>
            </a:r>
          </a:p>
        </p:txBody>
      </p:sp>
      <p:sp>
        <p:nvSpPr>
          <p:cNvPr id="22" name="Rounded Rectangle 21"/>
          <p:cNvSpPr/>
          <p:nvPr/>
        </p:nvSpPr>
        <p:spPr>
          <a:xfrm>
            <a:off x="8001000" y="4709160"/>
            <a:ext cx="3383280" cy="10058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a:lstStyle/>
          <a:p>
            <a:pPr algn="ctr"/>
            <a:r>
              <a:rPr sz="1400" b="1">
                <a:solidFill>
                  <a:srgbClr val="31D3B1"/>
                </a:solidFill>
              </a:rPr>
              <a:t>기억</a:t>
            </a:r>
          </a:p>
          <a:p>
            <a:pPr algn="ctr"/>
            <a:r>
              <a:rPr sz="1300" b="0">
                <a:solidFill>
                  <a:srgbClr val="CFDEEB"/>
                </a:solidFill>
              </a:rPr>
              <a:t>Kiro는 매번 새 세션(기억 없음)</a:t>
            </a:r>
          </a:p>
          <a:p>
            <a:pPr algn="ctr"/>
            <a:r>
              <a:rPr sz="1300" b="0">
                <a:solidFill>
                  <a:srgbClr val="CFDEEB"/>
                </a:solidFill>
              </a:rPr>
              <a:t>다음 세션에 넘기는 실패 로그가 기억</a:t>
            </a:r>
          </a:p>
        </p:txBody>
      </p:sp>
      <p:cxnSp>
        <p:nvCxnSpPr>
          <p:cNvPr id="23" name="Connector 22"/>
          <p:cNvCxnSpPr/>
          <p:nvPr/>
        </p:nvCxnSpPr>
        <p:spPr>
          <a:xfrm>
            <a:off x="3497580" y="2971800"/>
            <a:ext cx="0" cy="914400"/>
          </a:xfrm>
          <a:prstGeom prst="line">
            <a:avLst/>
          </a:prstGeom>
          <a:ln w="25400">
            <a:solidFill>
              <a:srgbClr val="7C5CFF"/>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19</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19</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19</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19</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Kiro로 Goal Loop 만들기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19</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16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17 / 19</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18 / 19</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19 / 19</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