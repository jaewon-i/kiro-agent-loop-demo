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82" r:id="rId22"/>
    <p:sldId id="283" r:id="rId17"/>
    <p:sldId id="284" r:id="rId14"/>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15.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0.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7.xml"/><Relationship Id="rId32" Type="http://schemas.openxmlformats.org/officeDocument/2006/relationships/slide" Target="slides/slide20.xml"/><Relationship Id="rId3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데모 1은 버그 하나였습니다. 그래서 Kiro가 한 번에 끝냈죠. 그런데 실제 일은 대부분 그렇게 작지 않습니다. 그래서 두 번째 데모는 한 번에 끝낼 수 없는 일을 맡겨 봤습니다.</a:t>
            </a:r>
          </a:p>
          <a:p/>
          <a:p>
            <a:r>
              <a:t>(왼쪽) 과제는 마이그레이션입니다. Java 클래스 6개가 옛 날짜 API, Date나 Calendar, SimpleDateFormat을 쓰고 있는데, 이걸 Java 8부터 표준이 된 java.time으로 옮기는 겁니다. 옛 API는 삭제 예정은 아니지만, SimpleDateFormat은 여러 스레드에서 같이 쓰면 깨지고 Date는 값이 바뀔 수 있어서 실수가 잦습니다. 그래서 많은 팀이 교체합니다. 조건은 하나, 동작이 하나도 바뀌면 안 됩니다. 그리고 규칙은 loop 한 번에 파일 하나만입니다. Kyle Mistele가 발표에서 말한 '작게 고치고 다시 잰다'를 그대로 적용한 겁니다.</a:t>
            </a:r>
          </a:p>
          <a:p/>
          <a:p>
            <a:r>
              <a:t>(오른쪽) 날짜 코드는 쉬워 보여도 함정이 많습니다. 서울 날짜를 UTC로 계산하면 하루가 틀리고, 밀리초가 붙으면 로그 형식이 깨지고, 서머타임 경계나 2월 29일생 나이, 1월 31일에 한 달을 더하는 경우 같은 것들이죠.</a:t>
            </a:r>
          </a:p>
          <a:p/>
          <a:p>
            <a:r>
              <a:t>(하단) 그래서 '바뀌면 안 되는 것'을 동작 테스트 28개로 고정했습니다. 미리 정답 코드로 돌려 보니 28개 모두 통과했고, 흔한 실수 네 가지는 각각 테스트가 잡아냈습니다. 시험지가 공정한지부터 확인한 거죠.</a:t>
            </a:r>
          </a:p>
          <a:p/>
          <a:p>
            <a:r>
              <a:t>[예상 질문]</a:t>
            </a:r>
          </a:p>
          <a:p>
            <a:r>
              <a:t>Q. 이것도 결국 테스트를 통과시키는 것 아닌가요?</a:t>
            </a:r>
          </a:p>
          <a:p>
            <a:r>
              <a:t>A. 맞습니다. 다른 점은 '얼마나 남았는지'를 숫자로 재는 센서가 하나 더 있다는 겁니다. 다음 장에서 보겠습니다.</a:t>
            </a:r>
          </a:p>
          <a:p/>
          <a:p>
            <a:r>
              <a:t>[배경: 이 데모의 원본 사례 — Kyle Mistele, AIEWF 2026 "Loop Engineering from First Principles"]</a:t>
            </a:r>
          </a:p>
          <a:p>
            <a:r>
              <a:t>- Kyle이 실제로 보여준 예는 TypeScript 코드베이스의 RPC 프로시저를 Effect 라이브러리로 하나씩 옮기는 점진 마이그레이션이다.</a:t>
            </a:r>
          </a:p>
          <a:p>
            <a:r>
              <a:t>- 센서: "아직 안 옮긴 프로시저를 찾는 간단한 규칙"(발표 10:05 부근). 우리 데모의 measure.py가 같은 역할.</a:t>
            </a:r>
          </a:p>
          <a:p>
            <a:r>
              <a:t>- 실행기: 에이전트가 한 번에 하나씩, 저장소 안의 기존 패턴을 따라 옮긴다(12:26 "Give the actuator local patterns to follow").</a:t>
            </a:r>
          </a:p>
          <a:p>
            <a:r>
              <a:t>- 검증: 새 인프라 대신 기존 CI를 쓴다(13:22). 우리 데모의 verify.py.</a:t>
            </a:r>
          </a:p>
          <a:p>
            <a:r>
              <a:t>- 그가 강조한 점: 작고 쓸모 있는 변경을 고를 것(11:21), 리뷰 코멘트를 다음 루프의 지시로 남길 것(14:13), 사람의 리뷰가 막히면 변경 생산을 멈출 것(15:10), 신뢰와 리뷰 여력이 늘면 처리량을 올릴 것(16:17).</a:t>
            </a:r>
          </a:p>
          <a:p>
            <a:r>
              <a:t>- 차이: Kyle은 PR 단위로 사람이 리뷰한다. 우리 데모는 리뷰 대신 테스트 + 센서로 반영 여부를 자동 판정하고, 2번 실패하면 사람에게 넘기는 것으로 축소했다.</a:t>
            </a:r>
          </a:p>
          <a:p>
            <a:r>
              <a:t>- 참고: swyx의 예시가 아니다. swyx는 루프의 층(토큰 → … → 소프트웨어 팩토리)을 이야기했고, 이 데모는 그중 Goal 층에 해당한다.</a:t>
            </a:r>
          </a:p>
          <a:p/>
          <a:p>
            <a:r>
              <a:t>Q. 옛 날짜 API는 곧 삭제되나요?</a:t>
            </a:r>
          </a:p>
          <a:p>
            <a:r>
              <a:t>A. 아니요. 지금도 쓸 수 있고 일부 오래된 메서드만 deprecated입니다. 삭제가 아니라 더 안전한 표준(java.time)으로 바꾸는 작업입니다. 테스트도 지우지 않고, 오히려 테스트가 동작이 안 바뀌었는지 지켜봅니다.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 (발음: swyx = "스윅스". 본명 Shawn Wang, AI Engineer 행사 공동 창립자.)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loop 한 번입니다.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loop가 한 번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같은 제어 루프 그림입니다. 데모 1과 다른 점은 센서가 '얼마나 남았는지'를 숫자로 잰다는 겁니다.</a:t>
            </a:r>
          </a:p>
          <a:p/>
          <a:p>
            <a:r>
              <a:t>(왼쪽부터) 목표값은 옛 날짜 API를 쓰는 파일 0개, 그리고 테스트 PASS입니다.</a:t>
            </a:r>
          </a:p>
          <a:p>
            <a:r>
              <a:t>센서는 두 개입니다. measure.py가 옛 날짜 API를 쓰는 파일이 몇 개 남았는지 세고, verify.py가 동작 테스트 28개를 돌립니다.</a:t>
            </a:r>
          </a:p>
          <a:p>
            <a:r>
              <a:t>남은 게 있으면 컨트롤러 migrate_loop.py가 파일 하나를 고르고, 새 Kiro 세션에 '이 파일 하나만 옮겨라'라고 지시합니다.</a:t>
            </a:r>
          </a:p>
          <a:p>
            <a:r>
              <a:t>Kiro는 그 파일만 고칩니다. 그러면 컨트롤러가 그 파일 하나만 반영하고 다시 잽니다.</a:t>
            </a:r>
          </a:p>
          <a:p/>
          <a:p>
            <a:r>
              <a:t>(하단 규칙) 테스트가 통과하고 그 파일에 옛 날짜 API가 없으면 반영합니다. 아니면 되돌리고, 실패 내용을 들고 같은 파일을 새 세션으로 다시 시킵니다. 두 번 실패하면 억지로 밀어붙이지 않고 사람에게 넘깁니다.</a:t>
            </a:r>
          </a:p>
          <a:p/>
          <a:p>
            <a:r>
              <a:t>(노란 화살표) 대상이 아닌 파일을 건드리면 무시하고, 테스트나 센서를 건드리면 바로 멈춥니다.</a:t>
            </a:r>
          </a:p>
          <a:p/>
          <a:p>
            <a:r>
              <a:t>이게 Kyle이 말한 '측정하고, 작게 보정하고, 다시 측정한다'입니다. 오차가 6에서 0으로 줄어드는 루프죠.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실제로 돌린 결과입니다. 오늘 아침, Mac에서 Kiro CLI로 실행했습니다.</a:t>
            </a:r>
          </a:p>
          <a:p/>
          <a:p>
            <a:r>
              <a:t>(큰 숫자) 옛 날짜 API를 쓰는 파일이 6개에서 시작해서, loop 한 번마다 하나씩 줄어 0이 됐습니다. Kiro 세션 6개, 약 2분 반 걸렸고, 끝나고 나서 테스트 28개가 모두 통과했습니다.</a:t>
            </a:r>
          </a:p>
          <a:p/>
          <a:p>
            <a:r>
              <a:t>(터미널) loop마다 같은 패턴입니다. 새 Kiro 세션을 열고, Kiro가 끝나면 컨트롤러가 Kiro 말을 믿지 않고 직접 잽니다. 테스트 PASS, 그 파일에서 옛 날짜 API 사라짐, 그래서 반영. 6에서 5로.</a:t>
            </a:r>
          </a:p>
          <a:p/>
          <a:p>
            <a:r>
              <a:t>(왼쪽 아래) 솔직하게 말씀드리면, 이번 실행에서는 6개 모두 첫 시도에 통과해서 재시도가 없었습니다. 되돌리고 다시 시키는 흐름은 리허설 모드로 확인했는데, 그건 AI가 아니라 스크립트입니다.</a:t>
            </a:r>
          </a:p>
          <a:p/>
          <a:p>
            <a:r>
              <a:t>(오른쪽 아래) 오히려 재미있는 건 만드는 과정에서 생긴 일입니다. 처음에 Kiro 작업 폴더를 저장소 안에 뒀더니, Kiro가 파일 검색으로 진짜 소스를 찾아서 거기를 고쳤습니다. 지시는 '작업 폴더 안에서만'이었는데요. 그래서 작업 폴더를 저장소 밖으로 옮기고, 진짜 소스가 바뀌면 되돌리는 안전장치를 추가했습니다.</a:t>
            </a:r>
          </a:p>
          <a:p>
            <a:r>
              <a:t>교훈은 이겁니다. AI는 지시한 범위가 아니라, 도구가 허락하는 범위 안에서 움직입니다. 그래서 경계는 프롬프트가 아니라 시스템으로 지켜야 합니다.</a:t>
            </a:r>
          </a:p>
          <a:p/>
          <a:p>
            <a:r>
              <a:t>[예상 질문]</a:t>
            </a:r>
          </a:p>
          <a:p>
            <a:r>
              <a:t>Q. 재시도가 없었으면 루프가 의미 있나요?</a:t>
            </a:r>
          </a:p>
          <a:p>
            <a:r>
              <a:t>A. 네. 이 일은 애초에 6번 돌아야 끝나는 일이고, loop마다 반영할지를 테스트와 센서가 정했습니다. 재시도는 실패했을 때를 위한 장치입니다.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21</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21</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21</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21</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21</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21</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21</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21</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21</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21</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한 번에 끝낼 수 없는 일</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500" b="0">
                <a:solidFill>
                  <a:srgbClr val="8397AB"/>
                </a:solidFill>
              </a:rPr>
              <a:t>데모 1은 버그 하나라 한 번에 끝났다. 이번엔 여러 번 돌아야만 끝나는 일을 맡긴다</a:t>
            </a:r>
          </a:p>
        </p:txBody>
      </p:sp>
      <p:sp>
        <p:nvSpPr>
          <p:cNvPr id="7" name="Rounded Rectangle 6"/>
          <p:cNvSpPr/>
          <p:nvPr/>
        </p:nvSpPr>
        <p:spPr>
          <a:xfrm>
            <a:off x="868680" y="1874519"/>
            <a:ext cx="4846320" cy="2788920"/>
          </a:xfrm>
          <a:prstGeom prst="roundRect">
            <a:avLst>
              <a:gd name="adj" fmla="val 6000"/>
            </a:avLst>
          </a:prstGeom>
          <a:solidFill>
            <a:srgbClr val="162236"/>
          </a:solidFill>
          <a:ln w="2222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800"/>
              </a:spcAft>
            </a:pPr>
            <a:r>
              <a:rPr sz="1600" b="1">
                <a:solidFill>
                  <a:srgbClr val="31D3B1"/>
                </a:solidFill>
              </a:rPr>
              <a:t>과제</a:t>
            </a:r>
          </a:p>
          <a:p>
            <a:pPr algn="l">
              <a:spcAft>
                <a:spcPts val="800"/>
              </a:spcAft>
            </a:pPr>
            <a:r>
              <a:rPr sz="1500" b="0">
                <a:solidFill>
                  <a:srgbClr val="F5F8FD"/>
                </a:solidFill>
              </a:rPr>
              <a:t>Java 클래스 6개가 쓰는 옛 날짜 API(Date · Calendar · SimpleDateFormat)를 새 표준 java.time으로 바꾼다</a:t>
            </a:r>
          </a:p>
          <a:p>
            <a:pPr algn="l">
              <a:spcAft>
                <a:spcPts val="800"/>
              </a:spcAft>
            </a:pPr>
            <a:r>
              <a:rPr sz="1200" b="0">
                <a:solidFill>
                  <a:srgbClr val="8397AB"/>
                </a:solidFill>
              </a:rPr>
              <a:t>왜? Java 8(2014)부터 java.time이 표준. 옛 API는 스레드에 안전하지 않고 값이 바뀌는 등 실수가 잦다 (삭제 예정은 아님)</a:t>
            </a:r>
          </a:p>
          <a:p>
            <a:pPr algn="l">
              <a:spcAft>
                <a:spcPts val="800"/>
              </a:spcAft>
            </a:pPr>
            <a:r>
              <a:rPr sz="1400" b="0">
                <a:solidFill>
                  <a:srgbClr val="CFDEEB"/>
                </a:solidFill>
              </a:rPr>
              <a:t>조건: 동작은 하나도 바뀌면 안 된다 — 출력 · 시간대 · 정밀도 · 예외</a:t>
            </a:r>
          </a:p>
          <a:p>
            <a:pPr algn="l">
              <a:spcAft>
                <a:spcPts val="800"/>
              </a:spcAft>
            </a:pPr>
            <a:r>
              <a:rPr sz="1400" b="0">
                <a:solidFill>
                  <a:srgbClr val="CFDEEB"/>
                </a:solidFill>
              </a:rPr>
              <a:t>규칙: loop 한 번에 파일 하나만 (작게 고치고 다시 잰다)</a:t>
            </a:r>
          </a:p>
        </p:txBody>
      </p:sp>
      <p:graphicFrame>
        <p:nvGraphicFramePr>
          <p:cNvPr id="8" name="Table 7"/>
          <p:cNvGraphicFramePr>
            <a:graphicFrameLocks noGrp="1"/>
          </p:cNvGraphicFramePr>
          <p:nvPr/>
        </p:nvGraphicFramePr>
        <p:xfrm>
          <a:off x="5989320" y="1874519"/>
          <a:ext cx="5394960" cy="2784348"/>
        </p:xfrm>
        <a:graphic>
          <a:graphicData uri="http://schemas.openxmlformats.org/drawingml/2006/table">
            <a:tbl>
              <a:tblPr firstRow="0" bandRow="0">
                <a:tableStyleId>{5C22544A-7EE6-4342-B048-85BDC9FD1C3A}</a:tableStyleId>
              </a:tblPr>
              <a:tblGrid>
                <a:gridCol w="2057400"/>
                <a:gridCol w="3337560"/>
              </a:tblGrid>
              <a:tr h="397764">
                <a:tc>
                  <a:txBody>
                    <a:bodyPr/>
                    <a:lstStyle/>
                    <a:p>
                      <a:r>
                        <a:rPr sz="1200" b="1">
                          <a:solidFill>
                            <a:srgbClr val="F5F8FD"/>
                          </a:solidFill>
                        </a:rPr>
                        <a:t>파일</a:t>
                      </a:r>
                    </a:p>
                  </a:txBody>
                  <a:tcPr anchor="ctr" marL="109728" marR="109728" marT="0" marB="0">
                    <a:solidFill>
                      <a:srgbClr val="2A3B52"/>
                    </a:solidFill>
                  </a:tcPr>
                </a:tc>
                <a:tc>
                  <a:txBody>
                    <a:bodyPr/>
                    <a:lstStyle/>
                    <a:p>
                      <a:r>
                        <a:rPr sz="1200" b="1">
                          <a:solidFill>
                            <a:srgbClr val="F5F8FD"/>
                          </a:solidFill>
                        </a:rPr>
                        <a:t>숨어 있는 함정</a:t>
                      </a:r>
                    </a:p>
                  </a:txBody>
                  <a:tcPr anchor="ctr" marL="109728" marR="109728" marT="0" marB="0">
                    <a:solidFill>
                      <a:srgbClr val="2A3B52"/>
                    </a:solidFill>
                  </a:tcPr>
                </a:tc>
              </a:tr>
              <a:tr h="397764">
                <a:tc>
                  <a:txBody>
                    <a:bodyPr/>
                    <a:lstStyle/>
                    <a:p>
                      <a:r>
                        <a:rPr sz="1300" b="1">
                          <a:solidFill>
                            <a:srgbClr val="31D3B1"/>
                          </a:solidFill>
                        </a:rPr>
                        <a:t>InvoiceFormatter</a:t>
                      </a:r>
                    </a:p>
                  </a:txBody>
                  <a:tcPr anchor="ctr" marL="109728" marR="109728" marT="0" marB="0">
                    <a:solidFill>
                      <a:srgbClr val="162236"/>
                    </a:solidFill>
                  </a:tcPr>
                </a:tc>
                <a:tc>
                  <a:txBody>
                    <a:bodyPr/>
                    <a:lstStyle/>
                    <a:p>
                      <a:r>
                        <a:rPr sz="1300" b="0">
                          <a:solidFill>
                            <a:srgbClr val="CFDEEB"/>
                          </a:solidFill>
                        </a:rPr>
                        <a:t>서울 날짜 — UTC로 계산하면 하루 틀림</a:t>
                      </a:r>
                    </a:p>
                  </a:txBody>
                  <a:tcPr anchor="ctr" marL="109728" marR="109728" marT="0" marB="0">
                    <a:solidFill>
                      <a:srgbClr val="162236"/>
                    </a:solidFill>
                  </a:tcPr>
                </a:tc>
              </a:tr>
              <a:tr h="397764">
                <a:tc>
                  <a:txBody>
                    <a:bodyPr/>
                    <a:lstStyle/>
                    <a:p>
                      <a:r>
                        <a:rPr sz="1300" b="1">
                          <a:solidFill>
                            <a:srgbClr val="31D3B1"/>
                          </a:solidFill>
                        </a:rPr>
                        <a:t>LogTimestamp</a:t>
                      </a:r>
                    </a:p>
                  </a:txBody>
                  <a:tcPr anchor="ctr" marL="109728" marR="109728" marT="0" marB="0">
                    <a:solidFill>
                      <a:srgbClr val="162236"/>
                    </a:solidFill>
                  </a:tcPr>
                </a:tc>
                <a:tc>
                  <a:txBody>
                    <a:bodyPr/>
                    <a:lstStyle/>
                    <a:p>
                      <a:r>
                        <a:rPr sz="1300" b="0">
                          <a:solidFill>
                            <a:srgbClr val="CFDEEB"/>
                          </a:solidFill>
                        </a:rPr>
                        <a:t>초 단위까지만 — 밀리초가 붙으면 FAIL</a:t>
                      </a:r>
                    </a:p>
                  </a:txBody>
                  <a:tcPr anchor="ctr" marL="109728" marR="109728" marT="0" marB="0">
                    <a:solidFill>
                      <a:srgbClr val="162236"/>
                    </a:solidFill>
                  </a:tcPr>
                </a:tc>
              </a:tr>
              <a:tr h="397764">
                <a:tc>
                  <a:txBody>
                    <a:bodyPr/>
                    <a:lstStyle/>
                    <a:p>
                      <a:r>
                        <a:rPr sz="1300" b="1">
                          <a:solidFill>
                            <a:srgbClr val="31D3B1"/>
                          </a:solidFill>
                        </a:rPr>
                        <a:t>ShippingSchedule</a:t>
                      </a:r>
                    </a:p>
                  </a:txBody>
                  <a:tcPr anchor="ctr" marL="109728" marR="109728" marT="0" marB="0">
                    <a:solidFill>
                      <a:srgbClr val="162236"/>
                    </a:solidFill>
                  </a:tcPr>
                </a:tc>
                <a:tc>
                  <a:txBody>
                    <a:bodyPr/>
                    <a:lstStyle/>
                    <a:p>
                      <a:r>
                        <a:rPr sz="1300" b="0">
                          <a:solidFill>
                            <a:srgbClr val="CFDEEB"/>
                          </a:solidFill>
                        </a:rPr>
                        <a:t>주말 건너뛰기 · 2월 30일 거부</a:t>
                      </a:r>
                    </a:p>
                  </a:txBody>
                  <a:tcPr anchor="ctr" marL="109728" marR="109728" marT="0" marB="0">
                    <a:solidFill>
                      <a:srgbClr val="162236"/>
                    </a:solidFill>
                  </a:tcPr>
                </a:tc>
              </a:tr>
              <a:tr h="397764">
                <a:tc>
                  <a:txBody>
                    <a:bodyPr/>
                    <a:lstStyle/>
                    <a:p>
                      <a:r>
                        <a:rPr sz="1300" b="1">
                          <a:solidFill>
                            <a:srgbClr val="31D3B1"/>
                          </a:solidFill>
                        </a:rPr>
                        <a:t>MeetingTimeConverter</a:t>
                      </a:r>
                    </a:p>
                  </a:txBody>
                  <a:tcPr anchor="ctr" marL="109728" marR="109728" marT="0" marB="0">
                    <a:solidFill>
                      <a:srgbClr val="162236"/>
                    </a:solidFill>
                  </a:tcPr>
                </a:tc>
                <a:tc>
                  <a:txBody>
                    <a:bodyPr/>
                    <a:lstStyle/>
                    <a:p>
                      <a:r>
                        <a:rPr sz="1300" b="0">
                          <a:solidFill>
                            <a:srgbClr val="CFDEEB"/>
                          </a:solidFill>
                        </a:rPr>
                        <a:t>서머타임(DST) 경계</a:t>
                      </a:r>
                    </a:p>
                  </a:txBody>
                  <a:tcPr anchor="ctr" marL="109728" marR="109728" marT="0" marB="0">
                    <a:solidFill>
                      <a:srgbClr val="162236"/>
                    </a:solidFill>
                  </a:tcPr>
                </a:tc>
              </a:tr>
              <a:tr h="397764">
                <a:tc>
                  <a:txBody>
                    <a:bodyPr/>
                    <a:lstStyle/>
                    <a:p>
                      <a:r>
                        <a:rPr sz="1300" b="1">
                          <a:solidFill>
                            <a:srgbClr val="31D3B1"/>
                          </a:solidFill>
                        </a:rPr>
                        <a:t>AgeCalculator</a:t>
                      </a:r>
                    </a:p>
                  </a:txBody>
                  <a:tcPr anchor="ctr" marL="109728" marR="109728" marT="0" marB="0">
                    <a:solidFill>
                      <a:srgbClr val="162236"/>
                    </a:solidFill>
                  </a:tcPr>
                </a:tc>
                <a:tc>
                  <a:txBody>
                    <a:bodyPr/>
                    <a:lstStyle/>
                    <a:p>
                      <a:r>
                        <a:rPr sz="1300" b="0">
                          <a:solidFill>
                            <a:srgbClr val="CFDEEB"/>
                          </a:solidFill>
                        </a:rPr>
                        <a:t>2월 29일생의 나이</a:t>
                      </a:r>
                    </a:p>
                  </a:txBody>
                  <a:tcPr anchor="ctr" marL="109728" marR="109728" marT="0" marB="0">
                    <a:solidFill>
                      <a:srgbClr val="162236"/>
                    </a:solidFill>
                  </a:tcPr>
                </a:tc>
              </a:tr>
              <a:tr h="397764">
                <a:tc>
                  <a:txBody>
                    <a:bodyPr/>
                    <a:lstStyle/>
                    <a:p>
                      <a:r>
                        <a:rPr sz="1300" b="1">
                          <a:solidFill>
                            <a:srgbClr val="31D3B1"/>
                          </a:solidFill>
                        </a:rPr>
                        <a:t>SubscriptionPeriod</a:t>
                      </a:r>
                    </a:p>
                  </a:txBody>
                  <a:tcPr anchor="ctr" marL="109728" marR="109728" marT="0" marB="0">
                    <a:solidFill>
                      <a:srgbClr val="162236"/>
                    </a:solidFill>
                  </a:tcPr>
                </a:tc>
                <a:tc>
                  <a:txBody>
                    <a:bodyPr/>
                    <a:lstStyle/>
                    <a:p>
                      <a:r>
                        <a:rPr sz="1300" b="0">
                          <a:solidFill>
                            <a:srgbClr val="CFDEEB"/>
                          </a:solidFill>
                        </a:rPr>
                        <a:t>1월 31일 + 1개월 = 2월 28일</a:t>
                      </a:r>
                    </a:p>
                  </a:txBody>
                  <a:tcPr anchor="ctr" marL="109728" marR="109728" marT="0" marB="0">
                    <a:solidFill>
                      <a:srgbClr val="162236"/>
                    </a:solidFill>
                  </a:tcPr>
                </a:tc>
              </a:tr>
            </a:tbl>
          </a:graphicData>
        </a:graphic>
      </p:graphicFrame>
      <p:sp>
        <p:nvSpPr>
          <p:cNvPr id="9" name="Rounded Rectangle 8"/>
          <p:cNvSpPr/>
          <p:nvPr/>
        </p:nvSpPr>
        <p:spPr>
          <a:xfrm>
            <a:off x="868680" y="4937760"/>
            <a:ext cx="10515600" cy="86868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동작 테스트 28개가 ‘바뀌면 안 되는 것’을 고정한다</a:t>
            </a:r>
          </a:p>
          <a:p>
            <a:pPr algn="ctr">
              <a:spcAft>
                <a:spcPts val="200"/>
              </a:spcAft>
            </a:pPr>
            <a:r>
              <a:rPr sz="1300" b="0">
                <a:solidFill>
                  <a:srgbClr val="31D3B1"/>
                </a:solidFill>
              </a:rPr>
              <a:t>사전 검증: 정답 코드는 28/28 PASS · 흔한 실수 4가지는 각각 FAIL</a:t>
            </a:r>
          </a:p>
        </p:txBody>
      </p:sp>
      <p:sp>
        <p:nvSpPr>
          <p:cNvPr id="10" name="TextBox 9"/>
          <p:cNvSpPr txBox="1"/>
          <p:nvPr/>
        </p:nvSpPr>
        <p:spPr>
          <a:xfrm>
            <a:off x="868680" y="6080760"/>
            <a:ext cx="10515600" cy="256032"/>
          </a:xfrm>
          <a:prstGeom prst="rect">
            <a:avLst/>
          </a:prstGeom>
          <a:noFill/>
        </p:spPr>
        <p:txBody>
          <a:bodyPr wrap="square">
            <a:spAutoFit/>
          </a:bodyPr>
          <a:lstStyle/>
          <a:p>
            <a:r>
              <a:rPr sz="1000" b="0">
                <a:solidFill>
                  <a:srgbClr val="8397AB"/>
                </a:solidFill>
              </a:rPr>
              <a:t>구성: Kyle Mistele의 실제 사례(TypeScript RPC → Effect 점진 마이그레이션)를 Java 날짜 API로 작게 재현 (발표자 구성)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500" b="1">
                <a:solidFill>
                  <a:srgbClr val="F5F8FD"/>
                </a:solidFill>
              </a:rPr>
              <a:t>남은 파일 0개</a:t>
            </a:r>
          </a:p>
          <a:p>
            <a:pPr algn="ctr"/>
            <a:r>
              <a:rPr sz="1200" b="0">
                <a:solidFill>
                  <a:srgbClr val="CFDEEB"/>
                </a:solidFill>
              </a:rPr>
              <a:t>+ 테스트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100" b="1">
                <a:solidFill>
                  <a:srgbClr val="F5F8FD"/>
                </a:solidFill>
              </a:rPr>
              <a:t>남은 수?</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400" b="1">
                <a:solidFill>
                  <a:srgbClr val="31D3B1"/>
                </a:solidFill>
              </a:rPr>
              <a:t>migrate_loop.py</a:t>
            </a:r>
          </a:p>
          <a:p>
            <a:pPr algn="ctr"/>
            <a:r>
              <a:rPr sz="1000" b="0">
                <a:solidFill>
                  <a:srgbClr val="CFDEEB"/>
                </a:solidFill>
              </a:rPr>
              <a:t>파일 하나 선택 · 반영/되돌림</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100" b="0">
                <a:solidFill>
                  <a:srgbClr val="CFDEEB"/>
                </a:solidFill>
              </a:rPr>
              <a:t>파일 하나만 이전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500" b="1">
                <a:solidFill>
                  <a:srgbClr val="F5F8FD"/>
                </a:solidFill>
              </a:rPr>
              <a:t>src/ 6개 파일</a:t>
            </a:r>
          </a:p>
          <a:p>
            <a:pPr algn="ctr"/>
            <a:r>
              <a:rPr sz="1100" b="0">
                <a:solidFill>
                  <a:srgbClr val="CFDEEB"/>
                </a:solidFill>
              </a:rPr>
              <a:t>옛 날짜 API 사용 중</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남음</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5F8FD"/>
                </a:solidFill>
              </a:rPr>
              <a:t>센서  measure.py + verify.py</a:t>
            </a:r>
          </a:p>
          <a:p>
            <a:pPr algn="ctr"/>
            <a:r>
              <a:rPr sz="1200" b="0">
                <a:solidFill>
                  <a:srgbClr val="8397AB"/>
                </a:solidFill>
              </a:rPr>
              <a:t>남은 파일 수 + 동작 테스트 28개</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2011680" cy="274320"/>
          </a:xfrm>
          <a:prstGeom prst="rect">
            <a:avLst/>
          </a:prstGeom>
          <a:noFill/>
        </p:spPr>
        <p:txBody>
          <a:bodyPr wrap="square">
            <a:spAutoFit/>
          </a:bodyPr>
          <a:lstStyle/>
          <a:p>
            <a:pPr algn="l"/>
            <a:r>
              <a:rPr sz="1100" b="0">
                <a:solidFill>
                  <a:srgbClr val="8397AB"/>
                </a:solidFill>
              </a:rPr>
              <a:t>남은 수 · 테스트 결과</a:t>
            </a:r>
          </a:p>
        </p:txBody>
      </p:sp>
      <p:sp>
        <p:nvSpPr>
          <p:cNvPr id="29" name="TextBox 28"/>
          <p:cNvSpPr txBox="1"/>
          <p:nvPr/>
        </p:nvSpPr>
        <p:spPr>
          <a:xfrm>
            <a:off x="7635240" y="1764792"/>
            <a:ext cx="4114800" cy="274320"/>
          </a:xfrm>
          <a:prstGeom prst="rect">
            <a:avLst/>
          </a:prstGeom>
          <a:noFill/>
        </p:spPr>
        <p:txBody>
          <a:bodyPr wrap="square">
            <a:spAutoFit/>
          </a:bodyPr>
          <a:lstStyle/>
          <a:p>
            <a:pPr algn="ctr"/>
            <a:r>
              <a:rPr sz="1100" b="1">
                <a:solidFill>
                  <a:srgbClr val="FACC15"/>
                </a:solidFill>
              </a:rPr>
              <a:t>외부 변화 = 대상 외 수정 → 무시 · 테스트 변조 → 중단</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같은 그림, 다른 센서 — 이번엔 ‘얼마나 남았는지’를 숫자로 잰다</a:t>
            </a:r>
          </a:p>
        </p:txBody>
      </p:sp>
      <p:sp>
        <p:nvSpPr>
          <p:cNvPr id="32" name="Rounded Rectangle 31"/>
          <p:cNvSpPr/>
          <p:nvPr/>
        </p:nvSpPr>
        <p:spPr>
          <a:xfrm>
            <a:off x="868680" y="4526280"/>
            <a:ext cx="10515600" cy="566928"/>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400"/>
              </a:spcAft>
            </a:pPr>
            <a:r>
              <a:rPr sz="1300" b="0">
                <a:solidFill>
                  <a:srgbClr val="CFDEEB"/>
                </a:solidFill>
              </a:rPr>
              <a:t>loop 1회 = 파일 하나:   테스트 PASS + 옛 날짜 API 없음 → 반영   ·   아니면 되돌리고 실패 내용으로 재시도   ·   2번 실패 → 사람에게</a:t>
            </a:r>
          </a:p>
        </p:txBody>
      </p:sp>
      <p:sp>
        <p:nvSpPr>
          <p:cNvPr id="33" name="Rounded Rectangle 32"/>
          <p:cNvSpPr/>
          <p:nvPr/>
        </p:nvSpPr>
        <p:spPr>
          <a:xfrm>
            <a:off x="868680" y="5257800"/>
            <a:ext cx="10515600" cy="7315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센서가 남은 양을 숫자로 잰다 — 오차가 6에서 0으로 줄어드는 루프</a:t>
            </a:r>
          </a:p>
          <a:p>
            <a:pPr algn="ctr">
              <a:spcAft>
                <a:spcPts val="200"/>
              </a:spcAft>
            </a:pPr>
            <a:r>
              <a:rPr sz="1300" b="0">
                <a:solidFill>
                  <a:srgbClr val="8397AB"/>
                </a:solidFill>
              </a:rPr>
              <a:t>Kyle Mistele: “측정하고, 작게 보정하고, 다시 측정한다”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실제 실행: 6 → 0</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16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300" b="0">
                <a:solidFill>
                  <a:srgbClr val="8397AB"/>
                </a:solidFill>
              </a:rPr>
              <a:t>python3 migrate_loop.py --provider kiro --reset   ·   2026-10-21 · macOS · kiro-cli 2.32.0</a:t>
            </a:r>
          </a:p>
        </p:txBody>
      </p:sp>
      <p:sp>
        <p:nvSpPr>
          <p:cNvPr id="7" name="TextBox 6"/>
          <p:cNvSpPr txBox="1"/>
          <p:nvPr/>
        </p:nvSpPr>
        <p:spPr>
          <a:xfrm>
            <a:off x="868680" y="1755648"/>
            <a:ext cx="10515600" cy="685800"/>
          </a:xfrm>
          <a:prstGeom prst="rect">
            <a:avLst/>
          </a:prstGeom>
          <a:noFill/>
        </p:spPr>
        <p:txBody>
          <a:bodyPr wrap="square">
            <a:spAutoFit/>
          </a:bodyPr>
          <a:lstStyle/>
          <a:p>
            <a:pPr algn="ctr"/>
            <a:r>
              <a:rPr sz="4000" b="1">
                <a:solidFill>
                  <a:srgbClr val="31D3B1"/>
                </a:solidFill>
              </a:rPr>
              <a:t>6 → 5 → 4 → 3 → 2 → 1 → 0</a:t>
            </a:r>
          </a:p>
        </p:txBody>
      </p:sp>
      <p:sp>
        <p:nvSpPr>
          <p:cNvPr id="8" name="Rounded Rectangle 7"/>
          <p:cNvSpPr/>
          <p:nvPr/>
        </p:nvSpPr>
        <p:spPr>
          <a:xfrm>
            <a:off x="868680" y="2514600"/>
            <a:ext cx="10515600" cy="2240280"/>
          </a:xfrm>
          <a:prstGeom prst="roundRect">
            <a:avLst>
              <a:gd name="adj" fmla="val 6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200"/>
              </a:spcAft>
            </a:pPr>
            <a:r>
              <a:rPr sz="1200" b="0">
                <a:solidFill>
                  <a:srgbClr val="CFDEEB"/>
                </a:solidFill>
                <a:latin typeface="Menlo"/>
                <a:ea typeface="Apple SD Gothic Neo"/>
              </a:rPr>
              <a:t>[SENSOR] legacy files 6/6 · tests PASS</a:t>
            </a:r>
          </a:p>
          <a:p>
            <a:pPr algn="l">
              <a:spcAft>
                <a:spcPts val="200"/>
              </a:spcAft>
            </a:pPr>
            <a:r>
              <a:rPr sz="1200" b="0">
                <a:solidFill>
                  <a:srgbClr val="31D3B1"/>
                </a:solidFill>
                <a:latin typeface="Menlo"/>
                <a:ea typeface="Apple SD Gothic Neo"/>
              </a:rPr>
              <a:t>[LOOP 1/12] target=AgeCalculator.java — NEW kiro session, no human input</a:t>
            </a:r>
          </a:p>
          <a:p>
            <a:pPr algn="l">
              <a:spcAft>
                <a:spcPts val="200"/>
              </a:spcAft>
            </a:pPr>
            <a:r>
              <a:rPr sz="1200" b="0">
                <a:solidFill>
                  <a:srgbClr val="8397AB"/>
                </a:solidFill>
                <a:latin typeface="Menlo"/>
                <a:ea typeface="Apple SD Gothic Neo"/>
              </a:rPr>
              <a:t>[AGENT] exit=0 (28.1s) · changed: AgeCalculator.java. Agent claim is NOT trusted</a:t>
            </a:r>
          </a:p>
          <a:p>
            <a:pPr algn="l">
              <a:spcAft>
                <a:spcPts val="200"/>
              </a:spcAft>
            </a:pPr>
            <a:r>
              <a:rPr sz="1200" b="0">
                <a:solidFill>
                  <a:srgbClr val="4ADE80"/>
                </a:solidFill>
                <a:latin typeface="Menlo"/>
                <a:ea typeface="Apple SD Gothic Neo"/>
              </a:rPr>
              <a:t>[GATE] tests PASS · sensor: AgeCalculator.java clean → ACCEPT   legacy files 6 → 5</a:t>
            </a:r>
          </a:p>
          <a:p>
            <a:pPr algn="l">
              <a:spcAft>
                <a:spcPts val="200"/>
              </a:spcAft>
            </a:pPr>
            <a:r>
              <a:rPr sz="1200" b="0">
                <a:solidFill>
                  <a:srgbClr val="8397AB"/>
                </a:solidFill>
                <a:latin typeface="Menlo"/>
                <a:ea typeface="Apple SD Gothic Neo"/>
              </a:rPr>
              <a:t>   … loop 2 ~ 5: InvoiceFormatter · LogTimestamp · MeetingTimeConverter · ShippingSchedule …</a:t>
            </a:r>
          </a:p>
          <a:p>
            <a:pPr algn="l">
              <a:spcAft>
                <a:spcPts val="200"/>
              </a:spcAft>
            </a:pPr>
            <a:r>
              <a:rPr sz="1200" b="0">
                <a:solidFill>
                  <a:srgbClr val="31D3B1"/>
                </a:solidFill>
                <a:latin typeface="Menlo"/>
                <a:ea typeface="Apple SD Gothic Neo"/>
              </a:rPr>
              <a:t>[LOOP 6/12] target=SubscriptionPeriod.java — NEW kiro session, no human input</a:t>
            </a:r>
          </a:p>
          <a:p>
            <a:pPr algn="l">
              <a:spcAft>
                <a:spcPts val="200"/>
              </a:spcAft>
            </a:pPr>
            <a:r>
              <a:rPr sz="1200" b="0">
                <a:solidFill>
                  <a:srgbClr val="4ADE80"/>
                </a:solidFill>
                <a:latin typeface="Menlo"/>
                <a:ea typeface="Apple SD Gothic Neo"/>
              </a:rPr>
              <a:t>[GATE] tests PASS · sensor: SubscriptionPeriod.java clean → ACCEPT   legacy files 1 → 0</a:t>
            </a:r>
          </a:p>
          <a:p>
            <a:pPr algn="l">
              <a:spcAft>
                <a:spcPts val="200"/>
              </a:spcAft>
            </a:pPr>
            <a:r>
              <a:rPr sz="1200" b="0">
                <a:solidFill>
                  <a:srgbClr val="4ADE80"/>
                </a:solidFill>
                <a:latin typeface="Menlo"/>
                <a:ea typeface="Apple SD Gothic Neo"/>
              </a:rPr>
              <a:t>RESULT=DONE  agent sessions=6  (146s)  ·  ALL 28 BEHAVIOR CHECKS PASSED</a:t>
            </a:r>
          </a:p>
        </p:txBody>
      </p:sp>
      <p:sp>
        <p:nvSpPr>
          <p:cNvPr id="9" name="Rounded Rectangle 8"/>
          <p:cNvSpPr/>
          <p:nvPr/>
        </p:nvSpPr>
        <p:spPr>
          <a:xfrm>
            <a:off x="868680" y="4937760"/>
            <a:ext cx="5120640" cy="1005840"/>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5F8FD"/>
                </a:solidFill>
              </a:rPr>
              <a:t>이번 실행: 6개 모두 첫 시도에 ACCEPT</a:t>
            </a:r>
          </a:p>
          <a:p>
            <a:pPr algn="ctr">
              <a:spcAft>
                <a:spcPts val="300"/>
              </a:spcAft>
            </a:pPr>
            <a:r>
              <a:rPr sz="1200" b="0">
                <a:solidFill>
                  <a:srgbClr val="8397AB"/>
                </a:solidFill>
              </a:rPr>
              <a:t>재시도는 없었다 · 되돌림 → 재시도 흐름은 리허설(스크립트, AI 아님)로 확인</a:t>
            </a:r>
          </a:p>
        </p:txBody>
      </p:sp>
      <p:sp>
        <p:nvSpPr>
          <p:cNvPr id="10" name="Rounded Rectangle 9"/>
          <p:cNvSpPr/>
          <p:nvPr/>
        </p:nvSpPr>
        <p:spPr>
          <a:xfrm>
            <a:off x="6263640" y="4937760"/>
            <a:ext cx="5120640" cy="1005840"/>
          </a:xfrm>
          <a:prstGeom prst="roundRect">
            <a:avLst>
              <a:gd name="adj" fmla="val 6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ACC15"/>
                </a:solidFill>
              </a:rPr>
              <a:t>만들면서 배운 것</a:t>
            </a:r>
          </a:p>
          <a:p>
            <a:pPr algn="ctr">
              <a:spcAft>
                <a:spcPts val="300"/>
              </a:spcAft>
            </a:pPr>
            <a:r>
              <a:rPr sz="1200" b="0">
                <a:solidFill>
                  <a:srgbClr val="CFDEEB"/>
                </a:solidFill>
              </a:rPr>
              <a:t>작업 폴더를 저장소 안에 두자 Kiro가 진짜 소스를 찾아 고쳤다 → 폴더 분리 + 되돌림 안전장치</a:t>
            </a:r>
          </a:p>
        </p:txBody>
      </p:sp>
      <p:sp>
        <p:nvSpPr>
          <p:cNvPr id="11" name="TextBox 10"/>
          <p:cNvSpPr txBox="1"/>
          <p:nvPr/>
        </p:nvSpPr>
        <p:spPr>
          <a:xfrm>
            <a:off x="868680" y="6080760"/>
            <a:ext cx="10515600" cy="256032"/>
          </a:xfrm>
          <a:prstGeom prst="rect">
            <a:avLst/>
          </a:prstGeom>
          <a:noFill/>
        </p:spPr>
        <p:txBody>
          <a:bodyPr wrap="square">
            <a:spAutoFit/>
          </a:bodyPr>
          <a:lstStyle/>
          <a:p>
            <a:r>
              <a:rPr sz="1000" b="0">
                <a:solidFill>
                  <a:srgbClr val="8397AB"/>
                </a:solidFill>
              </a:rPr>
              <a:t>기록: docs/captures/migration/ (브랜치 feature/migration-loop) · 터미널 출력 일부 생략(…)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21</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18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19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20 / 21</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21 / 21</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