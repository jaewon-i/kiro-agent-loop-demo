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 주의: 이 대응표는 발표자의 해석이다. Mistele 발표가 이 데모를 다룬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9" name="TextBox 8"/>
          <p:cNvSpPr txBox="1"/>
          <p:nvPr/>
        </p:nvSpPr>
        <p:spPr>
          <a:xfrm>
            <a:off x="868680" y="6080760"/>
            <a:ext cx="10515600" cy="256032"/>
          </a:xfrm>
          <a:prstGeom prst="rect">
            <a:avLst/>
          </a:prstGeom>
          <a:noFill/>
        </p:spPr>
        <p:txBody>
          <a:bodyPr wrap="square">
            <a:spAutoFit/>
          </a:bodyPr>
          <a:lstStyle/>
          <a:p>
            <a:r>
              <a:rPr sz="1000" b="0">
                <a:solidFill>
                  <a:srgbClr val="8397AB"/>
                </a:solidFill>
              </a:rPr>
              <a:t>제어 루프 요소와 온도조절기 예시: Kyle Mistele 발표 · 각 칸의 구체적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572000"/>
          </a:xfrm>
          <a:prstGeom prst="rect">
            <a:avLst/>
          </a:prstGeom>
          <a:noFill/>
        </p:spPr>
        <p:txBody>
          <a:bodyPr wrap="square">
            <a:spAutoFit/>
          </a:bodyPr>
          <a:lstStyle/>
          <a:p>
            <a:pPr>
              <a:spcAft>
                <a:spcPts val="0"/>
              </a:spcAft>
            </a:pPr>
            <a:r>
              <a:rPr sz="1300" b="1">
                <a:solidFill>
                  <a:srgbClr val="F5F8FD"/>
                </a:solidFill>
              </a:rPr>
              <a:t>swyx — The Highest Loop (AI Engineer World's Fair 2026 오프닝 키노트)</a:t>
            </a:r>
          </a:p>
          <a:p>
            <a:pPr>
              <a:spcAft>
                <a:spcPts val="500"/>
              </a:spcAft>
            </a:pPr>
            <a:r>
              <a:rPr sz="1000" b="0">
                <a:solidFill>
                  <a:srgbClr val="31D3B1"/>
                </a:solidFill>
                <a:hlinkClick r:id="rId3"/>
              </a:rPr>
              <a:t>https://github-main-preview.ai.engineer/talks/Fva8hFosqyQ-highest-loop-swyx</a:t>
            </a:r>
          </a:p>
          <a:p>
            <a:pPr>
              <a:spcAft>
                <a:spcPts val="0"/>
              </a:spcAft>
            </a:pPr>
            <a:r>
              <a:rPr sz="1300" b="1">
                <a:solidFill>
                  <a:srgbClr val="F5F8FD"/>
                </a:solidFill>
              </a:rPr>
              <a:t>Kyle Mistele — Loop Engineering from First Principles</a:t>
            </a:r>
          </a:p>
          <a:p>
            <a:pPr>
              <a:spcAft>
                <a:spcPts val="500"/>
              </a:spcAft>
            </a:pPr>
            <a:r>
              <a:rPr sz="1000" b="0">
                <a:solidFill>
                  <a:srgbClr val="31D3B1"/>
                </a:solidFill>
                <a:hlinkClick r:id="rId4"/>
              </a:rPr>
              <a:t>https://github-main-preview.ai.engineer/talks/xIt_mTQp6mY-loop-engineering-from-first-principles</a:t>
            </a:r>
          </a:p>
          <a:p>
            <a:pPr>
              <a:spcAft>
                <a:spcPts val="0"/>
              </a:spcAft>
            </a:pPr>
            <a:r>
              <a:rPr sz="1300" b="1">
                <a:solidFill>
                  <a:srgbClr val="F5F8FD"/>
                </a:solidFill>
              </a:rPr>
              <a:t>Latent Space — AIEWF Daily Dispatch: Loops, Software Factories &amp; FDEs (2026-07-01)</a:t>
            </a:r>
          </a:p>
          <a:p>
            <a:pPr>
              <a:spcAft>
                <a:spcPts val="500"/>
              </a:spcAft>
            </a:pPr>
            <a:r>
              <a:rPr sz="1000" b="0">
                <a:solidFill>
                  <a:srgbClr val="31D3B1"/>
                </a:solidFill>
                <a:hlinkClick r:id="rId5"/>
              </a:rPr>
              <a:t>https://www.latent.space/p/aiewf-daily-dispatch-loops</a:t>
            </a:r>
          </a:p>
          <a:p>
            <a:pPr>
              <a:spcAft>
                <a:spcPts val="0"/>
              </a:spcAft>
            </a:pPr>
            <a:r>
              <a:rPr sz="1300" b="1">
                <a:solidFill>
                  <a:srgbClr val="F5F8FD"/>
                </a:solidFill>
              </a:rPr>
              <a:t>Latent Space — The great loops debate and the state of AI engineering (2026-07-03)</a:t>
            </a:r>
          </a:p>
          <a:p>
            <a:pPr>
              <a:spcAft>
                <a:spcPts val="500"/>
              </a:spcAft>
            </a:pPr>
            <a:r>
              <a:rPr sz="1000" b="0">
                <a:solidFill>
                  <a:srgbClr val="31D3B1"/>
                </a:solidFill>
                <a:hlinkClick r:id="rId6"/>
              </a:rPr>
              <a:t>https://www.latent.space/p/aiewf-daily-dispatch-locomotives</a:t>
            </a:r>
          </a:p>
          <a:p>
            <a:pPr>
              <a:spcAft>
                <a:spcPts val="0"/>
              </a:spcAft>
            </a:pPr>
            <a:r>
              <a:rPr sz="1300" b="1">
                <a:solidFill>
                  <a:srgbClr val="F5F8FD"/>
                </a:solidFill>
              </a:rPr>
              <a:t>Business Insider — Forget prompt engineering: ‘Loop engineering’ is all the rage now (2026-06-20)</a:t>
            </a:r>
          </a:p>
          <a:p>
            <a:pPr>
              <a:spcAft>
                <a:spcPts val="500"/>
              </a:spcAft>
            </a:pPr>
            <a:r>
              <a:rPr sz="1000" b="0">
                <a:solidFill>
                  <a:srgbClr val="31D3B1"/>
                </a:solidFill>
                <a:hlinkClick r:id="rId7"/>
              </a:rPr>
              <a:t>https://www.businessinsider.com/what-are-loops-ai-engineering-tips-2026-6</a:t>
            </a:r>
          </a:p>
          <a:p>
            <a:pPr>
              <a:spcAft>
                <a:spcPts val="0"/>
              </a:spcAft>
            </a:pPr>
            <a:r>
              <a:rPr sz="1300" b="1">
                <a:solidFill>
                  <a:srgbClr val="F5F8FD"/>
                </a:solidFill>
              </a:rPr>
              <a:t>Addy Osmani — Own the Outer Loop (AIEWF 2026 키노트 글 버전, 2026-07-15)</a:t>
            </a:r>
          </a:p>
          <a:p>
            <a:pPr>
              <a:spcAft>
                <a:spcPts val="500"/>
              </a:spcAft>
            </a:pPr>
            <a:r>
              <a:rPr sz="1000" b="0">
                <a:solidFill>
                  <a:srgbClr val="31D3B1"/>
                </a:solidFill>
                <a:hlinkClick r:id="rId13"/>
              </a:rPr>
              <a:t>https://addyosmani.com/blog/own-the-outer-loop/</a:t>
            </a:r>
          </a:p>
          <a:p>
            <a:pPr>
              <a:spcAft>
                <a:spcPts val="0"/>
              </a:spcAft>
            </a:pPr>
            <a:r>
              <a:rPr sz="1300" b="1">
                <a:solidFill>
                  <a:srgbClr val="F5F8FD"/>
                </a:solidFill>
              </a:rPr>
              <a:t>Latent Space — Autoresearch and the tension between AI and human agency (2026-07-02)</a:t>
            </a:r>
          </a:p>
          <a:p>
            <a:pPr>
              <a:spcAft>
                <a:spcPts val="500"/>
              </a:spcAft>
            </a:pPr>
            <a:r>
              <a:rPr sz="1000" b="0">
                <a:solidFill>
                  <a:srgbClr val="31D3B1"/>
                </a:solidFill>
                <a:hlinkClick r:id="rId14"/>
              </a:rPr>
              <a:t>https://www.latent.space/p/aiewf-daily-dispatch-agency</a:t>
            </a:r>
          </a:p>
          <a:p>
            <a:pPr>
              <a:spcAft>
                <a:spcPts val="0"/>
              </a:spcAft>
            </a:pPr>
            <a:r>
              <a:rPr sz="1300" b="1">
                <a:solidFill>
                  <a:srgbClr val="F5F8FD"/>
                </a:solidFill>
              </a:rPr>
              <a:t>Shawn Greyling — Loop engineering: from the inner loop to the outer loop (2026-06-14)</a:t>
            </a:r>
          </a:p>
          <a:p>
            <a:pPr>
              <a:spcAft>
                <a:spcPts val="500"/>
              </a:spcAft>
            </a:pPr>
            <a:r>
              <a:rPr sz="1000" b="0">
                <a:solidFill>
                  <a:srgbClr val="31D3B1"/>
                </a:solidFill>
                <a:hlinkClick r:id="rId12"/>
              </a:rPr>
              <a:t>https://www.shawngreyling.com/blog/loop-engineering</a:t>
            </a:r>
          </a:p>
          <a:p>
            <a:pPr>
              <a:spcAft>
                <a:spcPts val="0"/>
              </a:spcAft>
            </a:pPr>
            <a:r>
              <a:rPr sz="1300" b="1">
                <a:solidFill>
                  <a:srgbClr val="F5F8FD"/>
                </a:solidFill>
              </a:rPr>
              <a:t>Philipp Schmid — Agents: Inner Loop vs Outer Loop (2026-02-20)</a:t>
            </a:r>
          </a:p>
          <a:p>
            <a:pPr>
              <a:spcAft>
                <a:spcPts val="500"/>
              </a:spcAft>
            </a:pPr>
            <a:r>
              <a:rPr sz="1000" b="0">
                <a:solidFill>
                  <a:srgbClr val="31D3B1"/>
                </a:solidFill>
                <a:hlinkClick r:id="rId10"/>
              </a:rPr>
              <a:t>https://www.philschmid.de/inner-loop-vs-outer-loop</a:t>
            </a:r>
          </a:p>
          <a:p>
            <a:pPr>
              <a:spcAft>
                <a:spcPts val="0"/>
              </a:spcAft>
            </a:pPr>
            <a:r>
              <a:rPr sz="1300" b="1">
                <a:solidFill>
                  <a:srgbClr val="F5F8FD"/>
                </a:solidFill>
              </a:rPr>
              <a:t>The AI Automators — The 4 Levels of Loop Engineering (2026-07)</a:t>
            </a:r>
          </a:p>
          <a:p>
            <a:pPr>
              <a:spcAft>
                <a:spcPts val="500"/>
              </a:spcAft>
            </a:pPr>
            <a:r>
              <a:rPr sz="1000" b="0">
                <a:solidFill>
                  <a:srgbClr val="31D3B1"/>
                </a:solidFill>
                <a:hlinkClick r:id="rId11"/>
              </a:rPr>
              <a:t>https://www.theaiautomators.com/levels-of-loop-engineering/</a:t>
            </a:r>
          </a:p>
          <a:p>
            <a:pPr>
              <a:spcAft>
                <a:spcPts val="0"/>
              </a:spcAft>
            </a:pPr>
            <a:r>
              <a:rPr sz="1300" b="1">
                <a:solidFill>
                  <a:srgbClr val="F5F8FD"/>
                </a:solidFill>
              </a:rPr>
              <a:t>Kiro CLI — headless / non-interactive 실행</a:t>
            </a:r>
          </a:p>
          <a:p>
            <a:pPr>
              <a:spcAft>
                <a:spcPts val="500"/>
              </a:spcAft>
            </a:pPr>
            <a:r>
              <a:rPr sz="1000" b="0">
                <a:solidFill>
                  <a:srgbClr val="31D3B1"/>
                </a:solidFill>
                <a:hlinkClick r:id="rId8"/>
              </a:rPr>
              <a:t>https://kiro.dev/docs/cli/headless/</a:t>
            </a:r>
          </a:p>
          <a:p>
            <a:pPr>
              <a:spcAft>
                <a:spcPts val="0"/>
              </a:spcAft>
            </a:pPr>
            <a:r>
              <a:rPr sz="1300" b="1">
                <a:solidFill>
                  <a:srgbClr val="F5F8FD"/>
                </a:solidFill>
              </a:rPr>
              <a:t>데모 저장소 — Java + Kiro CLI Outer Loop</a:t>
            </a:r>
          </a:p>
          <a:p>
            <a:pPr>
              <a:spcAft>
                <a:spcPts val="500"/>
              </a:spcAft>
            </a:pPr>
            <a:r>
              <a:rPr sz="10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