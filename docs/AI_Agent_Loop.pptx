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 평소 쓰는 Kiro나 Claude Code도 이미 루프를 돈다. 한 세션 안에서 모델이 도구를 호출하고 결과를 보고 다시 판단하는 반복이 Inner Loop. 그래서 한 번의 프롬프트로 개발·테스트·수정이 다 끝날 수도 있고, 그게 정상이다. "기존 Kiro는 반복을 못 한다"는 사실이 아니다. 차이는 누가 끝을 정하느냐. Inner Loop는 AI가 스스로 완료라고 판단하면 끝난다. Outer Loop는 세션 바깥의 프로그램이 독립적으로 검증하고, 실패하면 사람 개입 없이 새 세션을 시작한다. 오늘 데모는 Outer Loop. [용어 출처] Inner/Outer Loop는 Fair 발표 용어가 아니라 업계 글에서 쓰는 용어다. Philipp Schmid(2026-02-20): inner loop = 한 작업 안에서 에이전트가 코드 작성→테스트→수정 후 응답, outer loop = 여러 턴·세션에 걸쳐 배운 것을 유지(AGENTS.md, 스킬, 핸드오프 문서). The AI Automators(2026-07): 에이전트 자신의 반복이 inner loop이고, loop engineering은 보통 그 바깥에 두는 outer loop — 언제 다시 시작할지, 진행을 어떻게 평가할지, 어떤 피드백을 줄지, 언제 멈출지를 정한다. 오늘 데모는 두 번째 정의에 가깝다. 실패 로그를 다음 세션에 넘기는 점에서 Schmid의 "세션 간 상태 유지"도 일부 해당한다. Shawn Greyling(2026-06-14)의 정의가 데모와 가장 가깝다: 에이전트는 이미 내부적으로 루프를 돈다(ReAct: 추론→행동→관찰). Outer loop는 그 한 단계 위에서 에이전트를 실행하고, 결과를 검사하고, 상태를 저장하고, 다음 사이클을 시작한다. 한 프롬프트로 끝날 수도 있다 — 그게 정상이고, 오늘 보여줄 것은 그 바깥의 Outer Loop다.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제어 루프 그림에 데모를 그대로 대응시킨 표. 목표값은 테스트 7개 PASS, 센서는 verify.py, 컨트롤러는 loop.py, 실행기가 Kiro CLI. 즉 AI는 실행기 한 칸일 뿐이고, 판정은 AI가 아닌 센서와 컨트롤러가 한다. 정확히 말하면 이것은 swyx 계단의 Goal Loop 하나를 외부 Controller로 구현한 사례이지, Software Factory 전체가 아니다. 주의: 이 대응표는 발표자의 해석이다. Mistele 발표가 이 데모를 다룬 것은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날 패널. 사회 Allie Howe. 찬성: Ralph Loop 창시자 Geoffrey Huntley, Keycard CEO Ian Livingstone. 신중론: HumanLayer의 Dex Horthy, Subroutine의 Greg Pstrucha. Horthy도 루프 자체를 반대하지 않았다 — Kubernetes도 제어 루프로 돌지만 결정적 루프다. 문제는 과대광고가 규율을 앞지른 것. 그의 조언: 작게 시작해서 직관을 쌓아라. Pstrucha는 비용 지속성 우려. Huntley조차 소프트웨어 팩토리는 아직 시장에서 풀리지 않은 문제라고 했다. 같은 날 발표된 Amplify 설문: 에이전트 사용 95%(전년 약 2배), 에이전트가 데이터를 쓸 수 있는 팀 89%, AI 생성 코드가 장기 부채라는 우려 59%, AI 비용이 사용을 정기적으로 제한한다 40%. "에이전트 통제 계층은 아직 누구도 정립하지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“The inner loop: the agent thinks. The outer loop: you design the machine that runs it.” — Shawn Greyling</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Shawn Greyling “Loop engineering: from the inner loop to the outer loop” (2026-06-14) · Philipp Schmid “Agents: Inner Loop vs Outer Loop” (2026-02-20) — 정의는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제어 루프의 각 칸에 데모 구성 요소를 대응시키면</a:t>
            </a:r>
          </a:p>
        </p:txBody>
      </p:sp>
      <p:graphicFrame>
        <p:nvGraphicFramePr>
          <p:cNvPr id="6" name="Table 5"/>
          <p:cNvGraphicFramePr>
            <a:graphicFrameLocks noGrp="1"/>
          </p:cNvGraphicFramePr>
          <p:nvPr/>
        </p:nvGraphicFramePr>
        <p:xfrm>
          <a:off x="868680" y="1828800"/>
          <a:ext cx="10515600" cy="3200400"/>
        </p:xfrm>
        <a:graphic>
          <a:graphicData uri="http://schemas.openxmlformats.org/drawingml/2006/table">
            <a:tbl>
              <a:tblPr firstRow="0" bandRow="0">
                <a:tableStyleId>{5C22544A-7EE6-4342-B048-85BDC9FD1C3A}</a:tableStyleId>
              </a:tblPr>
              <a:tblGrid>
                <a:gridCol w="2651760"/>
                <a:gridCol w="2011680"/>
                <a:gridCol w="5852160"/>
              </a:tblGrid>
              <a:tr h="457200">
                <a:tc>
                  <a:txBody>
                    <a:bodyPr/>
                    <a:lstStyle/>
                    <a:p>
                      <a:r>
                        <a:rPr sz="1300" b="1">
                          <a:solidFill>
                            <a:srgbClr val="F5F8FD"/>
                          </a:solidFill>
                        </a:rPr>
                        <a:t>제어 루프 요소</a:t>
                      </a:r>
                    </a:p>
                  </a:txBody>
                  <a:tcPr anchor="ctr" marL="137160" marR="137160" marT="0" marB="0">
                    <a:solidFill>
                      <a:srgbClr val="2A3B52"/>
                    </a:solidFill>
                  </a:tcPr>
                </a:tc>
                <a:tc>
                  <a:txBody>
                    <a:bodyPr/>
                    <a:lstStyle/>
                    <a:p>
                      <a:r>
                        <a:rPr sz="1300" b="1">
                          <a:solidFill>
                            <a:srgbClr val="F5F8FD"/>
                          </a:solidFill>
                        </a:rPr>
                        <a:t>온도조절기</a:t>
                      </a:r>
                    </a:p>
                  </a:txBody>
                  <a:tcPr anchor="ctr" marL="137160" marR="137160" marT="0" marB="0">
                    <a:solidFill>
                      <a:srgbClr val="2A3B52"/>
                    </a:solidFill>
                  </a:tcPr>
                </a:tc>
                <a:tc>
                  <a:txBody>
                    <a:bodyPr/>
                    <a:lstStyle/>
                    <a:p>
                      <a:r>
                        <a:rPr sz="1300" b="1">
                          <a:solidFill>
                            <a:srgbClr val="F5F8FD"/>
                          </a:solidFill>
                        </a:rPr>
                        <a:t>우리 데모 (Kiro Outer Loop)</a:t>
                      </a:r>
                    </a:p>
                  </a:txBody>
                  <a:tcPr anchor="ctr" marL="137160" marR="137160" marT="0" marB="0">
                    <a:solidFill>
                      <a:srgbClr val="2A3B52"/>
                    </a:solidFill>
                  </a:tcPr>
                </a:tc>
              </a:tr>
              <a:tr h="457200">
                <a:tc>
                  <a:txBody>
                    <a:bodyPr/>
                    <a:lstStyle/>
                    <a:p>
                      <a:r>
                        <a:rPr sz="1500" b="1">
                          <a:solidFill>
                            <a:srgbClr val="CFDEEB"/>
                          </a:solidFill>
                        </a:rPr>
                        <a:t>목표값  Set point</a:t>
                      </a:r>
                    </a:p>
                  </a:txBody>
                  <a:tcPr anchor="ctr" marL="137160" marR="137160" marT="0" marB="0">
                    <a:solidFill>
                      <a:srgbClr val="162236"/>
                    </a:solidFill>
                  </a:tcPr>
                </a:tc>
                <a:tc>
                  <a:txBody>
                    <a:bodyPr/>
                    <a:lstStyle/>
                    <a:p>
                      <a:r>
                        <a:rPr sz="1500" b="0">
                          <a:solidFill>
                            <a:srgbClr val="8397AB"/>
                          </a:solidFill>
                        </a:rPr>
                        <a:t>24°C</a:t>
                      </a:r>
                    </a:p>
                  </a:txBody>
                  <a:tcPr anchor="ctr" marL="137160" marR="137160" marT="0" marB="0">
                    <a:solidFill>
                      <a:srgbClr val="162236"/>
                    </a:solidFill>
                  </a:tcPr>
                </a:tc>
                <a:tc>
                  <a:txBody>
                    <a:bodyPr/>
                    <a:lstStyle/>
                    <a:p>
                      <a:r>
                        <a:rPr sz="1500" b="0">
                          <a:solidFill>
                            <a:srgbClr val="CFDEEB"/>
                          </a:solidFill>
                        </a:rPr>
                        <a:t>테스트 7개 모두 PASS</a:t>
                      </a:r>
                    </a:p>
                  </a:txBody>
                  <a:tcPr anchor="ctr" marL="137160" marR="137160" marT="0" marB="0">
                    <a:solidFill>
                      <a:srgbClr val="162236"/>
                    </a:solidFill>
                  </a:tcPr>
                </a:tc>
              </a:tr>
              <a:tr h="457200">
                <a:tc>
                  <a:txBody>
                    <a:bodyPr/>
                    <a:lstStyle/>
                    <a:p>
                      <a:r>
                        <a:rPr sz="1500" b="1">
                          <a:solidFill>
                            <a:srgbClr val="CFDEEB"/>
                          </a:solidFill>
                        </a:rPr>
                        <a:t>센서  Sensor</a:t>
                      </a:r>
                    </a:p>
                  </a:txBody>
                  <a:tcPr anchor="ctr" marL="137160" marR="137160" marT="0" marB="0">
                    <a:solidFill>
                      <a:srgbClr val="162236"/>
                    </a:solidFill>
                  </a:tcPr>
                </a:tc>
                <a:tc>
                  <a:txBody>
                    <a:bodyPr/>
                    <a:lstStyle/>
                    <a:p>
                      <a:r>
                        <a:rPr sz="1500" b="0">
                          <a:solidFill>
                            <a:srgbClr val="8397AB"/>
                          </a:solidFill>
                        </a:rPr>
                        <a:t>온도계</a:t>
                      </a:r>
                    </a:p>
                  </a:txBody>
                  <a:tcPr anchor="ctr" marL="137160" marR="137160" marT="0" marB="0">
                    <a:solidFill>
                      <a:srgbClr val="162236"/>
                    </a:solidFill>
                  </a:tcPr>
                </a:tc>
                <a:tc>
                  <a:txBody>
                    <a:bodyPr/>
                    <a:lstStyle/>
                    <a:p>
                      <a:r>
                        <a:rPr sz="1500" b="0">
                          <a:solidFill>
                            <a:srgbClr val="CFDEEB"/>
                          </a:solidFill>
                        </a:rPr>
                        <a:t>verify.py — Java 컴파일 + 테스트 실행</a:t>
                      </a:r>
                    </a:p>
                  </a:txBody>
                  <a:tcPr anchor="ctr" marL="137160" marR="137160" marT="0" marB="0">
                    <a:solidFill>
                      <a:srgbClr val="162236"/>
                    </a:solidFill>
                  </a:tcPr>
                </a:tc>
              </a:tr>
              <a:tr h="457200">
                <a:tc>
                  <a:txBody>
                    <a:bodyPr/>
                    <a:lstStyle/>
                    <a:p>
                      <a:r>
                        <a:rPr sz="1500" b="1">
                          <a:solidFill>
                            <a:srgbClr val="CFDEEB"/>
                          </a:solidFill>
                        </a:rPr>
                        <a:t>컨트롤러  Controller</a:t>
                      </a:r>
                    </a:p>
                  </a:txBody>
                  <a:tcPr anchor="ctr" marL="137160" marR="137160" marT="0" marB="0">
                    <a:solidFill>
                      <a:srgbClr val="162236"/>
                    </a:solidFill>
                  </a:tcPr>
                </a:tc>
                <a:tc>
                  <a:txBody>
                    <a:bodyPr/>
                    <a:lstStyle/>
                    <a:p>
                      <a:r>
                        <a:rPr sz="1500" b="0">
                          <a:solidFill>
                            <a:srgbClr val="8397AB"/>
                          </a:solidFill>
                        </a:rPr>
                        <a:t>판단 회로</a:t>
                      </a:r>
                    </a:p>
                  </a:txBody>
                  <a:tcPr anchor="ctr" marL="137160" marR="137160" marT="0" marB="0">
                    <a:solidFill>
                      <a:srgbClr val="162236"/>
                    </a:solidFill>
                  </a:tcPr>
                </a:tc>
                <a:tc>
                  <a:txBody>
                    <a:bodyPr/>
                    <a:lstStyle/>
                    <a:p>
                      <a:r>
                        <a:rPr sz="1500" b="0">
                          <a:solidFill>
                            <a:srgbClr val="31D3B1"/>
                          </a:solidFill>
                        </a:rPr>
                        <a:t>loop.py — 일반 if문 (AI 아님)</a:t>
                      </a:r>
                    </a:p>
                  </a:txBody>
                  <a:tcPr anchor="ctr" marL="137160" marR="137160" marT="0" marB="0">
                    <a:solidFill>
                      <a:srgbClr val="162236"/>
                    </a:solidFill>
                  </a:tcPr>
                </a:tc>
              </a:tr>
              <a:tr h="457200">
                <a:tc>
                  <a:txBody>
                    <a:bodyPr/>
                    <a:lstStyle/>
                    <a:p>
                      <a:r>
                        <a:rPr sz="1500" b="1">
                          <a:solidFill>
                            <a:srgbClr val="CFDEEB"/>
                          </a:solidFill>
                        </a:rPr>
                        <a:t>실행기  Actuator</a:t>
                      </a:r>
                    </a:p>
                  </a:txBody>
                  <a:tcPr anchor="ctr" marL="137160" marR="137160" marT="0" marB="0">
                    <a:solidFill>
                      <a:srgbClr val="162236"/>
                    </a:solidFill>
                  </a:tcPr>
                </a:tc>
                <a:tc>
                  <a:txBody>
                    <a:bodyPr/>
                    <a:lstStyle/>
                    <a:p>
                      <a:r>
                        <a:rPr sz="1500" b="0">
                          <a:solidFill>
                            <a:srgbClr val="8397AB"/>
                          </a:solidFill>
                        </a:rPr>
                        <a:t>에어컨</a:t>
                      </a:r>
                    </a:p>
                  </a:txBody>
                  <a:tcPr anchor="ctr" marL="137160" marR="137160" marT="0" marB="0">
                    <a:solidFill>
                      <a:srgbClr val="162236"/>
                    </a:solidFill>
                  </a:tcPr>
                </a:tc>
                <a:tc>
                  <a:txBody>
                    <a:bodyPr/>
                    <a:lstStyle/>
                    <a:p>
                      <a:r>
                        <a:rPr sz="1500" b="0">
                          <a:solidFill>
                            <a:srgbClr val="7C5CFF"/>
                          </a:solidFill>
                        </a:rPr>
                        <a:t>Kiro CLI — 코드 수정 (파일 읽기/쓰기만 허용)</a:t>
                      </a:r>
                    </a:p>
                  </a:txBody>
                  <a:tcPr anchor="ctr" marL="137160" marR="137160" marT="0" marB="0">
                    <a:solidFill>
                      <a:srgbClr val="162236"/>
                    </a:solidFill>
                  </a:tcPr>
                </a:tc>
              </a:tr>
              <a:tr h="457200">
                <a:tc>
                  <a:txBody>
                    <a:bodyPr/>
                    <a:lstStyle/>
                    <a:p>
                      <a:r>
                        <a:rPr sz="1500" b="1">
                          <a:solidFill>
                            <a:srgbClr val="CFDEEB"/>
                          </a:solidFill>
                        </a:rPr>
                        <a:t>시스템  System</a:t>
                      </a:r>
                    </a:p>
                  </a:txBody>
                  <a:tcPr anchor="ctr" marL="137160" marR="137160" marT="0" marB="0">
                    <a:solidFill>
                      <a:srgbClr val="162236"/>
                    </a:solidFill>
                  </a:tcPr>
                </a:tc>
                <a:tc>
                  <a:txBody>
                    <a:bodyPr/>
                    <a:lstStyle/>
                    <a:p>
                      <a:r>
                        <a:rPr sz="1500" b="0">
                          <a:solidFill>
                            <a:srgbClr val="8397AB"/>
                          </a:solidFill>
                        </a:rPr>
                        <a:t>방</a:t>
                      </a:r>
                    </a:p>
                  </a:txBody>
                  <a:tcPr anchor="ctr" marL="137160" marR="137160" marT="0" marB="0">
                    <a:solidFill>
                      <a:srgbClr val="162236"/>
                    </a:solidFill>
                  </a:tcPr>
                </a:tc>
                <a:tc>
                  <a:txBody>
                    <a:bodyPr/>
                    <a:lstStyle/>
                    <a:p>
                      <a:r>
                        <a:rPr sz="1500" b="0">
                          <a:solidFill>
                            <a:srgbClr val="CFDEEB"/>
                          </a:solidFill>
                        </a:rPr>
                        <a:t>src/DiscountCalculator.java</a:t>
                      </a:r>
                    </a:p>
                  </a:txBody>
                  <a:tcPr anchor="ctr" marL="137160" marR="137160" marT="0" marB="0">
                    <a:solidFill>
                      <a:srgbClr val="162236"/>
                    </a:solidFill>
                  </a:tcPr>
                </a:tc>
              </a:tr>
              <a:tr h="457200">
                <a:tc>
                  <a:txBody>
                    <a:bodyPr/>
                    <a:lstStyle/>
                    <a:p>
                      <a:r>
                        <a:rPr sz="1500" b="1">
                          <a:solidFill>
                            <a:srgbClr val="CFDEEB"/>
                          </a:solidFill>
                        </a:rPr>
                        <a:t>안전장치</a:t>
                      </a:r>
                    </a:p>
                  </a:txBody>
                  <a:tcPr anchor="ctr" marL="137160" marR="137160" marT="0" marB="0">
                    <a:solidFill>
                      <a:srgbClr val="162236"/>
                    </a:solidFill>
                  </a:tcPr>
                </a:tc>
                <a:tc>
                  <a:txBody>
                    <a:bodyPr/>
                    <a:lstStyle/>
                    <a:p>
                      <a:r>
                        <a:rPr sz="1500" b="0">
                          <a:solidFill>
                            <a:srgbClr val="8397AB"/>
                          </a:solidFill>
                        </a:rPr>
                        <a:t>과열 차단</a:t>
                      </a:r>
                    </a:p>
                  </a:txBody>
                  <a:tcPr anchor="ctr" marL="137160" marR="137160" marT="0" marB="0">
                    <a:solidFill>
                      <a:srgbClr val="162236"/>
                    </a:solidFill>
                  </a:tcPr>
                </a:tc>
                <a:tc>
                  <a:txBody>
                    <a:bodyPr/>
                    <a:lstStyle/>
                    <a:p>
                      <a:r>
                        <a:rPr sz="1500" b="0">
                          <a:solidFill>
                            <a:srgbClr val="CFDEEB"/>
                          </a:solidFill>
                        </a:rPr>
                        <a:t>최대 5회 · 세션 300초 · 보호 파일 검사</a:t>
                      </a:r>
                    </a:p>
                  </a:txBody>
                  <a:tcPr anchor="ctr" marL="137160" marR="137160" marT="0" marB="0">
                    <a:solidFill>
                      <a:srgbClr val="162236"/>
                    </a:solidFill>
                  </a:tcPr>
                </a:tc>
              </a:tr>
            </a:tbl>
          </a:graphicData>
        </a:graphic>
      </p:graphicFrame>
      <p:sp>
        <p:nvSpPr>
          <p:cNvPr id="7" name="Rounded Rectangle 6"/>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800" b="1">
                <a:solidFill>
                  <a:srgbClr val="F5F8FD"/>
                </a:solidFill>
              </a:rPr>
              <a:t>AI(Kiro)는 ‘실행기’ 한 칸일 뿐 — 판정은 센서와 컨트롤러가 한다</a:t>
            </a:r>
          </a:p>
          <a:p>
            <a:pPr algn="ctr">
              <a:spcAft>
                <a:spcPts val="200"/>
              </a:spcAft>
            </a:pPr>
            <a:r>
              <a:rPr sz="1300" b="0">
                <a:solidFill>
                  <a:srgbClr val="8397AB"/>
                </a:solidFill>
              </a:rPr>
              <a:t>Goal Loop 하나를 외부 Controller로 구현한 사례이며, Software Factory 전체는 아니다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9" name="TextBox 8"/>
          <p:cNvSpPr txBox="1"/>
          <p:nvPr/>
        </p:nvSpPr>
        <p:spPr>
          <a:xfrm>
            <a:off x="868680" y="6080760"/>
            <a:ext cx="10515600" cy="256032"/>
          </a:xfrm>
          <a:prstGeom prst="rect">
            <a:avLst/>
          </a:prstGeom>
          <a:noFill/>
        </p:spPr>
        <p:txBody>
          <a:bodyPr wrap="square">
            <a:spAutoFit/>
          </a:bodyPr>
          <a:lstStyle/>
          <a:p>
            <a:r>
              <a:rPr sz="1000" b="0">
                <a:solidFill>
                  <a:srgbClr val="8397AB"/>
                </a:solidFill>
              </a:rPr>
              <a:t>제어 루프 요소와 온도조절기 예시: Kyle Mistele 발표 · 각 칸의 구체적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The Great Loops Debate: 아직 논쟁 중</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5" name="TextBox 4"/>
          <p:cNvSpPr txBox="1"/>
          <p:nvPr/>
        </p:nvSpPr>
        <p:spPr>
          <a:xfrm>
            <a:off x="868680" y="1371600"/>
            <a:ext cx="10515600" cy="365760"/>
          </a:xfrm>
          <a:prstGeom prst="rect">
            <a:avLst/>
          </a:prstGeom>
          <a:noFill/>
        </p:spPr>
        <p:txBody>
          <a:bodyPr wrap="square">
            <a:spAutoFit/>
          </a:bodyPr>
          <a:lstStyle/>
          <a:p>
            <a:r>
              <a:rPr sz="1400" b="0">
                <a:solidFill>
                  <a:srgbClr val="8397AB"/>
                </a:solidFill>
              </a:rPr>
              <a:t>마지막 날 패널 · 사회 Allie Howe: “과대광고와 실제로 되는 것 사이에 차이가 있나?”</a:t>
            </a:r>
          </a:p>
        </p:txBody>
      </p:sp>
      <p:sp>
        <p:nvSpPr>
          <p:cNvPr id="6" name="Rounded Rectangle 5"/>
          <p:cNvSpPr/>
          <p:nvPr/>
        </p:nvSpPr>
        <p:spPr>
          <a:xfrm>
            <a:off x="868680" y="1828800"/>
            <a:ext cx="5120640" cy="178308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4ADE80"/>
                </a:solidFill>
              </a:rPr>
              <a:t>찬성 — Geoffrey Huntley · Ian Livingstone</a:t>
            </a:r>
          </a:p>
          <a:p>
            <a:pPr algn="l">
              <a:spcAft>
                <a:spcPts val="600"/>
              </a:spcAft>
            </a:pPr>
            <a:r>
              <a:rPr sz="1500" b="1">
                <a:solidFill>
                  <a:srgbClr val="F5F8FD"/>
                </a:solidFill>
              </a:rPr>
              <a:t>“It's inevitable, it's here to stay.”</a:t>
            </a:r>
          </a:p>
          <a:p>
            <a:pPr algn="l">
              <a:spcAft>
                <a:spcPts val="600"/>
              </a:spcAft>
            </a:pPr>
            <a:r>
              <a:rPr sz="1300" b="0">
                <a:solidFill>
                  <a:srgbClr val="CFDEEB"/>
                </a:solidFill>
              </a:rPr>
              <a:t>피할 수 없고, 계속 남는다 (Huntley)</a:t>
            </a:r>
          </a:p>
          <a:p>
            <a:pPr algn="l">
              <a:spcAft>
                <a:spcPts val="600"/>
              </a:spcAft>
            </a:pPr>
            <a:r>
              <a:rPr sz="1300" b="0">
                <a:solidFill>
                  <a:srgbClr val="CFDEEB"/>
                </a:solidFill>
              </a:rPr>
              <a:t>핵심은 검증 가능성 — 코드가 어떻게 만들어졌든 (Livingstone)</a:t>
            </a:r>
          </a:p>
        </p:txBody>
      </p:sp>
      <p:sp>
        <p:nvSpPr>
          <p:cNvPr id="7" name="Rounded Rectangle 6"/>
          <p:cNvSpPr/>
          <p:nvPr/>
        </p:nvSpPr>
        <p:spPr>
          <a:xfrm>
            <a:off x="6263640" y="1828800"/>
            <a:ext cx="5120640" cy="1783080"/>
          </a:xfrm>
          <a:prstGeom prst="roundRect">
            <a:avLst>
              <a:gd name="adj" fmla="val 8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FACC15"/>
                </a:solidFill>
              </a:rPr>
              <a:t>신중론 — Dex Horthy · Greg Pstrucha</a:t>
            </a:r>
          </a:p>
          <a:p>
            <a:pPr algn="l">
              <a:spcAft>
                <a:spcPts val="600"/>
              </a:spcAft>
            </a:pPr>
            <a:r>
              <a:rPr sz="1500" b="1">
                <a:solidFill>
                  <a:srgbClr val="F5F8FD"/>
                </a:solidFill>
              </a:rPr>
              <a:t>“The hype is outrunning the discipline.”</a:t>
            </a:r>
          </a:p>
          <a:p>
            <a:pPr algn="l">
              <a:spcAft>
                <a:spcPts val="600"/>
              </a:spcAft>
            </a:pPr>
            <a:r>
              <a:rPr sz="1300" b="0">
                <a:solidFill>
                  <a:srgbClr val="CFDEEB"/>
                </a:solidFill>
              </a:rPr>
              <a:t>과대광고가 엔지니어링 규율을 앞지르고 있다 (Horthy)</a:t>
            </a:r>
          </a:p>
          <a:p>
            <a:pPr algn="l">
              <a:spcAft>
                <a:spcPts val="600"/>
              </a:spcAft>
            </a:pPr>
            <a:r>
              <a:rPr sz="1300" b="0">
                <a:solidFill>
                  <a:srgbClr val="CFDEEB"/>
                </a:solidFill>
              </a:rPr>
              <a:t>토큰을 더 사서 문제를 없앨 수는 없다 (Pstrucha)</a:t>
            </a:r>
          </a:p>
          <a:p>
            <a:pPr algn="l">
              <a:spcAft>
                <a:spcPts val="600"/>
              </a:spcAft>
            </a:pPr>
            <a:r>
              <a:rPr sz="1300" b="0">
                <a:solidFill>
                  <a:srgbClr val="FACC15"/>
                </a:solidFill>
              </a:rPr>
              <a:t>→ 작게 시작해서 직관을 쌓아라</a:t>
            </a:r>
          </a:p>
        </p:txBody>
      </p:sp>
      <p:sp>
        <p:nvSpPr>
          <p:cNvPr id="8" name="TextBox 7"/>
          <p:cNvSpPr txBox="1"/>
          <p:nvPr/>
        </p:nvSpPr>
        <p:spPr>
          <a:xfrm>
            <a:off x="868680" y="3840480"/>
            <a:ext cx="10515600" cy="411480"/>
          </a:xfrm>
          <a:prstGeom prst="rect">
            <a:avLst/>
          </a:prstGeom>
          <a:noFill/>
        </p:spPr>
        <p:txBody>
          <a:bodyPr wrap="square">
            <a:spAutoFit/>
          </a:bodyPr>
          <a:lstStyle/>
          <a:p>
            <a:pPr algn="ctr"/>
            <a:r>
              <a:rPr sz="1500" b="0">
                <a:solidFill>
                  <a:srgbClr val="CFDEEB"/>
                </a:solidFill>
              </a:rPr>
              <a:t>“우리는 이제 기관사다. 기차를 레일 위에 유지하는 것이 우리 일이다.” — Geoffrey Huntley</a:t>
            </a:r>
          </a:p>
        </p:txBody>
      </p:sp>
      <p:sp>
        <p:nvSpPr>
          <p:cNvPr id="9" name="Rounded Rectangle 8"/>
          <p:cNvSpPr/>
          <p:nvPr/>
        </p:nvSpPr>
        <p:spPr>
          <a:xfrm>
            <a:off x="86868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95%</a:t>
            </a:r>
          </a:p>
          <a:p>
            <a:pPr algn="ctr"/>
            <a:r>
              <a:rPr sz="1100" b="0">
                <a:solidFill>
                  <a:srgbClr val="CFDEEB"/>
                </a:solidFill>
              </a:rPr>
              <a:t>에이전트 사용 (전년 약 2배)</a:t>
            </a:r>
          </a:p>
        </p:txBody>
      </p:sp>
      <p:sp>
        <p:nvSpPr>
          <p:cNvPr id="10" name="Rounded Rectangle 9"/>
          <p:cNvSpPr/>
          <p:nvPr/>
        </p:nvSpPr>
        <p:spPr>
          <a:xfrm>
            <a:off x="354330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89%</a:t>
            </a:r>
          </a:p>
          <a:p>
            <a:pPr algn="ctr"/>
            <a:r>
              <a:rPr sz="1100" b="0">
                <a:solidFill>
                  <a:srgbClr val="CFDEEB"/>
                </a:solidFill>
              </a:rPr>
              <a:t>에이전트가 데이터 쓰기 가능</a:t>
            </a:r>
          </a:p>
        </p:txBody>
      </p:sp>
      <p:sp>
        <p:nvSpPr>
          <p:cNvPr id="11" name="Rounded Rectangle 10"/>
          <p:cNvSpPr/>
          <p:nvPr/>
        </p:nvSpPr>
        <p:spPr>
          <a:xfrm>
            <a:off x="621792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59%</a:t>
            </a:r>
          </a:p>
          <a:p>
            <a:pPr algn="ctr"/>
            <a:r>
              <a:rPr sz="1100" b="0">
                <a:solidFill>
                  <a:srgbClr val="CFDEEB"/>
                </a:solidFill>
              </a:rPr>
              <a:t>AI 생성 코드의 장기 부채 우려</a:t>
            </a:r>
          </a:p>
        </p:txBody>
      </p:sp>
      <p:sp>
        <p:nvSpPr>
          <p:cNvPr id="12" name="Rounded Rectangle 11"/>
          <p:cNvSpPr/>
          <p:nvPr/>
        </p:nvSpPr>
        <p:spPr>
          <a:xfrm>
            <a:off x="889254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미정</a:t>
            </a:r>
          </a:p>
          <a:p>
            <a:pPr algn="ctr"/>
            <a:r>
              <a:rPr sz="1100" b="0">
                <a:solidFill>
                  <a:srgbClr val="CFDEEB"/>
                </a:solidFill>
              </a:rPr>
              <a:t>에이전트 통제 계층 (아무도 정립 못 함)</a:t>
            </a:r>
          </a:p>
        </p:txBody>
      </p:sp>
      <p:sp>
        <p:nvSpPr>
          <p:cNvPr id="13" name="TextBox 12"/>
          <p:cNvSpPr txBox="1"/>
          <p:nvPr/>
        </p:nvSpPr>
        <p:spPr>
          <a:xfrm>
            <a:off x="868680" y="6053328"/>
            <a:ext cx="10515600" cy="274320"/>
          </a:xfrm>
          <a:prstGeom prst="rect">
            <a:avLst/>
          </a:prstGeom>
          <a:noFill/>
        </p:spPr>
        <p:txBody>
          <a:bodyPr wrap="square">
            <a:spAutoFit/>
          </a:bodyPr>
          <a:lstStyle/>
          <a:p>
            <a:r>
              <a:rPr sz="1000" b="0">
                <a:solidFill>
                  <a:srgbClr val="8397AB"/>
                </a:solidFill>
              </a:rPr>
              <a:t>출처: Latent Space “The great loops debate and the state of AI engineering” (2026-07-03) · 수치: Amplify 2026 AI Engineer Survey (Barr Yaron)</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572000"/>
          </a:xfrm>
          <a:prstGeom prst="rect">
            <a:avLst/>
          </a:prstGeom>
          <a:noFill/>
        </p:spPr>
        <p:txBody>
          <a:bodyPr wrap="square">
            <a:spAutoFit/>
          </a:bodyPr>
          <a:lstStyle/>
          <a:p>
            <a:pPr>
              <a:spcAft>
                <a:spcPts val="0"/>
              </a:spcAft>
            </a:pPr>
            <a:r>
              <a:rPr sz="1300" b="1">
                <a:solidFill>
                  <a:srgbClr val="F5F8FD"/>
                </a:solidFill>
              </a:rPr>
              <a:t>swyx — The Highest Loop (AI Engineer World's Fair 2026 오프닝 키노트)</a:t>
            </a:r>
          </a:p>
          <a:p>
            <a:pPr>
              <a:spcAft>
                <a:spcPts val="700"/>
              </a:spcAft>
            </a:pPr>
            <a:r>
              <a:rPr sz="1000" b="0">
                <a:solidFill>
                  <a:srgbClr val="31D3B1"/>
                </a:solidFill>
                <a:hlinkClick r:id="rId3"/>
              </a:rPr>
              <a:t>https://github-main-preview.ai.engineer/talks/Fva8hFosqyQ-highest-loop-swyx</a:t>
            </a:r>
          </a:p>
          <a:p>
            <a:pPr>
              <a:spcAft>
                <a:spcPts val="0"/>
              </a:spcAft>
            </a:pPr>
            <a:r>
              <a:rPr sz="1300" b="1">
                <a:solidFill>
                  <a:srgbClr val="F5F8FD"/>
                </a:solidFill>
              </a:rPr>
              <a:t>Kyle Mistele — Loop Engineering from First Principles</a:t>
            </a:r>
          </a:p>
          <a:p>
            <a:pPr>
              <a:spcAft>
                <a:spcPts val="700"/>
              </a:spcAft>
            </a:pPr>
            <a:r>
              <a:rPr sz="1000" b="0">
                <a:solidFill>
                  <a:srgbClr val="31D3B1"/>
                </a:solidFill>
                <a:hlinkClick r:id="rId4"/>
              </a:rPr>
              <a:t>https://github-main-preview.ai.engineer/talks/xIt_mTQp6mY-loop-engineering-from-first-principles</a:t>
            </a:r>
          </a:p>
          <a:p>
            <a:pPr>
              <a:spcAft>
                <a:spcPts val="0"/>
              </a:spcAft>
            </a:pPr>
            <a:r>
              <a:rPr sz="1300" b="1">
                <a:solidFill>
                  <a:srgbClr val="F5F8FD"/>
                </a:solidFill>
              </a:rPr>
              <a:t>Latent Space — AIEWF Daily Dispatch: Loops, Software Factories &amp; FDEs (2026-07-01)</a:t>
            </a:r>
          </a:p>
          <a:p>
            <a:pPr>
              <a:spcAft>
                <a:spcPts val="700"/>
              </a:spcAft>
            </a:pPr>
            <a:r>
              <a:rPr sz="1000" b="0">
                <a:solidFill>
                  <a:srgbClr val="31D3B1"/>
                </a:solidFill>
                <a:hlinkClick r:id="rId5"/>
              </a:rPr>
              <a:t>https://www.latent.space/p/aiewf-daily-dispatch-loops</a:t>
            </a:r>
          </a:p>
          <a:p>
            <a:pPr>
              <a:spcAft>
                <a:spcPts val="0"/>
              </a:spcAft>
            </a:pPr>
            <a:r>
              <a:rPr sz="1300" b="1">
                <a:solidFill>
                  <a:srgbClr val="F5F8FD"/>
                </a:solidFill>
              </a:rPr>
              <a:t>Latent Space — The great loops debate and the state of AI engineering (2026-07-03)</a:t>
            </a:r>
          </a:p>
          <a:p>
            <a:pPr>
              <a:spcAft>
                <a:spcPts val="700"/>
              </a:spcAft>
            </a:pPr>
            <a:r>
              <a:rPr sz="1000" b="0">
                <a:solidFill>
                  <a:srgbClr val="31D3B1"/>
                </a:solidFill>
                <a:hlinkClick r:id="rId6"/>
              </a:rPr>
              <a:t>https://www.latent.space/p/aiewf-daily-dispatch-locomotives</a:t>
            </a:r>
          </a:p>
          <a:p>
            <a:pPr>
              <a:spcAft>
                <a:spcPts val="0"/>
              </a:spcAft>
            </a:pPr>
            <a:r>
              <a:rPr sz="1300" b="1">
                <a:solidFill>
                  <a:srgbClr val="F5F8FD"/>
                </a:solidFill>
              </a:rPr>
              <a:t>Business Insider — Forget prompt engineering: ‘Loop engineering’ is all the rage now (2026-06-20)</a:t>
            </a:r>
          </a:p>
          <a:p>
            <a:pPr>
              <a:spcAft>
                <a:spcPts val="700"/>
              </a:spcAft>
            </a:pPr>
            <a:r>
              <a:rPr sz="1000" b="0">
                <a:solidFill>
                  <a:srgbClr val="31D3B1"/>
                </a:solidFill>
                <a:hlinkClick r:id="rId7"/>
              </a:rPr>
              <a:t>https://www.businessinsider.com/what-are-loops-ai-engineering-tips-2026-6</a:t>
            </a:r>
          </a:p>
          <a:p>
            <a:pPr>
              <a:spcAft>
                <a:spcPts val="0"/>
              </a:spcAft>
            </a:pPr>
            <a:r>
              <a:rPr sz="1300" b="1">
                <a:solidFill>
                  <a:srgbClr val="F5F8FD"/>
                </a:solidFill>
              </a:rPr>
              <a:t>Shawn Greyling — Loop engineering: from the inner loop to the outer loop (2026-06-14)</a:t>
            </a:r>
          </a:p>
          <a:p>
            <a:pPr>
              <a:spcAft>
                <a:spcPts val="700"/>
              </a:spcAft>
            </a:pPr>
            <a:r>
              <a:rPr sz="1000" b="0">
                <a:solidFill>
                  <a:srgbClr val="31D3B1"/>
                </a:solidFill>
                <a:hlinkClick r:id="rId12"/>
              </a:rPr>
              <a:t>https://www.shawngreyling.com/blog/loop-engineering</a:t>
            </a:r>
          </a:p>
          <a:p>
            <a:pPr>
              <a:spcAft>
                <a:spcPts val="0"/>
              </a:spcAft>
            </a:pPr>
            <a:r>
              <a:rPr sz="1300" b="1">
                <a:solidFill>
                  <a:srgbClr val="F5F8FD"/>
                </a:solidFill>
              </a:rPr>
              <a:t>Philipp Schmid — Agents: Inner Loop vs Outer Loop (2026-02-20)</a:t>
            </a:r>
          </a:p>
          <a:p>
            <a:pPr>
              <a:spcAft>
                <a:spcPts val="700"/>
              </a:spcAft>
            </a:pPr>
            <a:r>
              <a:rPr sz="1000" b="0">
                <a:solidFill>
                  <a:srgbClr val="31D3B1"/>
                </a:solidFill>
                <a:hlinkClick r:id="rId10"/>
              </a:rPr>
              <a:t>https://www.philschmid.de/inner-loop-vs-outer-loop</a:t>
            </a:r>
          </a:p>
          <a:p>
            <a:pPr>
              <a:spcAft>
                <a:spcPts val="0"/>
              </a:spcAft>
            </a:pPr>
            <a:r>
              <a:rPr sz="1300" b="1">
                <a:solidFill>
                  <a:srgbClr val="F5F8FD"/>
                </a:solidFill>
              </a:rPr>
              <a:t>The AI Automators — The 4 Levels of Loop Engineering (2026-07)</a:t>
            </a:r>
          </a:p>
          <a:p>
            <a:pPr>
              <a:spcAft>
                <a:spcPts val="700"/>
              </a:spcAft>
            </a:pPr>
            <a:r>
              <a:rPr sz="1000" b="0">
                <a:solidFill>
                  <a:srgbClr val="31D3B1"/>
                </a:solidFill>
                <a:hlinkClick r:id="rId11"/>
              </a:rPr>
              <a:t>https://www.theaiautomators.com/levels-of-loop-engineering/</a:t>
            </a:r>
          </a:p>
          <a:p>
            <a:pPr>
              <a:spcAft>
                <a:spcPts val="0"/>
              </a:spcAft>
            </a:pPr>
            <a:r>
              <a:rPr sz="1300" b="1">
                <a:solidFill>
                  <a:srgbClr val="F5F8FD"/>
                </a:solidFill>
              </a:rPr>
              <a:t>Kiro CLI — headless / non-interactive 실행</a:t>
            </a:r>
          </a:p>
          <a:p>
            <a:pPr>
              <a:spcAft>
                <a:spcPts val="700"/>
              </a:spcAft>
            </a:pPr>
            <a:r>
              <a:rPr sz="1000" b="0">
                <a:solidFill>
                  <a:srgbClr val="31D3B1"/>
                </a:solidFill>
                <a:hlinkClick r:id="rId8"/>
              </a:rPr>
              <a:t>https://kiro.dev/docs/cli/headless/</a:t>
            </a:r>
          </a:p>
          <a:p>
            <a:pPr>
              <a:spcAft>
                <a:spcPts val="0"/>
              </a:spcAft>
            </a:pPr>
            <a:r>
              <a:rPr sz="1300" b="1">
                <a:solidFill>
                  <a:srgbClr val="F5F8FD"/>
                </a:solidFill>
              </a:rPr>
              <a:t>데모 저장소 — Java + Kiro CLI Outer Loop</a:t>
            </a:r>
          </a:p>
          <a:p>
            <a:pPr>
              <a:spcAft>
                <a:spcPts val="700"/>
              </a:spcAft>
            </a:pPr>
            <a:r>
              <a:rPr sz="10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